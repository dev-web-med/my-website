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648" r:id="rId1"/>
  </p:sldMasterIdLst>
  <p:sldIdLst>
    <p:sldId id="256" r:id="rId2"/>
    <p:sldId id="257"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8" r:id="rId20"/>
    <p:sldId id="279" r:id="rId21"/>
    <p:sldId id="280" r:id="rId22"/>
    <p:sldId id="281" r:id="rId23"/>
    <p:sldId id="282" r:id="rId24"/>
    <p:sldId id="293" r:id="rId25"/>
    <p:sldId id="294" r:id="rId26"/>
    <p:sldId id="295" r:id="rId27"/>
    <p:sldId id="296" r:id="rId28"/>
    <p:sldId id="304" r:id="rId29"/>
    <p:sldId id="305" r:id="rId30"/>
    <p:sldId id="283" r:id="rId31"/>
    <p:sldId id="284" r:id="rId32"/>
    <p:sldId id="285" r:id="rId33"/>
    <p:sldId id="286" r:id="rId34"/>
    <p:sldId id="288" r:id="rId35"/>
    <p:sldId id="287" r:id="rId36"/>
    <p:sldId id="289" r:id="rId37"/>
    <p:sldId id="290" r:id="rId38"/>
    <p:sldId id="291" r:id="rId39"/>
    <p:sldId id="292" r:id="rId40"/>
    <p:sldId id="297" r:id="rId41"/>
    <p:sldId id="298" r:id="rId42"/>
    <p:sldId id="299" r:id="rId43"/>
    <p:sldId id="300" r:id="rId44"/>
    <p:sldId id="301" r:id="rId45"/>
    <p:sldId id="302" r:id="rId46"/>
    <p:sldId id="303" r:id="rId47"/>
    <p:sldId id="311" r:id="rId48"/>
    <p:sldId id="307" r:id="rId49"/>
    <p:sldId id="308" r:id="rId50"/>
    <p:sldId id="309" r:id="rId51"/>
    <p:sldId id="306" r:id="rId52"/>
    <p:sldId id="310" r:id="rId53"/>
    <p:sldId id="313" r:id="rId54"/>
    <p:sldId id="312" r:id="rId55"/>
    <p:sldId id="314" r:id="rId56"/>
    <p:sldId id="315" r:id="rId57"/>
    <p:sldId id="316" r:id="rId58"/>
    <p:sldId id="317" r:id="rId59"/>
    <p:sldId id="318" r:id="rId60"/>
    <p:sldId id="319" r:id="rId61"/>
    <p:sldId id="320" r:id="rId62"/>
    <p:sldId id="321" r:id="rId63"/>
    <p:sldId id="322" r:id="rId64"/>
    <p:sldId id="323" r:id="rId65"/>
    <p:sldId id="324" r:id="rId66"/>
    <p:sldId id="325" r:id="rId67"/>
    <p:sldId id="326" r:id="rId68"/>
    <p:sldId id="327" r:id="rId69"/>
    <p:sldId id="328" r:id="rId70"/>
    <p:sldId id="329" r:id="rId71"/>
    <p:sldId id="330" r:id="rId72"/>
    <p:sldId id="331" r:id="rId73"/>
    <p:sldId id="332" r:id="rId74"/>
    <p:sldId id="333" r:id="rId75"/>
    <p:sldId id="334" r:id="rId76"/>
    <p:sldId id="335" r:id="rId77"/>
    <p:sldId id="336" r:id="rId78"/>
    <p:sldId id="341" r:id="rId79"/>
    <p:sldId id="342" r:id="rId80"/>
    <p:sldId id="343" r:id="rId81"/>
    <p:sldId id="344" r:id="rId82"/>
    <p:sldId id="345" r:id="rId83"/>
    <p:sldId id="337" r:id="rId84"/>
    <p:sldId id="338" r:id="rId85"/>
    <p:sldId id="339" r:id="rId86"/>
    <p:sldId id="340" r:id="rId87"/>
    <p:sldId id="355" r:id="rId88"/>
    <p:sldId id="346" r:id="rId89"/>
    <p:sldId id="347" r:id="rId90"/>
    <p:sldId id="349" r:id="rId91"/>
    <p:sldId id="348" r:id="rId92"/>
    <p:sldId id="360" r:id="rId93"/>
    <p:sldId id="350" r:id="rId94"/>
    <p:sldId id="351" r:id="rId95"/>
    <p:sldId id="352" r:id="rId96"/>
    <p:sldId id="353" r:id="rId97"/>
    <p:sldId id="354" r:id="rId98"/>
    <p:sldId id="356" r:id="rId99"/>
    <p:sldId id="357" r:id="rId100"/>
    <p:sldId id="358" r:id="rId101"/>
    <p:sldId id="359" r:id="rId102"/>
    <p:sldId id="361" r:id="rId103"/>
    <p:sldId id="362" r:id="rId104"/>
    <p:sldId id="363" r:id="rId105"/>
    <p:sldId id="364" r:id="rId106"/>
    <p:sldId id="365" r:id="rId107"/>
    <p:sldId id="366" r:id="rId108"/>
    <p:sldId id="367" r:id="rId109"/>
    <p:sldId id="368" r:id="rId110"/>
    <p:sldId id="369" r:id="rId111"/>
    <p:sldId id="370" r:id="rId112"/>
    <p:sldId id="371" r:id="rId113"/>
    <p:sldId id="373" r:id="rId114"/>
    <p:sldId id="372" r:id="rId115"/>
    <p:sldId id="374" r:id="rId116"/>
    <p:sldId id="375" r:id="rId117"/>
    <p:sldId id="385" r:id="rId118"/>
    <p:sldId id="376" r:id="rId119"/>
    <p:sldId id="377" r:id="rId120"/>
    <p:sldId id="378" r:id="rId121"/>
    <p:sldId id="380" r:id="rId122"/>
    <p:sldId id="379" r:id="rId123"/>
    <p:sldId id="381" r:id="rId124"/>
    <p:sldId id="383" r:id="rId125"/>
    <p:sldId id="384" r:id="rId126"/>
    <p:sldId id="382" r:id="rId12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47" autoAdjust="0"/>
    <p:restoredTop sz="95210" autoAdjust="0"/>
  </p:normalViewPr>
  <p:slideViewPr>
    <p:cSldViewPr snapToGrid="0">
      <p:cViewPr>
        <p:scale>
          <a:sx n="69" d="100"/>
          <a:sy n="69" d="100"/>
        </p:scale>
        <p:origin x="606" y="48"/>
      </p:cViewPr>
      <p:guideLst/>
    </p:cSldViewPr>
  </p:slideViewPr>
  <p:notesTextViewPr>
    <p:cViewPr>
      <p:scale>
        <a:sx n="1" d="1"/>
        <a:sy n="1" d="1"/>
      </p:scale>
      <p:origin x="0" y="0"/>
    </p:cViewPr>
  </p:notesTextViewPr>
  <p:sorterViewPr>
    <p:cViewPr>
      <p:scale>
        <a:sx n="60" d="100"/>
        <a:sy n="6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D6F92B62-C5C8-4B2E-A2AE-8CBCB610A1B5}" type="datetimeFigureOut">
              <a:rPr lang="fr-FR" smtClean="0"/>
              <a:t>15/01/2024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A4C2872-EAAF-4BA3-B104-25F4533294EE}" type="slidenum">
              <a:rPr lang="fr-FR" smtClean="0"/>
              <a:t>‹N°›</a:t>
            </a:fld>
            <a:endParaRPr lang="fr-FR"/>
          </a:p>
        </p:txBody>
      </p:sp>
    </p:spTree>
    <p:extLst>
      <p:ext uri="{BB962C8B-B14F-4D97-AF65-F5344CB8AC3E}">
        <p14:creationId xmlns:p14="http://schemas.microsoft.com/office/powerpoint/2010/main" val="1197606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D6F92B62-C5C8-4B2E-A2AE-8CBCB610A1B5}" type="datetimeFigureOut">
              <a:rPr lang="fr-FR" smtClean="0"/>
              <a:t>15/01/2024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A4C2872-EAAF-4BA3-B104-25F4533294EE}" type="slidenum">
              <a:rPr lang="fr-FR" smtClean="0"/>
              <a:t>‹N°›</a:t>
            </a:fld>
            <a:endParaRPr lang="fr-FR"/>
          </a:p>
        </p:txBody>
      </p:sp>
    </p:spTree>
    <p:extLst>
      <p:ext uri="{BB962C8B-B14F-4D97-AF65-F5344CB8AC3E}">
        <p14:creationId xmlns:p14="http://schemas.microsoft.com/office/powerpoint/2010/main" val="3812020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D6F92B62-C5C8-4B2E-A2AE-8CBCB610A1B5}" type="datetimeFigureOut">
              <a:rPr lang="fr-FR" smtClean="0"/>
              <a:t>15/01/2024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A4C2872-EAAF-4BA3-B104-25F4533294EE}" type="slidenum">
              <a:rPr lang="fr-FR" smtClean="0"/>
              <a:t>‹N°›</a:t>
            </a:fld>
            <a:endParaRPr lang="fr-FR"/>
          </a:p>
        </p:txBody>
      </p:sp>
    </p:spTree>
    <p:extLst>
      <p:ext uri="{BB962C8B-B14F-4D97-AF65-F5344CB8AC3E}">
        <p14:creationId xmlns:p14="http://schemas.microsoft.com/office/powerpoint/2010/main" val="2200255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D6F92B62-C5C8-4B2E-A2AE-8CBCB610A1B5}" type="datetimeFigureOut">
              <a:rPr lang="fr-FR" smtClean="0"/>
              <a:t>15/01/2024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0A4C2872-EAAF-4BA3-B104-25F4533294EE}" type="slidenum">
              <a:rPr lang="fr-FR" smtClean="0"/>
              <a:t>‹N°›</a:t>
            </a:fld>
            <a:endParaRPr lang="fr-FR"/>
          </a:p>
        </p:txBody>
      </p:sp>
    </p:spTree>
    <p:extLst>
      <p:ext uri="{BB962C8B-B14F-4D97-AF65-F5344CB8AC3E}">
        <p14:creationId xmlns:p14="http://schemas.microsoft.com/office/powerpoint/2010/main" val="4035350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D6F92B62-C5C8-4B2E-A2AE-8CBCB610A1B5}" type="datetimeFigureOut">
              <a:rPr lang="fr-FR" smtClean="0"/>
              <a:t>15/01/2024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0A4C2872-EAAF-4BA3-B104-25F4533294EE}" type="slidenum">
              <a:rPr lang="fr-FR" smtClean="0"/>
              <a:t>‹N°›</a:t>
            </a:fld>
            <a:endParaRPr lang="fr-FR"/>
          </a:p>
        </p:txBody>
      </p:sp>
    </p:spTree>
    <p:extLst>
      <p:ext uri="{BB962C8B-B14F-4D97-AF65-F5344CB8AC3E}">
        <p14:creationId xmlns:p14="http://schemas.microsoft.com/office/powerpoint/2010/main" val="2575429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D6F92B62-C5C8-4B2E-A2AE-8CBCB610A1B5}" type="datetimeFigureOut">
              <a:rPr lang="fr-FR" smtClean="0"/>
              <a:t>15/01/2024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0A4C2872-EAAF-4BA3-B104-25F4533294EE}" type="slidenum">
              <a:rPr lang="fr-FR" smtClean="0"/>
              <a:t>‹N°›</a:t>
            </a:fld>
            <a:endParaRPr lang="fr-FR"/>
          </a:p>
        </p:txBody>
      </p:sp>
    </p:spTree>
    <p:extLst>
      <p:ext uri="{BB962C8B-B14F-4D97-AF65-F5344CB8AC3E}">
        <p14:creationId xmlns:p14="http://schemas.microsoft.com/office/powerpoint/2010/main" val="3229394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6F92B62-C5C8-4B2E-A2AE-8CBCB610A1B5}" type="datetimeFigureOut">
              <a:rPr lang="fr-FR" smtClean="0"/>
              <a:t>15/01/2024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0A4C2872-EAAF-4BA3-B104-25F4533294EE}" type="slidenum">
              <a:rPr lang="fr-FR" smtClean="0"/>
              <a:t>‹N°›</a:t>
            </a:fld>
            <a:endParaRPr lang="fr-FR"/>
          </a:p>
        </p:txBody>
      </p:sp>
    </p:spTree>
    <p:extLst>
      <p:ext uri="{BB962C8B-B14F-4D97-AF65-F5344CB8AC3E}">
        <p14:creationId xmlns:p14="http://schemas.microsoft.com/office/powerpoint/2010/main" val="3583857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D6F92B62-C5C8-4B2E-A2AE-8CBCB610A1B5}" type="datetimeFigureOut">
              <a:rPr lang="fr-FR" smtClean="0"/>
              <a:t>15/01/2024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0A4C2872-EAAF-4BA3-B104-25F4533294EE}" type="slidenum">
              <a:rPr lang="fr-FR" smtClean="0"/>
              <a:t>‹N°›</a:t>
            </a:fld>
            <a:endParaRPr lang="fr-FR"/>
          </a:p>
        </p:txBody>
      </p:sp>
    </p:spTree>
    <p:extLst>
      <p:ext uri="{BB962C8B-B14F-4D97-AF65-F5344CB8AC3E}">
        <p14:creationId xmlns:p14="http://schemas.microsoft.com/office/powerpoint/2010/main" val="3037164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D6F92B62-C5C8-4B2E-A2AE-8CBCB610A1B5}" type="datetimeFigureOut">
              <a:rPr lang="fr-FR" smtClean="0"/>
              <a:t>15/01/2024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0A4C2872-EAAF-4BA3-B104-25F4533294EE}" type="slidenum">
              <a:rPr lang="fr-FR" smtClean="0"/>
              <a:t>‹N°›</a:t>
            </a:fld>
            <a:endParaRPr lang="fr-FR"/>
          </a:p>
        </p:txBody>
      </p:sp>
    </p:spTree>
    <p:extLst>
      <p:ext uri="{BB962C8B-B14F-4D97-AF65-F5344CB8AC3E}">
        <p14:creationId xmlns:p14="http://schemas.microsoft.com/office/powerpoint/2010/main" val="2492367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D6F92B62-C5C8-4B2E-A2AE-8CBCB610A1B5}" type="datetimeFigureOut">
              <a:rPr lang="fr-FR" smtClean="0"/>
              <a:t>15/01/2024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A4C2872-EAAF-4BA3-B104-25F4533294EE}" type="slidenum">
              <a:rPr lang="fr-FR" smtClean="0"/>
              <a:t>‹N°›</a:t>
            </a:fld>
            <a:endParaRPr lang="fr-FR"/>
          </a:p>
        </p:txBody>
      </p:sp>
    </p:spTree>
    <p:extLst>
      <p:ext uri="{BB962C8B-B14F-4D97-AF65-F5344CB8AC3E}">
        <p14:creationId xmlns:p14="http://schemas.microsoft.com/office/powerpoint/2010/main" val="1809225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D6F92B62-C5C8-4B2E-A2AE-8CBCB610A1B5}" type="datetimeFigureOut">
              <a:rPr lang="fr-FR" smtClean="0"/>
              <a:t>15/01/2024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A4C2872-EAAF-4BA3-B104-25F4533294EE}" type="slidenum">
              <a:rPr lang="fr-FR" smtClean="0"/>
              <a:t>‹N°›</a:t>
            </a:fld>
            <a:endParaRPr lang="fr-FR"/>
          </a:p>
        </p:txBody>
      </p:sp>
    </p:spTree>
    <p:extLst>
      <p:ext uri="{BB962C8B-B14F-4D97-AF65-F5344CB8AC3E}">
        <p14:creationId xmlns:p14="http://schemas.microsoft.com/office/powerpoint/2010/main" val="3110140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92B62-C5C8-4B2E-A2AE-8CBCB610A1B5}" type="datetimeFigureOut">
              <a:rPr lang="fr-FR" smtClean="0"/>
              <a:t>15/01/2024</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4C2872-EAAF-4BA3-B104-25F4533294EE}" type="slidenum">
              <a:rPr lang="fr-FR" smtClean="0"/>
              <a:t>‹N°›</a:t>
            </a:fld>
            <a:endParaRPr lang="fr-FR"/>
          </a:p>
        </p:txBody>
      </p:sp>
    </p:spTree>
    <p:extLst>
      <p:ext uri="{BB962C8B-B14F-4D97-AF65-F5344CB8AC3E}">
        <p14:creationId xmlns:p14="http://schemas.microsoft.com/office/powerpoint/2010/main" val="3408960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msdn.microsoft.com/fr-fr/library/system.windows.shapes.rectangle(v=vs.110).aspx"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4047" y="-984814"/>
            <a:ext cx="3600000" cy="3600000"/>
          </a:xfrm>
          <a:prstGeom prst="rect">
            <a:avLst/>
          </a:prstGeom>
        </p:spPr>
      </p:pic>
      <p:sp>
        <p:nvSpPr>
          <p:cNvPr id="4" name="object 2"/>
          <p:cNvSpPr/>
          <p:nvPr/>
        </p:nvSpPr>
        <p:spPr>
          <a:xfrm>
            <a:off x="1326316" y="1827276"/>
            <a:ext cx="9415461" cy="82296"/>
          </a:xfrm>
          <a:prstGeom prst="rect">
            <a:avLst/>
          </a:prstGeom>
          <a:blipFill>
            <a:blip r:embed="rId3" cstate="print"/>
            <a:stretch>
              <a:fillRect/>
            </a:stretch>
          </a:blipFill>
        </p:spPr>
        <p:txBody>
          <a:bodyPr wrap="square" lIns="0" tIns="0" rIns="0" bIns="0" rtlCol="0"/>
          <a:lstStyle/>
          <a:p>
            <a:endParaRPr dirty="0"/>
          </a:p>
        </p:txBody>
      </p:sp>
      <p:sp>
        <p:nvSpPr>
          <p:cNvPr id="5" name="object 3"/>
          <p:cNvSpPr/>
          <p:nvPr/>
        </p:nvSpPr>
        <p:spPr>
          <a:xfrm>
            <a:off x="1326316" y="4728971"/>
            <a:ext cx="9415461" cy="82295"/>
          </a:xfrm>
          <a:prstGeom prst="rect">
            <a:avLst/>
          </a:prstGeom>
          <a:blipFill>
            <a:blip r:embed="rId4" cstate="print"/>
            <a:stretch>
              <a:fillRect/>
            </a:stretch>
          </a:blipFill>
        </p:spPr>
        <p:txBody>
          <a:bodyPr wrap="square" lIns="0" tIns="0" rIns="0" bIns="0" rtlCol="0"/>
          <a:lstStyle/>
          <a:p>
            <a:endParaRPr dirty="0"/>
          </a:p>
        </p:txBody>
      </p:sp>
      <p:sp>
        <p:nvSpPr>
          <p:cNvPr id="6" name="object 4"/>
          <p:cNvSpPr/>
          <p:nvPr/>
        </p:nvSpPr>
        <p:spPr>
          <a:xfrm>
            <a:off x="1326316" y="1961388"/>
            <a:ext cx="9415461" cy="2715768"/>
          </a:xfrm>
          <a:prstGeom prst="rect">
            <a:avLst/>
          </a:prstGeom>
          <a:blipFill>
            <a:blip r:embed="rId5" cstate="print"/>
            <a:stretch>
              <a:fillRect/>
            </a:stretch>
          </a:blipFill>
        </p:spPr>
        <p:txBody>
          <a:bodyPr wrap="square" lIns="0" tIns="0" rIns="0" bIns="0" rtlCol="0"/>
          <a:lstStyle/>
          <a:p>
            <a:endParaRPr dirty="0"/>
          </a:p>
        </p:txBody>
      </p:sp>
      <p:sp>
        <p:nvSpPr>
          <p:cNvPr id="13" name="Titre 1"/>
          <p:cNvSpPr>
            <a:spLocks noGrp="1"/>
          </p:cNvSpPr>
          <p:nvPr>
            <p:ph type="ctrTitle"/>
          </p:nvPr>
        </p:nvSpPr>
        <p:spPr>
          <a:xfrm>
            <a:off x="1" y="1975242"/>
            <a:ext cx="12192000" cy="2715769"/>
          </a:xfrm>
        </p:spPr>
        <p:txBody>
          <a:bodyPr>
            <a:noAutofit/>
          </a:bodyPr>
          <a:lstStyle/>
          <a:p>
            <a:pPr>
              <a:lnSpc>
                <a:spcPct val="150000"/>
              </a:lnSpc>
              <a:defRPr/>
            </a:pPr>
            <a:r>
              <a:rPr lang="fr-FR" sz="66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PROGRAMMATION </a:t>
            </a:r>
            <a:br>
              <a:rPr lang="fr-FR" sz="66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fr-FR" sz="66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ORIENTÉE OBJET</a:t>
            </a:r>
            <a:endParaRPr lang="fr-FR" sz="6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 name="ZoneTexte 9"/>
          <p:cNvSpPr txBox="1"/>
          <p:nvPr/>
        </p:nvSpPr>
        <p:spPr>
          <a:xfrm>
            <a:off x="1326315" y="6320155"/>
            <a:ext cx="9415461" cy="400110"/>
          </a:xfrm>
          <a:prstGeom prst="rect">
            <a:avLst/>
          </a:prstGeom>
          <a:noFill/>
        </p:spPr>
        <p:txBody>
          <a:bodyPr wrap="square">
            <a:spAutoFit/>
          </a:bodyPr>
          <a:lstStyle/>
          <a:p>
            <a:pPr algn="ctr">
              <a:defRPr/>
            </a:pPr>
            <a:r>
              <a:rPr lang="fr-FR" sz="2000" b="1" dirty="0" smtClean="0">
                <a:solidFill>
                  <a:srgbClr val="0070C0"/>
                </a:solidFill>
                <a:latin typeface="Times New Roman" panose="02020603050405020304" pitchFamily="18" charset="0"/>
                <a:cs typeface="Times New Roman" panose="02020603050405020304" pitchFamily="18" charset="0"/>
              </a:rPr>
              <a:t>Formateur : Firmin DJIKOLOUM</a:t>
            </a:r>
            <a:endParaRPr lang="fr-FR" sz="2000"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36705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Présentation</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4" y="911772"/>
            <a:ext cx="11054496" cy="830997"/>
          </a:xfrm>
          <a:prstGeom prst="rect">
            <a:avLst/>
          </a:prstGeom>
          <a:noFill/>
        </p:spPr>
        <p:txBody>
          <a:bodyPr wrap="square" rtlCol="0">
            <a:spAutoFit/>
          </a:bodyPr>
          <a:lstStyle/>
          <a:p>
            <a:pPr algn="just"/>
            <a:r>
              <a:rPr lang="fr-FR" sz="2400" dirty="0">
                <a:latin typeface="Times New Roman" panose="02020603050405020304" pitchFamily="18" charset="0"/>
                <a:cs typeface="Times New Roman" panose="02020603050405020304" pitchFamily="18" charset="0"/>
              </a:rPr>
              <a:t>L’objectif de ce module vise à ce que le stagiaire utilise les concepts de la programmation orientée objet en utilisant un langage de programmation orienté objet.</a:t>
            </a:r>
          </a:p>
        </p:txBody>
      </p:sp>
    </p:spTree>
    <p:extLst>
      <p:ext uri="{BB962C8B-B14F-4D97-AF65-F5344CB8AC3E}">
        <p14:creationId xmlns:p14="http://schemas.microsoft.com/office/powerpoint/2010/main" val="9625613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 </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1377" cy="2862322"/>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Pourquoi utiliser la programmation orientée objet ?</a:t>
            </a:r>
            <a:endParaRPr lang="fr-FR" sz="2000" b="1" dirty="0">
              <a:solidFill>
                <a:srgbClr val="C00000"/>
              </a:solidFill>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La </a:t>
            </a:r>
            <a:r>
              <a:rPr lang="fr-FR" sz="2000" b="1" dirty="0">
                <a:latin typeface="Times New Roman" panose="02020603050405020304" pitchFamily="18" charset="0"/>
                <a:cs typeface="Times New Roman" panose="02020603050405020304" pitchFamily="18" charset="0"/>
              </a:rPr>
              <a:t>programmation orientée objet</a:t>
            </a:r>
            <a:r>
              <a:rPr lang="fr-FR" sz="2000" dirty="0">
                <a:latin typeface="Times New Roman" panose="02020603050405020304" pitchFamily="18" charset="0"/>
                <a:cs typeface="Times New Roman" panose="02020603050405020304" pitchFamily="18" charset="0"/>
              </a:rPr>
              <a:t>, souvent abrégée </a:t>
            </a:r>
            <a:r>
              <a:rPr lang="fr-FR" sz="2000" b="1" dirty="0">
                <a:latin typeface="Times New Roman" panose="02020603050405020304" pitchFamily="18" charset="0"/>
                <a:cs typeface="Times New Roman" panose="02020603050405020304" pitchFamily="18" charset="0"/>
              </a:rPr>
              <a:t>POO</a:t>
            </a:r>
            <a:r>
              <a:rPr lang="fr-FR" sz="2000" dirty="0">
                <a:latin typeface="Times New Roman" panose="02020603050405020304" pitchFamily="18" charset="0"/>
                <a:cs typeface="Times New Roman" panose="02020603050405020304" pitchFamily="18" charset="0"/>
              </a:rPr>
              <a:t>, permet de concevoir une application sous la forme d'un ensemble de briques logicielles appelées des </a:t>
            </a:r>
            <a:r>
              <a:rPr lang="fr-FR" sz="2000" b="1" dirty="0">
                <a:latin typeface="Times New Roman" panose="02020603050405020304" pitchFamily="18" charset="0"/>
                <a:cs typeface="Times New Roman" panose="02020603050405020304" pitchFamily="18" charset="0"/>
              </a:rPr>
              <a:t>objets</a:t>
            </a:r>
            <a:r>
              <a:rPr lang="fr-FR" sz="2000" dirty="0">
                <a:latin typeface="Times New Roman" panose="02020603050405020304" pitchFamily="18" charset="0"/>
                <a:cs typeface="Times New Roman" panose="02020603050405020304" pitchFamily="18" charset="0"/>
              </a:rPr>
              <a:t>. Chaque objet joue un rôle précis et peut communiquer avec les autres objets. Les interactions entre les différents objets vont permettre à l'application de réaliser les fonctionnalités attendues.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La POO facilite la conception de programmes par réutilisation de composants </a:t>
            </a:r>
            <a:r>
              <a:rPr lang="fr-FR" sz="2000" dirty="0" smtClean="0">
                <a:latin typeface="Times New Roman" panose="02020603050405020304" pitchFamily="18" charset="0"/>
                <a:cs typeface="Times New Roman" panose="02020603050405020304" pitchFamily="18" charset="0"/>
              </a:rPr>
              <a:t>existants. </a:t>
            </a:r>
            <a:r>
              <a:rPr lang="fr-FR" sz="2000" dirty="0">
                <a:latin typeface="Times New Roman" panose="02020603050405020304" pitchFamily="18" charset="0"/>
                <a:cs typeface="Times New Roman" panose="02020603050405020304" pitchFamily="18" charset="0"/>
              </a:rPr>
              <a:t>Elle constitue le standard actuel (on parle de paradigme) en matière de développement de logiciels.</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15891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 </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4" y="911772"/>
            <a:ext cx="11160000" cy="7171194"/>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Histoire de la programmation orientée objet</a:t>
            </a:r>
            <a:endParaRPr lang="fr-FR" sz="2000" dirty="0" smtClean="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Les concepts de la POO naissent au cours des années 1970 dans des laboratoires de recherche en informatique. Les premiers langages de programmation véritablement orientés objet ont été Simula, puis </a:t>
            </a:r>
            <a:r>
              <a:rPr lang="fr-FR" sz="2000" dirty="0" err="1">
                <a:latin typeface="Times New Roman" panose="02020603050405020304" pitchFamily="18" charset="0"/>
                <a:cs typeface="Times New Roman" panose="02020603050405020304" pitchFamily="18" charset="0"/>
              </a:rPr>
              <a:t>Smalltalk</a:t>
            </a:r>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À partir des années 1980, les principes de la POO sont appliqués dans de nombreux langages comme Eiffel (créé par le Français Bertrand Meyer), C++ (une extension objet du langage C créé par le Danois Bjarne </a:t>
            </a:r>
            <a:r>
              <a:rPr lang="fr-FR" sz="2000" dirty="0" err="1">
                <a:latin typeface="Times New Roman" panose="02020603050405020304" pitchFamily="18" charset="0"/>
                <a:cs typeface="Times New Roman" panose="02020603050405020304" pitchFamily="18" charset="0"/>
              </a:rPr>
              <a:t>Stroustrup</a:t>
            </a:r>
            <a:r>
              <a:rPr lang="fr-FR" sz="2000" dirty="0">
                <a:latin typeface="Times New Roman" panose="02020603050405020304" pitchFamily="18" charset="0"/>
                <a:cs typeface="Times New Roman" panose="02020603050405020304" pitchFamily="18" charset="0"/>
              </a:rPr>
              <a:t>) ou encore Objective C (une autre extension objet du C utilisé, entre autres, par l'iOS d'Apple).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Les années 1990 ont vu l'avènement des langages orientés objet dans de nombreux secteurs du développement logiciel, et la création du langage Java par la société Sun Microsystems. Le succès de ce langage, plus simple à utiliser que ses prédécesseurs, a conduit Microsoft à riposter en créant au début des années 2000 la plate-forme .NET et le langage C#, cousin de Java.</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De nos jours, de très nombreux langages permettent d'utiliser les principes de la POO dans des domaines variés : Java et C# bien sûr, mais aussi PHP (à partir de la version 5), VB.NET, PowerShell, Python, etc. Une connaissance minimale des principes de la POO est donc indispensable à tout informaticien, qu'il soit développeur ou non.</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Remarque</a:t>
            </a:r>
            <a:r>
              <a:rPr lang="fr-FR" sz="2000" dirty="0" smtClean="0">
                <a:latin typeface="Times New Roman" panose="02020603050405020304" pitchFamily="18" charset="0"/>
                <a:cs typeface="Times New Roman" panose="02020603050405020304" pitchFamily="18" charset="0"/>
              </a:rPr>
              <a:t> : </a:t>
            </a:r>
            <a:r>
              <a:rPr lang="fr-FR" sz="2000" dirty="0">
                <a:latin typeface="Times New Roman" panose="02020603050405020304" pitchFamily="18" charset="0"/>
                <a:cs typeface="Times New Roman" panose="02020603050405020304" pitchFamily="18" charset="0"/>
              </a:rPr>
              <a:t>la POO s'accompagne d'un changement dans la manière de penser les problèmes et de concevoir l'architecture des applications informatiques. C'est ce que l'on appelle l'analyse (ou la modélisation) orientée objet. Son principal support est le langage de modélisation </a:t>
            </a:r>
            <a:r>
              <a:rPr lang="fr-FR" sz="2000" b="1" dirty="0">
                <a:latin typeface="Times New Roman" panose="02020603050405020304" pitchFamily="18" charset="0"/>
                <a:cs typeface="Times New Roman" panose="02020603050405020304" pitchFamily="18" charset="0"/>
              </a:rPr>
              <a:t>UML</a:t>
            </a:r>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118977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Notions d'objet et de classe</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4093428"/>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La notion d'objet</a:t>
            </a:r>
            <a:endParaRPr lang="fr-FR" sz="2000" dirty="0" smtClean="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Quand on utilise la POO, on cherche à représenter le domaine étudié sous la forme d'objets. C'est la phase de </a:t>
            </a:r>
            <a:r>
              <a:rPr lang="fr-FR" sz="2000" b="1" dirty="0">
                <a:latin typeface="Times New Roman" panose="02020603050405020304" pitchFamily="18" charset="0"/>
                <a:cs typeface="Times New Roman" panose="02020603050405020304" pitchFamily="18" charset="0"/>
              </a:rPr>
              <a:t>modélisation orientée objet</a:t>
            </a:r>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Un </a:t>
            </a:r>
            <a:r>
              <a:rPr lang="fr-FR" sz="2000" b="1" dirty="0">
                <a:latin typeface="Times New Roman" panose="02020603050405020304" pitchFamily="18" charset="0"/>
                <a:cs typeface="Times New Roman" panose="02020603050405020304" pitchFamily="18" charset="0"/>
              </a:rPr>
              <a:t>objet</a:t>
            </a:r>
            <a:r>
              <a:rPr lang="fr-FR" sz="2000" dirty="0">
                <a:latin typeface="Times New Roman" panose="02020603050405020304" pitchFamily="18" charset="0"/>
                <a:cs typeface="Times New Roman" panose="02020603050405020304" pitchFamily="18" charset="0"/>
              </a:rPr>
              <a:t> est une entité qui représente (modélise) un élément du domaine étudié : une voiture, un compte bancaire, un nombre complexe, une facture, etc</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a:latin typeface="Times New Roman" panose="02020603050405020304" pitchFamily="18" charset="0"/>
                <a:cs typeface="Times New Roman" panose="02020603050405020304" pitchFamily="18" charset="0"/>
              </a:rPr>
              <a:t>Objet = état + actions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Cette équation signifie qu'un objet rassemble à la fois :</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des </a:t>
            </a:r>
            <a:r>
              <a:rPr lang="fr-FR" sz="2000" b="1" dirty="0">
                <a:latin typeface="Times New Roman" panose="02020603050405020304" pitchFamily="18" charset="0"/>
                <a:cs typeface="Times New Roman" panose="02020603050405020304" pitchFamily="18" charset="0"/>
              </a:rPr>
              <a:t>informations</a:t>
            </a:r>
            <a:r>
              <a:rPr lang="fr-FR" sz="2000" dirty="0">
                <a:latin typeface="Times New Roman" panose="02020603050405020304" pitchFamily="18" charset="0"/>
                <a:cs typeface="Times New Roman" panose="02020603050405020304" pitchFamily="18" charset="0"/>
              </a:rPr>
              <a:t> (ou </a:t>
            </a:r>
            <a:r>
              <a:rPr lang="fr-FR" sz="2000" b="1" dirty="0">
                <a:latin typeface="Times New Roman" panose="02020603050405020304" pitchFamily="18" charset="0"/>
                <a:cs typeface="Times New Roman" panose="02020603050405020304" pitchFamily="18" charset="0"/>
              </a:rPr>
              <a:t>données</a:t>
            </a:r>
            <a:r>
              <a:rPr lang="fr-FR" sz="2000" dirty="0">
                <a:latin typeface="Times New Roman" panose="02020603050405020304" pitchFamily="18" charset="0"/>
                <a:cs typeface="Times New Roman" panose="02020603050405020304" pitchFamily="18" charset="0"/>
              </a:rPr>
              <a:t>) qui le caractérisent ;</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des </a:t>
            </a:r>
            <a:r>
              <a:rPr lang="fr-FR" sz="2000" b="1" dirty="0" smtClean="0">
                <a:latin typeface="Times New Roman" panose="02020603050405020304" pitchFamily="18" charset="0"/>
                <a:cs typeface="Times New Roman" panose="02020603050405020304" pitchFamily="18" charset="0"/>
              </a:rPr>
              <a:t>actions</a:t>
            </a:r>
            <a:r>
              <a:rPr lang="fr-FR" sz="20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(ou </a:t>
            </a:r>
            <a:r>
              <a:rPr lang="fr-FR" sz="2000" b="1" dirty="0">
                <a:latin typeface="Times New Roman" panose="02020603050405020304" pitchFamily="18" charset="0"/>
                <a:cs typeface="Times New Roman" panose="02020603050405020304" pitchFamily="18" charset="0"/>
              </a:rPr>
              <a:t>traitements</a:t>
            </a:r>
            <a:r>
              <a:rPr lang="fr-FR" sz="2000" dirty="0">
                <a:latin typeface="Times New Roman" panose="02020603050405020304" pitchFamily="18" charset="0"/>
                <a:cs typeface="Times New Roman" panose="02020603050405020304" pitchFamily="18" charset="0"/>
              </a:rPr>
              <a:t>) que l'on peut exercer sur lui </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27549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Notions d'objet et de classe</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3785652"/>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La notion d'objet</a:t>
            </a:r>
            <a:endParaRPr lang="fr-FR" sz="2000" dirty="0" smtClean="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Imaginons </a:t>
            </a:r>
            <a:r>
              <a:rPr lang="fr-FR" sz="2000" dirty="0">
                <a:latin typeface="Times New Roman" panose="02020603050405020304" pitchFamily="18" charset="0"/>
                <a:cs typeface="Times New Roman" panose="02020603050405020304" pitchFamily="18" charset="0"/>
              </a:rPr>
              <a:t>que l'on souhaite modéliser des comptes bancaires pour un logiciel de gestion. On commence par réfléchir à ce qui caractérise un compte bancaire, puis on classe ces éléments en deux catégories :</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les </a:t>
            </a:r>
            <a:r>
              <a:rPr lang="fr-FR" sz="2000" dirty="0">
                <a:latin typeface="Times New Roman" panose="02020603050405020304" pitchFamily="18" charset="0"/>
                <a:cs typeface="Times New Roman" panose="02020603050405020304" pitchFamily="18" charset="0"/>
              </a:rPr>
              <a:t>informations liées à un compte bancaire ;</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les </a:t>
            </a:r>
            <a:r>
              <a:rPr lang="fr-FR" sz="2000" dirty="0">
                <a:latin typeface="Times New Roman" panose="02020603050405020304" pitchFamily="18" charset="0"/>
                <a:cs typeface="Times New Roman" panose="02020603050405020304" pitchFamily="18" charset="0"/>
              </a:rPr>
              <a:t>actions réalisables sur un compte bancaire.</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En </a:t>
            </a:r>
            <a:r>
              <a:rPr lang="fr-FR" sz="2000" dirty="0">
                <a:latin typeface="Times New Roman" panose="02020603050405020304" pitchFamily="18" charset="0"/>
                <a:cs typeface="Times New Roman" panose="02020603050405020304" pitchFamily="18" charset="0"/>
              </a:rPr>
              <a:t>première approche, on peut considérer qu'un compte bancaire est caractérisé par un titulaire, un solde (le montant disponible sur le compte) et utilise une certaine devise (euro, dollar, etc.). Les actions réalisables sur un compte sont le dépôt d'argent (crédit) et le retrait (débit).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On peut regrouper les caractéristiques de notre objet « compte bancaire » dans ce tableau</a:t>
            </a:r>
            <a:r>
              <a:rPr lang="fr-FR" sz="2000" dirty="0" smtClean="0">
                <a:latin typeface="Times New Roman" panose="02020603050405020304" pitchFamily="18" charset="0"/>
                <a:cs typeface="Times New Roman" panose="02020603050405020304" pitchFamily="18" charset="0"/>
              </a:rPr>
              <a:t>.</a:t>
            </a:r>
          </a:p>
        </p:txBody>
      </p:sp>
      <p:graphicFrame>
        <p:nvGraphicFramePr>
          <p:cNvPr id="5" name="Tableau 4"/>
          <p:cNvGraphicFramePr>
            <a:graphicFrameLocks noGrp="1"/>
          </p:cNvGraphicFramePr>
          <p:nvPr>
            <p:extLst>
              <p:ext uri="{D42A27DB-BD31-4B8C-83A1-F6EECF244321}">
                <p14:modId xmlns:p14="http://schemas.microsoft.com/office/powerpoint/2010/main" val="2752332838"/>
              </p:ext>
            </p:extLst>
          </p:nvPr>
        </p:nvGraphicFramePr>
        <p:xfrm>
          <a:off x="802363" y="4916737"/>
          <a:ext cx="10515600" cy="792480"/>
        </p:xfrm>
        <a:graphic>
          <a:graphicData uri="http://schemas.openxmlformats.org/drawingml/2006/table">
            <a:tbl>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0">
                <a:tc>
                  <a:txBody>
                    <a:bodyPr/>
                    <a:lstStyle/>
                    <a:p>
                      <a:pPr algn="ctr"/>
                      <a:r>
                        <a:rPr lang="fr-FR" sz="2000" b="1" dirty="0">
                          <a:effectLst/>
                          <a:latin typeface="Times New Roman" panose="02020603050405020304" pitchFamily="18" charset="0"/>
                          <a:cs typeface="Times New Roman" panose="02020603050405020304" pitchFamily="18" charset="0"/>
                        </a:rPr>
                        <a:t>Informations </a:t>
                      </a:r>
                      <a:endParaRPr lang="fr-FR" sz="20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fr-FR" sz="2000" b="1" dirty="0">
                          <a:effectLst/>
                          <a:latin typeface="Times New Roman" panose="02020603050405020304" pitchFamily="18" charset="0"/>
                          <a:cs typeface="Times New Roman" panose="02020603050405020304" pitchFamily="18" charset="0"/>
                        </a:rPr>
                        <a:t>Actions </a:t>
                      </a:r>
                      <a:endParaRPr lang="fr-FR" sz="20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0">
                <a:tc>
                  <a:txBody>
                    <a:bodyPr/>
                    <a:lstStyle/>
                    <a:p>
                      <a:pPr algn="ctr"/>
                      <a:r>
                        <a:rPr lang="fr-FR" sz="2000" dirty="0">
                          <a:latin typeface="Times New Roman" panose="02020603050405020304" pitchFamily="18" charset="0"/>
                          <a:cs typeface="Times New Roman" panose="02020603050405020304" pitchFamily="18" charset="0"/>
                        </a:rPr>
                        <a:t>titulaire, solde, devise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000" dirty="0">
                          <a:latin typeface="Times New Roman" panose="02020603050405020304" pitchFamily="18" charset="0"/>
                          <a:cs typeface="Times New Roman" panose="02020603050405020304" pitchFamily="18" charset="0"/>
                        </a:rPr>
                        <a:t>créditer, débiter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65338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Notions d'objet et de classe</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4093428"/>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La notion d'objet</a:t>
            </a:r>
            <a:endParaRPr lang="fr-FR" sz="2000" dirty="0" smtClean="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Définition</a:t>
            </a:r>
            <a:r>
              <a:rPr lang="fr-FR" sz="20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 un </a:t>
            </a:r>
            <a:r>
              <a:rPr lang="fr-FR" sz="2000" b="1" dirty="0">
                <a:latin typeface="Times New Roman" panose="02020603050405020304" pitchFamily="18" charset="0"/>
                <a:cs typeface="Times New Roman" panose="02020603050405020304" pitchFamily="18" charset="0"/>
              </a:rPr>
              <a:t>objet</a:t>
            </a:r>
            <a:r>
              <a:rPr lang="fr-FR" sz="2000" dirty="0">
                <a:latin typeface="Times New Roman" panose="02020603050405020304" pitchFamily="18" charset="0"/>
                <a:cs typeface="Times New Roman" panose="02020603050405020304" pitchFamily="18" charset="0"/>
              </a:rPr>
              <a:t> se compose </a:t>
            </a:r>
            <a:r>
              <a:rPr lang="fr-FR" sz="2000" b="1" dirty="0">
                <a:latin typeface="Times New Roman" panose="02020603050405020304" pitchFamily="18" charset="0"/>
                <a:cs typeface="Times New Roman" panose="02020603050405020304" pitchFamily="18" charset="0"/>
              </a:rPr>
              <a:t>d'informations</a:t>
            </a:r>
            <a:r>
              <a:rPr lang="fr-FR" sz="2000" dirty="0">
                <a:latin typeface="Times New Roman" panose="02020603050405020304" pitchFamily="18" charset="0"/>
                <a:cs typeface="Times New Roman" panose="02020603050405020304" pitchFamily="18" charset="0"/>
              </a:rPr>
              <a:t> et </a:t>
            </a:r>
            <a:r>
              <a:rPr lang="fr-FR" sz="2000" b="1" dirty="0">
                <a:latin typeface="Times New Roman" panose="02020603050405020304" pitchFamily="18" charset="0"/>
                <a:cs typeface="Times New Roman" panose="02020603050405020304" pitchFamily="18" charset="0"/>
              </a:rPr>
              <a:t>d'actions</a:t>
            </a:r>
            <a:r>
              <a:rPr lang="fr-FR" sz="2000" dirty="0">
                <a:latin typeface="Times New Roman" panose="02020603050405020304" pitchFamily="18" charset="0"/>
                <a:cs typeface="Times New Roman" panose="02020603050405020304" pitchFamily="18" charset="0"/>
              </a:rPr>
              <a:t>. Les actions utilisent (et parfois modifient) les informations de l'objet.</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L'ensemble </a:t>
            </a:r>
            <a:r>
              <a:rPr lang="fr-FR" sz="2000" dirty="0">
                <a:latin typeface="Times New Roman" panose="02020603050405020304" pitchFamily="18" charset="0"/>
                <a:cs typeface="Times New Roman" panose="02020603050405020304" pitchFamily="18" charset="0"/>
              </a:rPr>
              <a:t>des informations d'un objet donné est appelé </a:t>
            </a:r>
            <a:r>
              <a:rPr lang="fr-FR" sz="2000" dirty="0" smtClean="0">
                <a:latin typeface="Times New Roman" panose="02020603050405020304" pitchFamily="18" charset="0"/>
                <a:cs typeface="Times New Roman" panose="02020603050405020304" pitchFamily="18" charset="0"/>
              </a:rPr>
              <a:t>son </a:t>
            </a:r>
            <a:r>
              <a:rPr lang="fr-FR" sz="2000" b="1" dirty="0" smtClean="0">
                <a:latin typeface="Times New Roman" panose="02020603050405020304" pitchFamily="18" charset="0"/>
                <a:cs typeface="Times New Roman" panose="02020603050405020304" pitchFamily="18" charset="0"/>
              </a:rPr>
              <a:t>état</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L'ensemble </a:t>
            </a:r>
            <a:r>
              <a:rPr lang="fr-FR" sz="2000" dirty="0">
                <a:latin typeface="Times New Roman" panose="02020603050405020304" pitchFamily="18" charset="0"/>
                <a:cs typeface="Times New Roman" panose="02020603050405020304" pitchFamily="18" charset="0"/>
              </a:rPr>
              <a:t>des actions applicables à un objet représente son </a:t>
            </a:r>
            <a:r>
              <a:rPr lang="fr-FR" sz="2000" b="1" dirty="0" smtClean="0">
                <a:latin typeface="Times New Roman" panose="02020603050405020304" pitchFamily="18" charset="0"/>
                <a:cs typeface="Times New Roman" panose="02020603050405020304" pitchFamily="18" charset="0"/>
              </a:rPr>
              <a:t>comportement</a:t>
            </a:r>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Remarque</a:t>
            </a:r>
            <a:r>
              <a:rPr lang="fr-FR" sz="2000" dirty="0" smtClean="0">
                <a:latin typeface="Times New Roman" panose="02020603050405020304" pitchFamily="18" charset="0"/>
                <a:cs typeface="Times New Roman" panose="02020603050405020304" pitchFamily="18" charset="0"/>
              </a:rPr>
              <a:t> : </a:t>
            </a:r>
            <a:r>
              <a:rPr lang="fr-FR" sz="2000" dirty="0">
                <a:latin typeface="Times New Roman" panose="02020603050405020304" pitchFamily="18" charset="0"/>
                <a:cs typeface="Times New Roman" panose="02020603050405020304" pitchFamily="18" charset="0"/>
              </a:rPr>
              <a:t>les actions associées à un objet s'expriment généralement sous la forme de verbes à l'infinitif (créditer, débiter).</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À un instant donné, l'état d'un objet « compte bancaire » sera constitué par les valeurs de son titulaire, son solde et sa devise. L'état de l'objet « compte bancaire de </a:t>
            </a:r>
            <a:r>
              <a:rPr lang="fr-FR" sz="2000" dirty="0" smtClean="0">
                <a:latin typeface="Times New Roman" panose="02020603050405020304" pitchFamily="18" charset="0"/>
                <a:cs typeface="Times New Roman" panose="02020603050405020304" pitchFamily="18" charset="0"/>
              </a:rPr>
              <a:t>Paul </a:t>
            </a:r>
            <a:r>
              <a:rPr lang="fr-FR" sz="2000" dirty="0">
                <a:latin typeface="Times New Roman" panose="02020603050405020304" pitchFamily="18" charset="0"/>
                <a:cs typeface="Times New Roman" panose="02020603050405020304" pitchFamily="18" charset="0"/>
              </a:rPr>
              <a:t>» sera, sauf exception, différent de l'état de l'objet « compte bancaire de </a:t>
            </a:r>
            <a:r>
              <a:rPr lang="fr-FR" sz="2000" dirty="0" smtClean="0">
                <a:latin typeface="Times New Roman" panose="02020603050405020304" pitchFamily="18" charset="0"/>
                <a:cs typeface="Times New Roman" panose="02020603050405020304" pitchFamily="18" charset="0"/>
              </a:rPr>
              <a:t>Pierre </a:t>
            </a:r>
            <a:r>
              <a:rPr lang="fr-FR" sz="2000" dirty="0">
                <a:latin typeface="Times New Roman" panose="02020603050405020304" pitchFamily="18" charset="0"/>
                <a:cs typeface="Times New Roman" panose="02020603050405020304" pitchFamily="18" charset="0"/>
              </a:rPr>
              <a:t>».</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56260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Notions d'objet et de classe</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6247864"/>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La notion </a:t>
            </a:r>
            <a:r>
              <a:rPr lang="fr-FR" sz="2000" b="1" dirty="0" smtClean="0">
                <a:solidFill>
                  <a:srgbClr val="C00000"/>
                </a:solidFill>
                <a:latin typeface="Times New Roman" panose="02020603050405020304" pitchFamily="18" charset="0"/>
                <a:cs typeface="Times New Roman" panose="02020603050405020304" pitchFamily="18" charset="0"/>
              </a:rPr>
              <a:t>de classe</a:t>
            </a:r>
            <a:endParaRPr lang="fr-FR" sz="2000" dirty="0" smtClean="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Nous venons de voir que l'on pouvait représenter un compte bancaire sous la forme d'un objet. Imaginons que nous voulions gérer les différents comptes d'une banque. Chaque compte aura son propre titulaire, son solde particulier et sa devise. Mais tous les comptes auront un titulaire, un solde et une devise, et permettront d'effectuer les mêmes opérations de débit/crédit. Chaque objet « compte bancaire » sera construit sur le même modèle : ce modèle est appelé une </a:t>
            </a:r>
            <a:r>
              <a:rPr lang="fr-FR" sz="2000" b="1" dirty="0">
                <a:latin typeface="Times New Roman" panose="02020603050405020304" pitchFamily="18" charset="0"/>
                <a:cs typeface="Times New Roman" panose="02020603050405020304" pitchFamily="18" charset="0"/>
              </a:rPr>
              <a:t>classe</a:t>
            </a:r>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Définition</a:t>
            </a:r>
            <a:r>
              <a:rPr lang="fr-FR" sz="2000" dirty="0" smtClean="0">
                <a:latin typeface="Times New Roman" panose="02020603050405020304" pitchFamily="18" charset="0"/>
                <a:cs typeface="Times New Roman" panose="02020603050405020304" pitchFamily="18" charset="0"/>
              </a:rPr>
              <a:t> : </a:t>
            </a:r>
            <a:r>
              <a:rPr lang="fr-FR" sz="2000" dirty="0">
                <a:latin typeface="Times New Roman" panose="02020603050405020304" pitchFamily="18" charset="0"/>
                <a:cs typeface="Times New Roman" panose="02020603050405020304" pitchFamily="18" charset="0"/>
              </a:rPr>
              <a:t>une </a:t>
            </a:r>
            <a:r>
              <a:rPr lang="fr-FR" sz="2000" b="1" dirty="0">
                <a:latin typeface="Times New Roman" panose="02020603050405020304" pitchFamily="18" charset="0"/>
                <a:cs typeface="Times New Roman" panose="02020603050405020304" pitchFamily="18" charset="0"/>
              </a:rPr>
              <a:t>classe</a:t>
            </a:r>
            <a:r>
              <a:rPr lang="fr-FR" sz="2000" dirty="0">
                <a:latin typeface="Times New Roman" panose="02020603050405020304" pitchFamily="18" charset="0"/>
                <a:cs typeface="Times New Roman" panose="02020603050405020304" pitchFamily="18" charset="0"/>
              </a:rPr>
              <a:t> est un </a:t>
            </a:r>
            <a:r>
              <a:rPr lang="fr-FR" sz="2000" b="1" dirty="0">
                <a:latin typeface="Times New Roman" panose="02020603050405020304" pitchFamily="18" charset="0"/>
                <a:cs typeface="Times New Roman" panose="02020603050405020304" pitchFamily="18" charset="0"/>
              </a:rPr>
              <a:t>modèle d'objet</a:t>
            </a:r>
            <a:r>
              <a:rPr lang="fr-FR" sz="2000" dirty="0">
                <a:latin typeface="Times New Roman" panose="02020603050405020304" pitchFamily="18" charset="0"/>
                <a:cs typeface="Times New Roman" panose="02020603050405020304" pitchFamily="18" charset="0"/>
              </a:rPr>
              <a:t>. C'est un nouveau type créé par le programmeur et qui sert de modèle pour tous les objets de cette classe. Une classe spécifie les informations et les actions qu'auront en commun tous les objets qui en sont issus.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 compte en banque appartenant à Jean, dont le solde est de </a:t>
            </a:r>
            <a:r>
              <a:rPr lang="fr-FR" sz="2000" dirty="0" smtClean="0">
                <a:latin typeface="Times New Roman" panose="02020603050405020304" pitchFamily="18" charset="0"/>
                <a:cs typeface="Times New Roman" panose="02020603050405020304" pitchFamily="18" charset="0"/>
              </a:rPr>
              <a:t>450 euros, </a:t>
            </a:r>
            <a:r>
              <a:rPr lang="fr-FR" sz="2000" dirty="0">
                <a:latin typeface="Times New Roman" panose="02020603050405020304" pitchFamily="18" charset="0"/>
                <a:cs typeface="Times New Roman" panose="02020603050405020304" pitchFamily="18" charset="0"/>
              </a:rPr>
              <a:t>est un compte bancaire particulier. Il s'agit d'un objet de la classe « compte bancaire ». En utilisant le vocabulaire de la POO, on dit que l'objet « compte bancaire de Jean » est une instance de la classe « compte bancaire ».</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Attention</a:t>
            </a:r>
            <a:r>
              <a:rPr lang="fr-FR" sz="2000" dirty="0" smtClean="0">
                <a:latin typeface="Times New Roman" panose="02020603050405020304" pitchFamily="18" charset="0"/>
                <a:cs typeface="Times New Roman" panose="02020603050405020304" pitchFamily="18" charset="0"/>
              </a:rPr>
              <a:t> : </a:t>
            </a:r>
            <a:r>
              <a:rPr lang="fr-FR" sz="2000" dirty="0">
                <a:latin typeface="Times New Roman" panose="02020603050405020304" pitchFamily="18" charset="0"/>
                <a:cs typeface="Times New Roman" panose="02020603050405020304" pitchFamily="18" charset="0"/>
              </a:rPr>
              <a:t>ne pas confondre objet et classe. Une classe est un type abstrait (exemple : un compte bancaire en général), un objet est un exemplaire concret d'une classe (exemple : le compte bancaire de Jean).</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Un objet est une variable particulière dont le type est une classe</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21300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Notions d'objet et de classe</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2862322"/>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La notion </a:t>
            </a:r>
            <a:r>
              <a:rPr lang="fr-FR" sz="2000" b="1" dirty="0" smtClean="0">
                <a:solidFill>
                  <a:srgbClr val="C00000"/>
                </a:solidFill>
                <a:latin typeface="Times New Roman" panose="02020603050405020304" pitchFamily="18" charset="0"/>
                <a:cs typeface="Times New Roman" panose="02020603050405020304" pitchFamily="18" charset="0"/>
              </a:rPr>
              <a:t>de classe</a:t>
            </a:r>
          </a:p>
          <a:p>
            <a:pPr algn="just"/>
            <a:endParaRPr lang="fr-FR" sz="2000" b="1" dirty="0">
              <a:solidFill>
                <a:srgbClr val="C00000"/>
              </a:solidFill>
              <a:latin typeface="Times New Roman" panose="02020603050405020304" pitchFamily="18" charset="0"/>
              <a:cs typeface="Times New Roman" panose="02020603050405020304" pitchFamily="18" charset="0"/>
            </a:endParaRPr>
          </a:p>
          <a:p>
            <a:pPr algn="just"/>
            <a:r>
              <a:rPr lang="fr-FR" sz="2000" b="1" dirty="0">
                <a:solidFill>
                  <a:srgbClr val="C00000"/>
                </a:solidFill>
                <a:latin typeface="Times New Roman" panose="02020603050405020304" pitchFamily="18" charset="0"/>
                <a:cs typeface="Times New Roman" panose="02020603050405020304" pitchFamily="18" charset="0"/>
              </a:rPr>
              <a:t>Représentation graphique</a:t>
            </a:r>
            <a:endParaRPr lang="fr-FR" sz="2000" b="1" dirty="0" smtClean="0">
              <a:solidFill>
                <a:srgbClr val="C00000"/>
              </a:solidFill>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Afin de faciliter la communication entre les programmeurs n'utilisant pas le même langage de programmation objet, il existe un standard de représentation graphique d'une classe. Ce standard fait partie de la norme UML (</a:t>
            </a:r>
            <a:r>
              <a:rPr lang="fr-FR" sz="2000" dirty="0" err="1">
                <a:latin typeface="Times New Roman" panose="02020603050405020304" pitchFamily="18" charset="0"/>
                <a:cs typeface="Times New Roman" panose="02020603050405020304" pitchFamily="18" charset="0"/>
              </a:rPr>
              <a:t>Unified</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Modeling</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Language</a:t>
            </a:r>
            <a:r>
              <a:rPr lang="fr-FR" sz="2000" dirty="0">
                <a:latin typeface="Times New Roman" panose="02020603050405020304" pitchFamily="18" charset="0"/>
                <a:cs typeface="Times New Roman" panose="02020603050405020304" pitchFamily="18" charset="0"/>
              </a:rPr>
              <a:t>). On parle de diagramme de classe.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Voici la représentation de notre classe « compte bancaire » réalisée par Visual Studio</a:t>
            </a:r>
            <a:r>
              <a:rPr lang="fr-FR" sz="2000" dirty="0" smtClean="0">
                <a:latin typeface="Times New Roman" panose="02020603050405020304" pitchFamily="18" charset="0"/>
                <a:cs typeface="Times New Roman" panose="02020603050405020304" pitchFamily="18" charset="0"/>
              </a:rPr>
              <a:t>.</a:t>
            </a: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1821" y="3798000"/>
            <a:ext cx="2236684" cy="3060000"/>
          </a:xfrm>
          <a:prstGeom prst="rect">
            <a:avLst/>
          </a:prstGeom>
        </p:spPr>
      </p:pic>
    </p:spTree>
    <p:extLst>
      <p:ext uri="{BB962C8B-B14F-4D97-AF65-F5344CB8AC3E}">
        <p14:creationId xmlns:p14="http://schemas.microsoft.com/office/powerpoint/2010/main" val="13932415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Notions d'objet et de classe</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1631216"/>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La notion </a:t>
            </a:r>
            <a:r>
              <a:rPr lang="fr-FR" sz="2000" b="1" dirty="0" smtClean="0">
                <a:solidFill>
                  <a:srgbClr val="C00000"/>
                </a:solidFill>
                <a:latin typeface="Times New Roman" panose="02020603050405020304" pitchFamily="18" charset="0"/>
                <a:cs typeface="Times New Roman" panose="02020603050405020304" pitchFamily="18" charset="0"/>
              </a:rPr>
              <a:t>de classe</a:t>
            </a:r>
          </a:p>
          <a:p>
            <a:pPr algn="just"/>
            <a:endParaRPr lang="fr-FR" sz="2000" b="1" dirty="0">
              <a:solidFill>
                <a:srgbClr val="C00000"/>
              </a:solidFill>
              <a:latin typeface="Times New Roman" panose="02020603050405020304" pitchFamily="18" charset="0"/>
              <a:cs typeface="Times New Roman" panose="02020603050405020304" pitchFamily="18" charset="0"/>
            </a:endParaRPr>
          </a:p>
          <a:p>
            <a:pPr algn="just"/>
            <a:r>
              <a:rPr lang="fr-FR" sz="2000" b="1" dirty="0">
                <a:solidFill>
                  <a:srgbClr val="C00000"/>
                </a:solidFill>
                <a:latin typeface="Times New Roman" panose="02020603050405020304" pitchFamily="18" charset="0"/>
                <a:cs typeface="Times New Roman" panose="02020603050405020304" pitchFamily="18" charset="0"/>
              </a:rPr>
              <a:t>Représentation graphique</a:t>
            </a:r>
            <a:endParaRPr lang="fr-FR" sz="2000" b="1" dirty="0" smtClean="0">
              <a:solidFill>
                <a:srgbClr val="C00000"/>
              </a:solidFill>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Voici la même classe représentée sous la forme d'un diagramme conforme au standard UML.</a:t>
            </a:r>
            <a:endParaRPr lang="fr-FR" sz="2000" dirty="0" smtClean="0">
              <a:latin typeface="Times New Roman" panose="02020603050405020304" pitchFamily="18" charset="0"/>
              <a:cs typeface="Times New Roman" panose="02020603050405020304" pitchFamily="18" charset="0"/>
            </a:endParaRP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4648" y="2542988"/>
            <a:ext cx="2491030" cy="2520000"/>
          </a:xfrm>
          <a:prstGeom prst="rect">
            <a:avLst/>
          </a:prstGeom>
        </p:spPr>
      </p:pic>
    </p:spTree>
    <p:extLst>
      <p:ext uri="{BB962C8B-B14F-4D97-AF65-F5344CB8AC3E}">
        <p14:creationId xmlns:p14="http://schemas.microsoft.com/office/powerpoint/2010/main" val="21376038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Notions d'objet et de classe</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3170099"/>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La notion </a:t>
            </a:r>
            <a:r>
              <a:rPr lang="fr-FR" sz="2000" b="1" dirty="0" smtClean="0">
                <a:solidFill>
                  <a:srgbClr val="C00000"/>
                </a:solidFill>
                <a:latin typeface="Times New Roman" panose="02020603050405020304" pitchFamily="18" charset="0"/>
                <a:cs typeface="Times New Roman" panose="02020603050405020304" pitchFamily="18" charset="0"/>
              </a:rPr>
              <a:t>de classe</a:t>
            </a:r>
          </a:p>
          <a:p>
            <a:pPr algn="just"/>
            <a:endParaRPr lang="fr-FR" sz="2000" b="1" dirty="0">
              <a:solidFill>
                <a:srgbClr val="C00000"/>
              </a:solidFill>
              <a:latin typeface="Times New Roman" panose="02020603050405020304" pitchFamily="18" charset="0"/>
              <a:cs typeface="Times New Roman" panose="02020603050405020304" pitchFamily="18" charset="0"/>
            </a:endParaRPr>
          </a:p>
          <a:p>
            <a:pPr algn="just"/>
            <a:r>
              <a:rPr lang="fr-FR" sz="2000" b="1" dirty="0">
                <a:solidFill>
                  <a:srgbClr val="C00000"/>
                </a:solidFill>
                <a:latin typeface="Times New Roman" panose="02020603050405020304" pitchFamily="18" charset="0"/>
                <a:cs typeface="Times New Roman" panose="02020603050405020304" pitchFamily="18" charset="0"/>
              </a:rPr>
              <a:t>Représentation graphique</a:t>
            </a:r>
            <a:endParaRPr lang="fr-FR" sz="2000" b="1" dirty="0" smtClean="0">
              <a:solidFill>
                <a:srgbClr val="C00000"/>
              </a:solidFill>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Quel que soit l'outil utilisé, on observe que la classe est décomposée en deux parties </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les </a:t>
            </a:r>
            <a:r>
              <a:rPr lang="fr-FR" sz="2000" b="1" dirty="0">
                <a:latin typeface="Times New Roman" panose="02020603050405020304" pitchFamily="18" charset="0"/>
                <a:cs typeface="Times New Roman" panose="02020603050405020304" pitchFamily="18" charset="0"/>
              </a:rPr>
              <a:t>champs</a:t>
            </a:r>
            <a:r>
              <a:rPr lang="fr-FR" sz="2000" dirty="0">
                <a:latin typeface="Times New Roman" panose="02020603050405020304" pitchFamily="18" charset="0"/>
                <a:cs typeface="Times New Roman" panose="02020603050405020304" pitchFamily="18" charset="0"/>
              </a:rPr>
              <a:t>, qui correspondent aux informations de la classe : devise, solde et titulaire ;</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les </a:t>
            </a:r>
            <a:r>
              <a:rPr lang="fr-FR" sz="2000" b="1" dirty="0">
                <a:latin typeface="Times New Roman" panose="02020603050405020304" pitchFamily="18" charset="0"/>
                <a:cs typeface="Times New Roman" panose="02020603050405020304" pitchFamily="18" charset="0"/>
              </a:rPr>
              <a:t>méthodes</a:t>
            </a:r>
            <a:r>
              <a:rPr lang="fr-FR" sz="2000" dirty="0">
                <a:latin typeface="Times New Roman" panose="02020603050405020304" pitchFamily="18" charset="0"/>
                <a:cs typeface="Times New Roman" panose="02020603050405020304" pitchFamily="18" charset="0"/>
              </a:rPr>
              <a:t>, qui correspondent aux actions réalisables : créditer, débiter et décrire.</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Définition</a:t>
            </a:r>
            <a:r>
              <a:rPr lang="fr-FR" sz="2000" dirty="0" smtClean="0">
                <a:latin typeface="Times New Roman" panose="02020603050405020304" pitchFamily="18" charset="0"/>
                <a:cs typeface="Times New Roman" panose="02020603050405020304" pitchFamily="18" charset="0"/>
              </a:rPr>
              <a:t> : </a:t>
            </a:r>
            <a:r>
              <a:rPr lang="fr-FR" sz="2000" dirty="0">
                <a:latin typeface="Times New Roman" panose="02020603050405020304" pitchFamily="18" charset="0"/>
                <a:cs typeface="Times New Roman" panose="02020603050405020304" pitchFamily="18" charset="0"/>
              </a:rPr>
              <a:t>une </a:t>
            </a:r>
            <a:r>
              <a:rPr lang="fr-FR" sz="2000" b="1" dirty="0">
                <a:latin typeface="Times New Roman" panose="02020603050405020304" pitchFamily="18" charset="0"/>
                <a:cs typeface="Times New Roman" panose="02020603050405020304" pitchFamily="18" charset="0"/>
              </a:rPr>
              <a:t>méthode</a:t>
            </a:r>
            <a:r>
              <a:rPr lang="fr-FR" sz="2000" dirty="0">
                <a:latin typeface="Times New Roman" panose="02020603050405020304" pitchFamily="18" charset="0"/>
                <a:cs typeface="Times New Roman" panose="02020603050405020304" pitchFamily="18" charset="0"/>
              </a:rPr>
              <a:t> représente une action réalisable sur un objet de la classe dans laquelle cette méthode est définie. Une méthode représente une partie du comportement d'une classe.</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08170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Notions d'objet et de classe</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5016758"/>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La notion </a:t>
            </a:r>
            <a:r>
              <a:rPr lang="fr-FR" sz="2000" b="1" dirty="0" smtClean="0">
                <a:solidFill>
                  <a:srgbClr val="C00000"/>
                </a:solidFill>
                <a:latin typeface="Times New Roman" panose="02020603050405020304" pitchFamily="18" charset="0"/>
                <a:cs typeface="Times New Roman" panose="02020603050405020304" pitchFamily="18" charset="0"/>
              </a:rPr>
              <a:t>de classe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En résumé :</a:t>
            </a:r>
          </a:p>
          <a:p>
            <a:pPr algn="just"/>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La </a:t>
            </a:r>
            <a:r>
              <a:rPr lang="fr-FR" sz="2000" dirty="0">
                <a:latin typeface="Times New Roman" panose="02020603050405020304" pitchFamily="18" charset="0"/>
                <a:cs typeface="Times New Roman" panose="02020603050405020304" pitchFamily="18" charset="0"/>
              </a:rPr>
              <a:t>POO consiste à programmer en utilisant des </a:t>
            </a:r>
            <a:r>
              <a:rPr lang="fr-FR" sz="2000" b="1" dirty="0" smtClean="0">
                <a:latin typeface="Times New Roman" panose="02020603050405020304" pitchFamily="18" charset="0"/>
                <a:cs typeface="Times New Roman" panose="02020603050405020304" pitchFamily="18" charset="0"/>
              </a:rPr>
              <a:t>objets</a:t>
            </a:r>
            <a:r>
              <a:rPr lang="fr-FR" sz="2000" dirty="0" smtClean="0">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Un </a:t>
            </a:r>
            <a:r>
              <a:rPr lang="fr-FR" sz="2000" dirty="0">
                <a:latin typeface="Times New Roman" panose="02020603050405020304" pitchFamily="18" charset="0"/>
                <a:cs typeface="Times New Roman" panose="02020603050405020304" pitchFamily="18" charset="0"/>
              </a:rPr>
              <a:t>objet modélise un élément du domaine étudié (exemples : un compte bancaire, une voiture, un satellite, etc</a:t>
            </a:r>
            <a:r>
              <a:rPr lang="fr-FR" sz="2000" dirty="0" smtClean="0">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Un </a:t>
            </a:r>
            <a:r>
              <a:rPr lang="fr-FR" sz="2000" dirty="0">
                <a:latin typeface="Times New Roman" panose="02020603050405020304" pitchFamily="18" charset="0"/>
                <a:cs typeface="Times New Roman" panose="02020603050405020304" pitchFamily="18" charset="0"/>
              </a:rPr>
              <a:t>objet est une </a:t>
            </a:r>
            <a:r>
              <a:rPr lang="fr-FR" sz="2000" b="1" dirty="0">
                <a:latin typeface="Times New Roman" panose="02020603050405020304" pitchFamily="18" charset="0"/>
                <a:cs typeface="Times New Roman" panose="02020603050405020304" pitchFamily="18" charset="0"/>
              </a:rPr>
              <a:t>instance</a:t>
            </a:r>
            <a:r>
              <a:rPr lang="fr-FR" sz="2000" dirty="0">
                <a:latin typeface="Times New Roman" panose="02020603050405020304" pitchFamily="18" charset="0"/>
                <a:cs typeface="Times New Roman" panose="02020603050405020304" pitchFamily="18" charset="0"/>
              </a:rPr>
              <a:t> de </a:t>
            </a:r>
            <a:r>
              <a:rPr lang="fr-FR" sz="2000" b="1" dirty="0">
                <a:latin typeface="Times New Roman" panose="02020603050405020304" pitchFamily="18" charset="0"/>
                <a:cs typeface="Times New Roman" panose="02020603050405020304" pitchFamily="18" charset="0"/>
              </a:rPr>
              <a:t>classe</a:t>
            </a:r>
            <a:r>
              <a:rPr lang="fr-FR" sz="2000" dirty="0">
                <a:latin typeface="Times New Roman" panose="02020603050405020304" pitchFamily="18" charset="0"/>
                <a:cs typeface="Times New Roman" panose="02020603050405020304" pitchFamily="18" charset="0"/>
              </a:rPr>
              <a:t>. Une classe est un type abstrait, un objet est un exemplaire concret de cette </a:t>
            </a:r>
            <a:r>
              <a:rPr lang="fr-FR" sz="2000" dirty="0" smtClean="0">
                <a:latin typeface="Times New Roman" panose="02020603050405020304" pitchFamily="18" charset="0"/>
                <a:cs typeface="Times New Roman" panose="02020603050405020304" pitchFamily="18" charset="0"/>
              </a:rPr>
              <a:t>classe.</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Une </a:t>
            </a:r>
            <a:r>
              <a:rPr lang="fr-FR" sz="2000" dirty="0">
                <a:latin typeface="Times New Roman" panose="02020603050405020304" pitchFamily="18" charset="0"/>
                <a:cs typeface="Times New Roman" panose="02020603050405020304" pitchFamily="18" charset="0"/>
              </a:rPr>
              <a:t>classe regroupe des </a:t>
            </a:r>
            <a:r>
              <a:rPr lang="fr-FR" sz="2000" b="1" dirty="0">
                <a:latin typeface="Times New Roman" panose="02020603050405020304" pitchFamily="18" charset="0"/>
                <a:cs typeface="Times New Roman" panose="02020603050405020304" pitchFamily="18" charset="0"/>
              </a:rPr>
              <a:t>informations</a:t>
            </a:r>
            <a:r>
              <a:rPr lang="fr-FR" sz="2000" dirty="0">
                <a:latin typeface="Times New Roman" panose="02020603050405020304" pitchFamily="18" charset="0"/>
                <a:cs typeface="Times New Roman" panose="02020603050405020304" pitchFamily="18" charset="0"/>
              </a:rPr>
              <a:t> et des </a:t>
            </a:r>
            <a:r>
              <a:rPr lang="fr-FR" sz="2000" b="1" dirty="0" smtClean="0">
                <a:latin typeface="Times New Roman" panose="02020603050405020304" pitchFamily="18" charset="0"/>
                <a:cs typeface="Times New Roman" panose="02020603050405020304" pitchFamily="18" charset="0"/>
              </a:rPr>
              <a:t>actions</a:t>
            </a:r>
            <a:r>
              <a:rPr lang="fr-FR" sz="2000" dirty="0" smtClean="0">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Les </a:t>
            </a:r>
            <a:r>
              <a:rPr lang="fr-FR" sz="2000" dirty="0">
                <a:latin typeface="Times New Roman" panose="02020603050405020304" pitchFamily="18" charset="0"/>
                <a:cs typeface="Times New Roman" panose="02020603050405020304" pitchFamily="18" charset="0"/>
              </a:rPr>
              <a:t>informations sont stockées sous la forme de </a:t>
            </a:r>
            <a:r>
              <a:rPr lang="fr-FR" sz="2000" b="1" dirty="0">
                <a:latin typeface="Times New Roman" panose="02020603050405020304" pitchFamily="18" charset="0"/>
                <a:cs typeface="Times New Roman" panose="02020603050405020304" pitchFamily="18" charset="0"/>
              </a:rPr>
              <a:t>champs</a:t>
            </a:r>
            <a:r>
              <a:rPr lang="fr-FR" sz="2000" dirty="0">
                <a:latin typeface="Times New Roman" panose="02020603050405020304" pitchFamily="18" charset="0"/>
                <a:cs typeface="Times New Roman" panose="02020603050405020304" pitchFamily="18" charset="0"/>
              </a:rPr>
              <a:t>. Les champs décrivent </a:t>
            </a:r>
            <a:r>
              <a:rPr lang="fr-FR" sz="2000" b="1" dirty="0">
                <a:latin typeface="Times New Roman" panose="02020603050405020304" pitchFamily="18" charset="0"/>
                <a:cs typeface="Times New Roman" panose="02020603050405020304" pitchFamily="18" charset="0"/>
              </a:rPr>
              <a:t>l'état</a:t>
            </a:r>
            <a:r>
              <a:rPr lang="fr-FR" sz="2000" dirty="0">
                <a:latin typeface="Times New Roman" panose="02020603050405020304" pitchFamily="18" charset="0"/>
                <a:cs typeface="Times New Roman" panose="02020603050405020304" pitchFamily="18" charset="0"/>
              </a:rPr>
              <a:t> d'un </a:t>
            </a:r>
            <a:r>
              <a:rPr lang="fr-FR" sz="2000" dirty="0" smtClean="0">
                <a:latin typeface="Times New Roman" panose="02020603050405020304" pitchFamily="18" charset="0"/>
                <a:cs typeface="Times New Roman" panose="02020603050405020304" pitchFamily="18" charset="0"/>
              </a:rPr>
              <a:t>objet.</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Les </a:t>
            </a:r>
            <a:r>
              <a:rPr lang="fr-FR" sz="2000" dirty="0">
                <a:latin typeface="Times New Roman" panose="02020603050405020304" pitchFamily="18" charset="0"/>
                <a:cs typeface="Times New Roman" panose="02020603050405020304" pitchFamily="18" charset="0"/>
              </a:rPr>
              <a:t>actions réalisables sur un objet sont représentées par des </a:t>
            </a:r>
            <a:r>
              <a:rPr lang="fr-FR" sz="2000" b="1" dirty="0">
                <a:latin typeface="Times New Roman" panose="02020603050405020304" pitchFamily="18" charset="0"/>
                <a:cs typeface="Times New Roman" panose="02020603050405020304" pitchFamily="18" charset="0"/>
              </a:rPr>
              <a:t>méthodes</a:t>
            </a:r>
            <a:r>
              <a:rPr lang="fr-FR" sz="2000" dirty="0">
                <a:latin typeface="Times New Roman" panose="02020603050405020304" pitchFamily="18" charset="0"/>
                <a:cs typeface="Times New Roman" panose="02020603050405020304" pitchFamily="18" charset="0"/>
              </a:rPr>
              <a:t>. Elles expriment ce que les objets peuvent faire, leur </a:t>
            </a:r>
            <a:r>
              <a:rPr lang="fr-FR" sz="2000" b="1" dirty="0">
                <a:latin typeface="Times New Roman" panose="02020603050405020304" pitchFamily="18" charset="0"/>
                <a:cs typeface="Times New Roman" panose="02020603050405020304" pitchFamily="18" charset="0"/>
              </a:rPr>
              <a:t>comportement</a:t>
            </a:r>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Les informations stockées par un objet peuvent être appelées </a:t>
            </a:r>
            <a:r>
              <a:rPr lang="fr-FR" sz="2000" b="1" dirty="0">
                <a:latin typeface="Times New Roman" panose="02020603050405020304" pitchFamily="18" charset="0"/>
                <a:cs typeface="Times New Roman" panose="02020603050405020304" pitchFamily="18" charset="0"/>
              </a:rPr>
              <a:t>champs</a:t>
            </a:r>
            <a:r>
              <a:rPr lang="fr-FR" sz="2000" dirty="0">
                <a:latin typeface="Times New Roman" panose="02020603050405020304" pitchFamily="18" charset="0"/>
                <a:cs typeface="Times New Roman" panose="02020603050405020304" pitchFamily="18" charset="0"/>
              </a:rPr>
              <a:t>, </a:t>
            </a:r>
            <a:r>
              <a:rPr lang="fr-FR" sz="2000" b="1" dirty="0">
                <a:latin typeface="Times New Roman" panose="02020603050405020304" pitchFamily="18" charset="0"/>
                <a:cs typeface="Times New Roman" panose="02020603050405020304" pitchFamily="18" charset="0"/>
              </a:rPr>
              <a:t>attributs</a:t>
            </a:r>
            <a:r>
              <a:rPr lang="fr-FR" sz="2000" dirty="0">
                <a:latin typeface="Times New Roman" panose="02020603050405020304" pitchFamily="18" charset="0"/>
                <a:cs typeface="Times New Roman" panose="02020603050405020304" pitchFamily="18" charset="0"/>
              </a:rPr>
              <a:t> ou encore </a:t>
            </a:r>
            <a:r>
              <a:rPr lang="fr-FR" sz="2000" b="1" dirty="0">
                <a:latin typeface="Times New Roman" panose="02020603050405020304" pitchFamily="18" charset="0"/>
                <a:cs typeface="Times New Roman" panose="02020603050405020304" pitchFamily="18" charset="0"/>
              </a:rPr>
              <a:t>propriétés</a:t>
            </a:r>
            <a:r>
              <a:rPr lang="fr-FR" sz="2000" dirty="0">
                <a:latin typeface="Times New Roman" panose="02020603050405020304" pitchFamily="18" charset="0"/>
                <a:cs typeface="Times New Roman" panose="02020603050405020304" pitchFamily="18" charset="0"/>
              </a:rPr>
              <a:t>. Attention, ce dernier terme est ambigu en C# (voir plus loin).</a:t>
            </a:r>
          </a:p>
        </p:txBody>
      </p:sp>
    </p:spTree>
    <p:extLst>
      <p:ext uri="{BB962C8B-B14F-4D97-AF65-F5344CB8AC3E}">
        <p14:creationId xmlns:p14="http://schemas.microsoft.com/office/powerpoint/2010/main" val="14051294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Déclaration d'une classe</a:t>
            </a:r>
          </a:p>
        </p:txBody>
      </p:sp>
      <p:sp>
        <p:nvSpPr>
          <p:cNvPr id="8" name="ZoneTexte 7"/>
          <p:cNvSpPr txBox="1"/>
          <p:nvPr/>
        </p:nvSpPr>
        <p:spPr>
          <a:xfrm>
            <a:off x="480163" y="911772"/>
            <a:ext cx="11160000" cy="5940088"/>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Une fois la modélisation d'une classe terminée, il est possible de la traduire dans n'importe quel langage de programmation orienté objet</a:t>
            </a:r>
            <a:r>
              <a:rPr lang="fr-FR" sz="2000" dirty="0" smtClean="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Voici la traduction en C# de la classe </a:t>
            </a:r>
            <a:r>
              <a:rPr lang="fr-FR" sz="2000" dirty="0" err="1">
                <a:latin typeface="Times New Roman" panose="02020603050405020304" pitchFamily="18" charset="0"/>
                <a:cs typeface="Times New Roman" panose="02020603050405020304" pitchFamily="18" charset="0"/>
              </a:rPr>
              <a:t>CompteBancaire</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public class </a:t>
            </a:r>
            <a:r>
              <a:rPr lang="fr-FR" sz="2000" dirty="0" err="1">
                <a:latin typeface="Times New Roman" panose="02020603050405020304" pitchFamily="18" charset="0"/>
                <a:cs typeface="Times New Roman" panose="02020603050405020304" pitchFamily="18" charset="0"/>
              </a:rPr>
              <a:t>CompteBancaire</a:t>
            </a:r>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public string titulaire;</a:t>
            </a:r>
          </a:p>
          <a:p>
            <a:pPr lvl="2" algn="just"/>
            <a:r>
              <a:rPr lang="fr-FR" sz="2000" dirty="0">
                <a:latin typeface="Times New Roman" panose="02020603050405020304" pitchFamily="18" charset="0"/>
                <a:cs typeface="Times New Roman" panose="02020603050405020304" pitchFamily="18" charset="0"/>
              </a:rPr>
              <a:t>    public double solde;</a:t>
            </a:r>
          </a:p>
          <a:p>
            <a:pPr lvl="2" algn="just"/>
            <a:r>
              <a:rPr lang="fr-FR" sz="2000" dirty="0">
                <a:latin typeface="Times New Roman" panose="02020603050405020304" pitchFamily="18" charset="0"/>
                <a:cs typeface="Times New Roman" panose="02020603050405020304" pitchFamily="18" charset="0"/>
              </a:rPr>
              <a:t>    public string devise;</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Crediter</a:t>
            </a:r>
            <a:r>
              <a:rPr lang="fr-FR" sz="2000" dirty="0">
                <a:latin typeface="Times New Roman" panose="02020603050405020304" pitchFamily="18" charset="0"/>
                <a:cs typeface="Times New Roman" panose="02020603050405020304" pitchFamily="18" charset="0"/>
              </a:rPr>
              <a:t>(double montant)</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solde = solde + montant;</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Debiter</a:t>
            </a:r>
            <a:r>
              <a:rPr lang="fr-FR" sz="2000" dirty="0">
                <a:latin typeface="Times New Roman" panose="02020603050405020304" pitchFamily="18" charset="0"/>
                <a:cs typeface="Times New Roman" panose="02020603050405020304" pitchFamily="18" charset="0"/>
              </a:rPr>
              <a:t>(double montant)</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solde = solde - montant;</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55737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Déclaration d'une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classe</a:t>
            </a:r>
          </a:p>
        </p:txBody>
      </p:sp>
      <p:sp>
        <p:nvSpPr>
          <p:cNvPr id="8" name="ZoneTexte 7"/>
          <p:cNvSpPr txBox="1"/>
          <p:nvPr/>
        </p:nvSpPr>
        <p:spPr>
          <a:xfrm>
            <a:off x="480163" y="911772"/>
            <a:ext cx="11160000" cy="2554545"/>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La définition d'une classe commence par le mot-clé </a:t>
            </a:r>
            <a:r>
              <a:rPr lang="fr-FR" sz="2000" b="1" dirty="0" smtClean="0">
                <a:latin typeface="Times New Roman" panose="02020603050405020304" pitchFamily="18" charset="0"/>
                <a:cs typeface="Times New Roman" panose="02020603050405020304" pitchFamily="18" charset="0"/>
              </a:rPr>
              <a:t>class,</a:t>
            </a:r>
            <a:r>
              <a:rPr lang="fr-FR" sz="2000" dirty="0">
                <a:latin typeface="Times New Roman" panose="02020603050405020304" pitchFamily="18" charset="0"/>
                <a:cs typeface="Times New Roman" panose="02020603050405020304" pitchFamily="18" charset="0"/>
              </a:rPr>
              <a:t> suivi d’un identificateur (Nom) de </a:t>
            </a:r>
            <a:r>
              <a:rPr lang="fr-FR" sz="2000" dirty="0" smtClean="0">
                <a:latin typeface="Times New Roman" panose="02020603050405020304" pitchFamily="18" charset="0"/>
                <a:cs typeface="Times New Roman" panose="02020603050405020304" pitchFamily="18" charset="0"/>
              </a:rPr>
              <a:t>classe. </a:t>
            </a:r>
            <a:r>
              <a:rPr lang="fr-FR" sz="2000" dirty="0">
                <a:latin typeface="Times New Roman" panose="02020603050405020304" pitchFamily="18" charset="0"/>
                <a:cs typeface="Times New Roman" panose="02020603050405020304" pitchFamily="18" charset="0"/>
              </a:rPr>
              <a:t>On retrouve ensuite la définition des </a:t>
            </a:r>
            <a:r>
              <a:rPr lang="fr-FR" sz="2000" b="1" dirty="0">
                <a:latin typeface="Times New Roman" panose="02020603050405020304" pitchFamily="18" charset="0"/>
                <a:cs typeface="Times New Roman" panose="02020603050405020304" pitchFamily="18" charset="0"/>
              </a:rPr>
              <a:t>champs</a:t>
            </a:r>
            <a:r>
              <a:rPr lang="fr-FR" sz="2000" dirty="0">
                <a:latin typeface="Times New Roman" panose="02020603050405020304" pitchFamily="18" charset="0"/>
                <a:cs typeface="Times New Roman" panose="02020603050405020304" pitchFamily="18" charset="0"/>
              </a:rPr>
              <a:t> (</a:t>
            </a:r>
            <a:r>
              <a:rPr lang="fr-FR" sz="2000" b="1" dirty="0">
                <a:latin typeface="Times New Roman" panose="02020603050405020304" pitchFamily="18" charset="0"/>
                <a:cs typeface="Times New Roman" panose="02020603050405020304" pitchFamily="18" charset="0"/>
              </a:rPr>
              <a:t>attributs</a:t>
            </a:r>
            <a:r>
              <a:rPr lang="fr-FR" sz="2000" dirty="0">
                <a:latin typeface="Times New Roman" panose="02020603050405020304" pitchFamily="18" charset="0"/>
                <a:cs typeface="Times New Roman" panose="02020603050405020304" pitchFamily="18" charset="0"/>
              </a:rPr>
              <a:t>) et des </a:t>
            </a:r>
            <a:r>
              <a:rPr lang="fr-FR" sz="2000" b="1" dirty="0">
                <a:latin typeface="Times New Roman" panose="02020603050405020304" pitchFamily="18" charset="0"/>
                <a:cs typeface="Times New Roman" panose="02020603050405020304" pitchFamily="18" charset="0"/>
              </a:rPr>
              <a:t>méthodes</a:t>
            </a:r>
            <a:r>
              <a:rPr lang="fr-FR" sz="2000" dirty="0">
                <a:latin typeface="Times New Roman" panose="02020603050405020304" pitchFamily="18" charset="0"/>
                <a:cs typeface="Times New Roman" panose="02020603050405020304" pitchFamily="18" charset="0"/>
              </a:rPr>
              <a:t> de la classe. On remarque que les méthodes utilisent (et modifient) les valeurs des attributs.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Une méthode est une sorte de </a:t>
            </a:r>
            <a:r>
              <a:rPr lang="fr-FR" sz="2000" dirty="0" err="1">
                <a:latin typeface="Times New Roman" panose="02020603050405020304" pitchFamily="18" charset="0"/>
                <a:cs typeface="Times New Roman" panose="02020603050405020304" pitchFamily="18" charset="0"/>
              </a:rPr>
              <a:t>miniprogramme</a:t>
            </a:r>
            <a:r>
              <a:rPr lang="fr-FR" sz="2000" dirty="0">
                <a:latin typeface="Times New Roman" panose="02020603050405020304" pitchFamily="18" charset="0"/>
                <a:cs typeface="Times New Roman" panose="02020603050405020304" pitchFamily="18" charset="0"/>
              </a:rPr>
              <a:t>. On peut y déclarer des variables locales et y utiliser tous les éléments de programmation déjà connus (alternatives, boucles, etc.).</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On remarque un nouveau mot-clé : </a:t>
            </a:r>
            <a:r>
              <a:rPr lang="fr-FR" sz="2000" b="1" dirty="0">
                <a:latin typeface="Times New Roman" panose="02020603050405020304" pitchFamily="18" charset="0"/>
                <a:cs typeface="Times New Roman" panose="02020603050405020304" pitchFamily="18" charset="0"/>
              </a:rPr>
              <a:t>public</a:t>
            </a:r>
            <a:r>
              <a:rPr lang="fr-FR" sz="2000" dirty="0">
                <a:latin typeface="Times New Roman" panose="02020603050405020304" pitchFamily="18" charset="0"/>
                <a:cs typeface="Times New Roman" panose="02020603050405020304" pitchFamily="18" charset="0"/>
              </a:rPr>
              <a:t>, sur lequel nous reviendrons ultérieurement</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21869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Utilisation d'une classe</a:t>
            </a:r>
          </a:p>
        </p:txBody>
      </p:sp>
      <p:sp>
        <p:nvSpPr>
          <p:cNvPr id="8" name="ZoneTexte 7"/>
          <p:cNvSpPr txBox="1"/>
          <p:nvPr/>
        </p:nvSpPr>
        <p:spPr>
          <a:xfrm>
            <a:off x="480163" y="911772"/>
            <a:ext cx="11160000" cy="2246769"/>
          </a:xfrm>
          <a:prstGeom prst="rect">
            <a:avLst/>
          </a:prstGeom>
          <a:noFill/>
        </p:spPr>
        <p:txBody>
          <a:bodyPr wrap="square" rtlCol="0">
            <a:spAutoFit/>
          </a:bodyPr>
          <a:lstStyle/>
          <a:p>
            <a:pPr algn="just"/>
            <a:r>
              <a:rPr lang="fr-FR" sz="2000" dirty="0" smtClean="0">
                <a:latin typeface="Times New Roman" panose="02020603050405020304" pitchFamily="18" charset="0"/>
                <a:cs typeface="Times New Roman" panose="02020603050405020304" pitchFamily="18" charset="0"/>
              </a:rPr>
              <a:t>En utilisant le modèle fourni par la classe, il est possible de créer autant d'objets que nécessaire. Différents objets d'une même classe disposent des mêmes attributs et des mêmes méthodes, mais les valeurs des attributs sont différentes pour chaque objet. Par exemple, tous les comptes bancaires auront un solde, mais sauf exception, ce solde sera différent pour chaque compte.</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Le programme C# ci-dessous utilise la classe </a:t>
            </a:r>
            <a:r>
              <a:rPr lang="fr-FR" sz="2000" dirty="0" err="1" smtClean="0">
                <a:latin typeface="Times New Roman" panose="02020603050405020304" pitchFamily="18" charset="0"/>
                <a:cs typeface="Times New Roman" panose="02020603050405020304" pitchFamily="18" charset="0"/>
              </a:rPr>
              <a:t>CompteBancaire</a:t>
            </a:r>
            <a:r>
              <a:rPr lang="fr-FR" sz="2000" dirty="0" smtClean="0">
                <a:latin typeface="Times New Roman" panose="02020603050405020304" pitchFamily="18" charset="0"/>
                <a:cs typeface="Times New Roman" panose="02020603050405020304" pitchFamily="18" charset="0"/>
              </a:rPr>
              <a:t> définie plus haut pour créer le compte de Jean et y effectuer deux opérations.</a:t>
            </a:r>
          </a:p>
        </p:txBody>
      </p:sp>
    </p:spTree>
    <p:extLst>
      <p:ext uri="{BB962C8B-B14F-4D97-AF65-F5344CB8AC3E}">
        <p14:creationId xmlns:p14="http://schemas.microsoft.com/office/powerpoint/2010/main" val="32596628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Utilisation d'une classe</a:t>
            </a:r>
          </a:p>
        </p:txBody>
      </p:sp>
      <p:sp>
        <p:nvSpPr>
          <p:cNvPr id="8" name="ZoneTexte 7"/>
          <p:cNvSpPr txBox="1"/>
          <p:nvPr/>
        </p:nvSpPr>
        <p:spPr>
          <a:xfrm>
            <a:off x="480163" y="911772"/>
            <a:ext cx="11160000" cy="6247864"/>
          </a:xfrm>
          <a:prstGeom prst="rect">
            <a:avLst/>
          </a:prstGeom>
          <a:noFill/>
        </p:spPr>
        <p:txBody>
          <a:bodyPr wrap="square" rtlCol="0">
            <a:spAutoFit/>
          </a:bodyPr>
          <a:lstStyle/>
          <a:p>
            <a:pPr algn="just"/>
            <a:r>
              <a:rPr lang="fr-FR" sz="2000" dirty="0" smtClean="0">
                <a:latin typeface="Times New Roman" panose="02020603050405020304" pitchFamily="18" charset="0"/>
                <a:cs typeface="Times New Roman" panose="02020603050405020304" pitchFamily="18" charset="0"/>
              </a:rPr>
              <a:t>Le programme C# ci-dessous utilise la classe </a:t>
            </a:r>
            <a:r>
              <a:rPr lang="fr-FR" sz="2000" dirty="0" err="1" smtClean="0">
                <a:latin typeface="Times New Roman" panose="02020603050405020304" pitchFamily="18" charset="0"/>
                <a:cs typeface="Times New Roman" panose="02020603050405020304" pitchFamily="18" charset="0"/>
              </a:rPr>
              <a:t>CompteBancaire</a:t>
            </a:r>
            <a:r>
              <a:rPr lang="fr-FR" sz="2000" dirty="0" smtClean="0">
                <a:latin typeface="Times New Roman" panose="02020603050405020304" pitchFamily="18" charset="0"/>
                <a:cs typeface="Times New Roman" panose="02020603050405020304" pitchFamily="18" charset="0"/>
              </a:rPr>
              <a:t> définie plus haut pour créer le compte de Jean et y effectuer deux opérations.</a:t>
            </a:r>
            <a:endParaRPr lang="fr-FR" sz="2000" dirty="0">
              <a:latin typeface="Times New Roman" panose="02020603050405020304" pitchFamily="18" charset="0"/>
              <a:cs typeface="Times New Roman" panose="02020603050405020304" pitchFamily="18" charset="0"/>
            </a:endParaRPr>
          </a:p>
          <a:p>
            <a:pPr lvl="2" algn="just"/>
            <a:r>
              <a:rPr lang="fr-FR" sz="2000" dirty="0" err="1">
                <a:latin typeface="Times New Roman" panose="02020603050405020304" pitchFamily="18" charset="0"/>
                <a:cs typeface="Times New Roman" panose="02020603050405020304" pitchFamily="18" charset="0"/>
              </a:rPr>
              <a:t>static</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Main(string[] </a:t>
            </a:r>
            <a:r>
              <a:rPr lang="fr-FR" sz="2000" dirty="0" err="1">
                <a:latin typeface="Times New Roman" panose="02020603050405020304" pitchFamily="18" charset="0"/>
                <a:cs typeface="Times New Roman" panose="02020603050405020304" pitchFamily="18" charset="0"/>
              </a:rPr>
              <a:t>args</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a:t>
            </a:r>
            <a:r>
              <a:rPr lang="fr-FR" sz="2000" dirty="0">
                <a:latin typeface="Times New Roman" panose="02020603050405020304" pitchFamily="18" charset="0"/>
                <a:cs typeface="Times New Roman" panose="02020603050405020304" pitchFamily="18" charset="0"/>
              </a:rPr>
              <a:t>;          // déclaration d'un nouvel objet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 instanciation de cet objet</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 affectations de valeurs aux attributs</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comptePierre.titulaire</a:t>
            </a:r>
            <a:r>
              <a:rPr lang="fr-FR" sz="2000" dirty="0">
                <a:latin typeface="Times New Roman" panose="02020603050405020304" pitchFamily="18" charset="0"/>
                <a:cs typeface="Times New Roman" panose="02020603050405020304" pitchFamily="18" charset="0"/>
              </a:rPr>
              <a:t> = "Pierre";</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comptePierre.solde</a:t>
            </a:r>
            <a:r>
              <a:rPr lang="fr-FR" sz="2000" dirty="0">
                <a:latin typeface="Times New Roman" panose="02020603050405020304" pitchFamily="18" charset="0"/>
                <a:cs typeface="Times New Roman" panose="02020603050405020304" pitchFamily="18" charset="0"/>
              </a:rPr>
              <a:t> = 0;</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comptePierre.devise</a:t>
            </a:r>
            <a:r>
              <a:rPr lang="fr-FR" sz="2000" dirty="0">
                <a:latin typeface="Times New Roman" panose="02020603050405020304" pitchFamily="18" charset="0"/>
                <a:cs typeface="Times New Roman" panose="02020603050405020304" pitchFamily="18" charset="0"/>
              </a:rPr>
              <a:t> = "euros";</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 appels des méthodes</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comptePierre.Crediter</a:t>
            </a:r>
            <a:r>
              <a:rPr lang="fr-FR" sz="2000" dirty="0">
                <a:latin typeface="Times New Roman" panose="02020603050405020304" pitchFamily="18" charset="0"/>
                <a:cs typeface="Times New Roman" panose="02020603050405020304" pitchFamily="18" charset="0"/>
              </a:rPr>
              <a:t>(300);</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comptePierre.Debiter</a:t>
            </a:r>
            <a:r>
              <a:rPr lang="fr-FR" sz="2000" dirty="0">
                <a:latin typeface="Times New Roman" panose="02020603050405020304" pitchFamily="18" charset="0"/>
                <a:cs typeface="Times New Roman" panose="02020603050405020304" pitchFamily="18" charset="0"/>
              </a:rPr>
              <a:t>(500);</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string description = "Le solde du compte de " + </a:t>
            </a:r>
            <a:r>
              <a:rPr lang="fr-FR" sz="2000" dirty="0" err="1">
                <a:latin typeface="Times New Roman" panose="02020603050405020304" pitchFamily="18" charset="0"/>
                <a:cs typeface="Times New Roman" panose="02020603050405020304" pitchFamily="18" charset="0"/>
              </a:rPr>
              <a:t>comptePierre.titulaire</a:t>
            </a:r>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 est de " + </a:t>
            </a:r>
            <a:r>
              <a:rPr lang="fr-FR" sz="2000" dirty="0" err="1">
                <a:latin typeface="Times New Roman" panose="02020603050405020304" pitchFamily="18" charset="0"/>
                <a:cs typeface="Times New Roman" panose="02020603050405020304" pitchFamily="18" charset="0"/>
              </a:rPr>
              <a:t>comptePierre.solde</a:t>
            </a:r>
            <a:r>
              <a:rPr lang="fr-FR" sz="2000" dirty="0">
                <a:latin typeface="Times New Roman" panose="02020603050405020304" pitchFamily="18" charset="0"/>
                <a:cs typeface="Times New Roman" panose="02020603050405020304" pitchFamily="18" charset="0"/>
              </a:rPr>
              <a:t> + " " + </a:t>
            </a:r>
            <a:r>
              <a:rPr lang="fr-FR" sz="2000" dirty="0" err="1">
                <a:latin typeface="Times New Roman" panose="02020603050405020304" pitchFamily="18" charset="0"/>
                <a:cs typeface="Times New Roman" panose="02020603050405020304" pitchFamily="18" charset="0"/>
              </a:rPr>
              <a:t>comptePierre.devise</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(description);</a:t>
            </a:r>
          </a:p>
          <a:p>
            <a:pPr lvl="2" algn="just"/>
            <a:r>
              <a:rPr lang="fr-FR" sz="20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517627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Déclaration et </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instanciation d’objets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3785652"/>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On remarque que la création de l'objet </a:t>
            </a:r>
            <a:r>
              <a:rPr lang="fr-FR" sz="2000" dirty="0" err="1">
                <a:latin typeface="Times New Roman" panose="02020603050405020304" pitchFamily="18" charset="0"/>
                <a:cs typeface="Times New Roman" panose="02020603050405020304" pitchFamily="18" charset="0"/>
              </a:rPr>
              <a:t>comptePierre</a:t>
            </a:r>
            <a:r>
              <a:rPr lang="fr-FR" sz="2000" dirty="0">
                <a:latin typeface="Times New Roman" panose="02020603050405020304" pitchFamily="18" charset="0"/>
                <a:cs typeface="Times New Roman" panose="02020603050405020304" pitchFamily="18" charset="0"/>
              </a:rPr>
              <a:t> se fait en deux étapes :</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Déclaration </a:t>
            </a:r>
            <a:r>
              <a:rPr lang="fr-FR" sz="2000" dirty="0">
                <a:latin typeface="Times New Roman" panose="02020603050405020304" pitchFamily="18" charset="0"/>
                <a:cs typeface="Times New Roman" panose="02020603050405020304" pitchFamily="18" charset="0"/>
              </a:rPr>
              <a:t>de l'objet ;</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Instanciation </a:t>
            </a:r>
            <a:r>
              <a:rPr lang="fr-FR" sz="2000" dirty="0">
                <a:latin typeface="Times New Roman" panose="02020603050405020304" pitchFamily="18" charset="0"/>
                <a:cs typeface="Times New Roman" panose="02020603050405020304" pitchFamily="18" charset="0"/>
              </a:rPr>
              <a:t>de l'objet </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a:t>
            </a:r>
            <a:r>
              <a:rPr lang="fr-FR" sz="2000" dirty="0">
                <a:latin typeface="Times New Roman" panose="02020603050405020304" pitchFamily="18" charset="0"/>
                <a:cs typeface="Times New Roman" panose="02020603050405020304" pitchFamily="18" charset="0"/>
              </a:rPr>
              <a:t>;          // déclaration d'un nouvel objet</a:t>
            </a:r>
          </a:p>
          <a:p>
            <a:pPr algn="just"/>
            <a:r>
              <a:rPr lang="fr-FR" sz="2000" dirty="0" err="1">
                <a:latin typeface="Times New Roman" panose="02020603050405020304" pitchFamily="18" charset="0"/>
                <a:cs typeface="Times New Roman" panose="02020603050405020304" pitchFamily="18" charset="0"/>
              </a:rPr>
              <a:t>comptePierre</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 instanciation de cet objet</a:t>
            </a:r>
          </a:p>
          <a:p>
            <a:pPr algn="just"/>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La </a:t>
            </a:r>
            <a:r>
              <a:rPr lang="fr-FR" sz="2000" b="1" dirty="0">
                <a:latin typeface="Times New Roman" panose="02020603050405020304" pitchFamily="18" charset="0"/>
                <a:cs typeface="Times New Roman" panose="02020603050405020304" pitchFamily="18" charset="0"/>
              </a:rPr>
              <a:t>déclaration</a:t>
            </a:r>
            <a:r>
              <a:rPr lang="fr-FR" sz="2000" dirty="0">
                <a:latin typeface="Times New Roman" panose="02020603050405020304" pitchFamily="18" charset="0"/>
                <a:cs typeface="Times New Roman" panose="02020603050405020304" pitchFamily="18" charset="0"/>
              </a:rPr>
              <a:t> permet de créer une nouvelle variable, appelée </a:t>
            </a:r>
            <a:r>
              <a:rPr lang="fr-FR" sz="2000" dirty="0" err="1">
                <a:latin typeface="Times New Roman" panose="02020603050405020304" pitchFamily="18" charset="0"/>
                <a:cs typeface="Times New Roman" panose="02020603050405020304" pitchFamily="18" charset="0"/>
              </a:rPr>
              <a:t>comptePierre</a:t>
            </a:r>
            <a:r>
              <a:rPr lang="fr-FR" sz="2000" dirty="0">
                <a:latin typeface="Times New Roman" panose="02020603050405020304" pitchFamily="18" charset="0"/>
                <a:cs typeface="Times New Roman" panose="02020603050405020304" pitchFamily="18" charset="0"/>
              </a:rPr>
              <a:t> dans l'exemple ci-dessus. À ce stade, aucune réservation de mémoire n'a eu lieu pour cet objet. Il est donc inutilisable.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 type de la variable </a:t>
            </a:r>
            <a:r>
              <a:rPr lang="fr-FR" sz="2000" dirty="0" err="1">
                <a:latin typeface="Times New Roman" panose="02020603050405020304" pitchFamily="18" charset="0"/>
                <a:cs typeface="Times New Roman" panose="02020603050405020304" pitchFamily="18" charset="0"/>
              </a:rPr>
              <a:t>comptePierre</a:t>
            </a:r>
            <a:r>
              <a:rPr lang="fr-FR" sz="2000" dirty="0">
                <a:latin typeface="Times New Roman" panose="02020603050405020304" pitchFamily="18" charset="0"/>
                <a:cs typeface="Times New Roman" panose="02020603050405020304" pitchFamily="18" charset="0"/>
              </a:rPr>
              <a:t> est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Le type d'un objet est sa classe</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91241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Déclaration et instanciation d’objets</a:t>
            </a:r>
          </a:p>
        </p:txBody>
      </p:sp>
      <p:sp>
        <p:nvSpPr>
          <p:cNvPr id="8" name="ZoneTexte 7"/>
          <p:cNvSpPr txBox="1"/>
          <p:nvPr/>
        </p:nvSpPr>
        <p:spPr>
          <a:xfrm>
            <a:off x="480163" y="911772"/>
            <a:ext cx="11160000" cy="4708981"/>
          </a:xfrm>
          <a:prstGeom prst="rect">
            <a:avLst/>
          </a:prstGeom>
          <a:noFill/>
        </p:spPr>
        <p:txBody>
          <a:bodyPr wrap="square" rtlCol="0">
            <a:spAutoFit/>
          </a:bodyPr>
          <a:lstStyle/>
          <a:p>
            <a:pPr algn="just"/>
            <a:r>
              <a:rPr lang="fr-FR" sz="2000" b="1" dirty="0" smtClean="0">
                <a:latin typeface="Times New Roman" panose="02020603050405020304" pitchFamily="18" charset="0"/>
                <a:cs typeface="Times New Roman" panose="02020603050405020304" pitchFamily="18" charset="0"/>
              </a:rPr>
              <a:t>L'instanciation</a:t>
            </a:r>
            <a:r>
              <a:rPr lang="fr-FR" sz="20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utilise l'opérateur </a:t>
            </a:r>
            <a:r>
              <a:rPr lang="fr-FR" sz="2000" b="1" dirty="0">
                <a:latin typeface="Times New Roman" panose="02020603050405020304" pitchFamily="18" charset="0"/>
                <a:cs typeface="Times New Roman" panose="02020603050405020304" pitchFamily="18" charset="0"/>
              </a:rPr>
              <a:t>new</a:t>
            </a:r>
            <a:r>
              <a:rPr lang="fr-FR" sz="2000" dirty="0">
                <a:latin typeface="Times New Roman" panose="02020603050405020304" pitchFamily="18" charset="0"/>
                <a:cs typeface="Times New Roman" panose="02020603050405020304" pitchFamily="18" charset="0"/>
              </a:rPr>
              <a:t>, qui permet de réserver une zone mémoire spécifique pour l'objet. On dit que l'objet est instancié par l'opérateur </a:t>
            </a:r>
            <a:r>
              <a:rPr lang="fr-FR" sz="2000" b="1" dirty="0">
                <a:latin typeface="Times New Roman" panose="02020603050405020304" pitchFamily="18" charset="0"/>
                <a:cs typeface="Times New Roman" panose="02020603050405020304" pitchFamily="18" charset="0"/>
              </a:rPr>
              <a:t>new</a:t>
            </a:r>
            <a:r>
              <a:rPr lang="fr-FR" sz="2000" dirty="0">
                <a:latin typeface="Times New Roman" panose="02020603050405020304" pitchFamily="18" charset="0"/>
                <a:cs typeface="Times New Roman" panose="02020603050405020304" pitchFamily="18" charset="0"/>
              </a:rPr>
              <a:t>. Sans cette étape indispensable, l'objet déclaré ne peut pas être utilisé.</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Définition</a:t>
            </a:r>
            <a:r>
              <a:rPr lang="fr-FR" sz="2000" dirty="0" smtClean="0">
                <a:latin typeface="Times New Roman" panose="02020603050405020304" pitchFamily="18" charset="0"/>
                <a:cs typeface="Times New Roman" panose="02020603050405020304" pitchFamily="18" charset="0"/>
              </a:rPr>
              <a:t> : </a:t>
            </a:r>
            <a:r>
              <a:rPr lang="fr-FR" sz="2000" dirty="0">
                <a:latin typeface="Times New Roman" panose="02020603050405020304" pitchFamily="18" charset="0"/>
                <a:cs typeface="Times New Roman" panose="02020603050405020304" pitchFamily="18" charset="0"/>
              </a:rPr>
              <a:t>l'instanciation est l'opération qui consiste à créer un nouvel objet à partir d'une classe, au moyen de l'opérateur new.</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Il est courant de rassembler sur une même ligne déclaration et instanciation d'un objet</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 déclaration et instanciation d'un nouvel objet</a:t>
            </a:r>
          </a:p>
          <a:p>
            <a:pPr algn="just"/>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Attention</a:t>
            </a:r>
            <a:r>
              <a:rPr lang="fr-FR" sz="2000" dirty="0" smtClean="0">
                <a:latin typeface="Times New Roman" panose="02020603050405020304" pitchFamily="18" charset="0"/>
                <a:cs typeface="Times New Roman" panose="02020603050405020304" pitchFamily="18" charset="0"/>
              </a:rPr>
              <a:t> : </a:t>
            </a:r>
            <a:r>
              <a:rPr lang="fr-FR" sz="2000" dirty="0">
                <a:latin typeface="Times New Roman" panose="02020603050405020304" pitchFamily="18" charset="0"/>
                <a:cs typeface="Times New Roman" panose="02020603050405020304" pitchFamily="18" charset="0"/>
              </a:rPr>
              <a:t>ne pas confondre instanciation et initialisation :</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instancier</a:t>
            </a:r>
            <a:r>
              <a:rPr lang="fr-FR" sz="2000" dirty="0">
                <a:latin typeface="Times New Roman" panose="02020603050405020304" pitchFamily="18" charset="0"/>
                <a:cs typeface="Times New Roman" panose="02020603050405020304" pitchFamily="18" charset="0"/>
              </a:rPr>
              <a:t>, c'est créer un nouvel objet (opérateur new) ;</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initialiser</a:t>
            </a:r>
            <a:r>
              <a:rPr lang="fr-FR" sz="2000" dirty="0">
                <a:latin typeface="Times New Roman" panose="02020603050405020304" pitchFamily="18" charset="0"/>
                <a:cs typeface="Times New Roman" panose="02020603050405020304" pitchFamily="18" charset="0"/>
              </a:rPr>
              <a:t>, c'est donner une valeur initiale à quelque chose (opérateur =).</a:t>
            </a:r>
          </a:p>
        </p:txBody>
      </p:sp>
    </p:spTree>
    <p:extLst>
      <p:ext uri="{BB962C8B-B14F-4D97-AF65-F5344CB8AC3E}">
        <p14:creationId xmlns:p14="http://schemas.microsoft.com/office/powerpoint/2010/main" val="31567070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Ajout d'une méthode</a:t>
            </a:r>
          </a:p>
        </p:txBody>
      </p:sp>
      <p:sp>
        <p:nvSpPr>
          <p:cNvPr id="8" name="ZoneTexte 7"/>
          <p:cNvSpPr txBox="1"/>
          <p:nvPr/>
        </p:nvSpPr>
        <p:spPr>
          <a:xfrm>
            <a:off x="480163" y="911772"/>
            <a:ext cx="11160000" cy="5016758"/>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Comme il est fastidieux de construire la description d'un compte bancaire à chaque fois que l'on en a besoin, on voudrait ajouter une opération de description du compte. Cette action est réalisée par une nouvelle méthode nommée </a:t>
            </a:r>
            <a:r>
              <a:rPr lang="fr-FR" sz="2000" dirty="0" err="1">
                <a:latin typeface="Times New Roman" panose="02020603050405020304" pitchFamily="18" charset="0"/>
                <a:cs typeface="Times New Roman" panose="02020603050405020304" pitchFamily="18" charset="0"/>
              </a:rPr>
              <a:t>Decrire</a:t>
            </a:r>
            <a:r>
              <a:rPr lang="fr-FR" sz="2000" dirty="0">
                <a:latin typeface="Times New Roman" panose="02020603050405020304" pitchFamily="18" charset="0"/>
                <a:cs typeface="Times New Roman" panose="02020603050405020304" pitchFamily="18" charset="0"/>
              </a:rPr>
              <a:t> ajoutée à la classe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La description est renvoyée sous la forme d'une chaîne de caractères (string</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public class </a:t>
            </a:r>
            <a:r>
              <a:rPr lang="fr-FR" sz="2000" dirty="0" err="1">
                <a:latin typeface="Times New Roman" panose="02020603050405020304" pitchFamily="18" charset="0"/>
                <a:cs typeface="Times New Roman" panose="02020603050405020304" pitchFamily="18" charset="0"/>
              </a:rPr>
              <a:t>CompteBancaire</a:t>
            </a:r>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 ...</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 Renvoie la description d'un compte</a:t>
            </a:r>
          </a:p>
          <a:p>
            <a:pPr lvl="2" algn="just"/>
            <a:r>
              <a:rPr lang="fr-FR" sz="2000" dirty="0">
                <a:latin typeface="Times New Roman" panose="02020603050405020304" pitchFamily="18" charset="0"/>
                <a:cs typeface="Times New Roman" panose="02020603050405020304" pitchFamily="18" charset="0"/>
              </a:rPr>
              <a:t>    public string </a:t>
            </a:r>
            <a:r>
              <a:rPr lang="fr-FR" sz="2000" dirty="0" err="1">
                <a:latin typeface="Times New Roman" panose="02020603050405020304" pitchFamily="18" charset="0"/>
                <a:cs typeface="Times New Roman" panose="02020603050405020304" pitchFamily="18" charset="0"/>
              </a:rPr>
              <a:t>Decrire</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string description = "Le solde du compte de " +  titulaire + " est de " + solde + " " + devise;</a:t>
            </a:r>
          </a:p>
          <a:p>
            <a:pPr lvl="2" algn="just"/>
            <a:r>
              <a:rPr lang="fr-FR" sz="2000" dirty="0">
                <a:latin typeface="Times New Roman" panose="02020603050405020304" pitchFamily="18" charset="0"/>
                <a:cs typeface="Times New Roman" panose="02020603050405020304" pitchFamily="18" charset="0"/>
              </a:rPr>
              <a:t>        return description;</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717720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7</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Instanciation de plusieurs objets</a:t>
            </a:r>
          </a:p>
        </p:txBody>
      </p:sp>
      <p:sp>
        <p:nvSpPr>
          <p:cNvPr id="8" name="ZoneTexte 7"/>
          <p:cNvSpPr txBox="1"/>
          <p:nvPr/>
        </p:nvSpPr>
        <p:spPr>
          <a:xfrm>
            <a:off x="480163" y="911772"/>
            <a:ext cx="11160000" cy="7171194"/>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Voici un autre programme qui gère les comptes de Pierre et de Paul. Il permet à l'utilisateur de saisir un montant qui sera débité à Pierre et crédité à Paul</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lvl="2" algn="just"/>
            <a:r>
              <a:rPr lang="fr-FR" sz="2000" dirty="0" err="1">
                <a:latin typeface="Times New Roman" panose="02020603050405020304" pitchFamily="18" charset="0"/>
                <a:cs typeface="Times New Roman" panose="02020603050405020304" pitchFamily="18" charset="0"/>
              </a:rPr>
              <a:t>static</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Main(string[] </a:t>
            </a:r>
            <a:r>
              <a:rPr lang="fr-FR" sz="2000" dirty="0" err="1">
                <a:latin typeface="Times New Roman" panose="02020603050405020304" pitchFamily="18" charset="0"/>
                <a:cs typeface="Times New Roman" panose="02020603050405020304" pitchFamily="18" charset="0"/>
              </a:rPr>
              <a:t>args</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comptePierre.titulaire</a:t>
            </a:r>
            <a:r>
              <a:rPr lang="fr-FR" sz="2000" dirty="0">
                <a:latin typeface="Times New Roman" panose="02020603050405020304" pitchFamily="18" charset="0"/>
                <a:cs typeface="Times New Roman" panose="02020603050405020304" pitchFamily="18" charset="0"/>
              </a:rPr>
              <a:t> = "Pierre";</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comptePierre.solde</a:t>
            </a:r>
            <a:r>
              <a:rPr lang="fr-FR" sz="2000" dirty="0">
                <a:latin typeface="Times New Roman" panose="02020603050405020304" pitchFamily="18" charset="0"/>
                <a:cs typeface="Times New Roman" panose="02020603050405020304" pitchFamily="18" charset="0"/>
              </a:rPr>
              <a:t> = 500;</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comptePierre.devise</a:t>
            </a:r>
            <a:r>
              <a:rPr lang="fr-FR" sz="2000" dirty="0">
                <a:latin typeface="Times New Roman" panose="02020603050405020304" pitchFamily="18" charset="0"/>
                <a:cs typeface="Times New Roman" panose="02020603050405020304" pitchFamily="18" charset="0"/>
              </a:rPr>
              <a:t> = "euros";</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comptePaul</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comptePaul.titulaire</a:t>
            </a:r>
            <a:r>
              <a:rPr lang="fr-FR" sz="2000" dirty="0">
                <a:latin typeface="Times New Roman" panose="02020603050405020304" pitchFamily="18" charset="0"/>
                <a:cs typeface="Times New Roman" panose="02020603050405020304" pitchFamily="18" charset="0"/>
              </a:rPr>
              <a:t> = "Paul";</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comptePaul.solde</a:t>
            </a:r>
            <a:r>
              <a:rPr lang="fr-FR" sz="2000" dirty="0">
                <a:latin typeface="Times New Roman" panose="02020603050405020304" pitchFamily="18" charset="0"/>
                <a:cs typeface="Times New Roman" panose="02020603050405020304" pitchFamily="18" charset="0"/>
              </a:rPr>
              <a:t> = 150;</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comptePaul.devise</a:t>
            </a:r>
            <a:r>
              <a:rPr lang="fr-FR" sz="2000" dirty="0">
                <a:latin typeface="Times New Roman" panose="02020603050405020304" pitchFamily="18" charset="0"/>
                <a:cs typeface="Times New Roman" panose="02020603050405020304" pitchFamily="18" charset="0"/>
              </a:rPr>
              <a:t> = "euros";</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a:t>
            </a:r>
            <a:r>
              <a:rPr lang="fr-FR" sz="2000" dirty="0">
                <a:latin typeface="Times New Roman" panose="02020603050405020304" pitchFamily="18" charset="0"/>
                <a:cs typeface="Times New Roman" panose="02020603050405020304" pitchFamily="18" charset="0"/>
              </a:rPr>
              <a:t>("Entrez le montant du transfert : ");</a:t>
            </a:r>
          </a:p>
          <a:p>
            <a:pPr lvl="2" algn="just"/>
            <a:r>
              <a:rPr lang="fr-FR" sz="2000" dirty="0">
                <a:latin typeface="Times New Roman" panose="02020603050405020304" pitchFamily="18" charset="0"/>
                <a:cs typeface="Times New Roman" panose="02020603050405020304" pitchFamily="18" charset="0"/>
              </a:rPr>
              <a:t>    double </a:t>
            </a:r>
            <a:r>
              <a:rPr lang="fr-FR" sz="2000" dirty="0" err="1">
                <a:latin typeface="Times New Roman" panose="02020603050405020304" pitchFamily="18" charset="0"/>
                <a:cs typeface="Times New Roman" panose="02020603050405020304" pitchFamily="18" charset="0"/>
              </a:rPr>
              <a:t>montantTransfert</a:t>
            </a:r>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Convert.ToDouble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Console.ReadLine</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comptePierre.Debiter</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montantTransfert</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comptePaul.Crediter</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montantTransfert</a:t>
            </a:r>
            <a:r>
              <a:rPr lang="fr-FR" sz="2000" dirty="0">
                <a:latin typeface="Times New Roman" panose="02020603050405020304" pitchFamily="18" charset="0"/>
                <a:cs typeface="Times New Roman" panose="02020603050405020304" pitchFamily="18" charset="0"/>
              </a:rPr>
              <a:t>);</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comptePierre.Decrire</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comptePaul.Decrire</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387047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Constructeur</a:t>
            </a:r>
          </a:p>
        </p:txBody>
      </p:sp>
      <p:sp>
        <p:nvSpPr>
          <p:cNvPr id="8" name="ZoneTexte 7"/>
          <p:cNvSpPr txBox="1"/>
          <p:nvPr/>
        </p:nvSpPr>
        <p:spPr>
          <a:xfrm>
            <a:off x="480163" y="911772"/>
            <a:ext cx="11160000" cy="6863417"/>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Reprenons l'exemple de la classe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précédente.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Tout compte a nécessairement un titulaire, un solde initial et une devise lors de sa création. On aimerait pouvoir instancier un objet de la classe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en définissant directement les valeurs de ses attributs. Pour cela, nous allons ajouter à notre classe une méthode particulière : le </a:t>
            </a:r>
            <a:r>
              <a:rPr lang="fr-FR" sz="2000" b="1" dirty="0">
                <a:latin typeface="Times New Roman" panose="02020603050405020304" pitchFamily="18" charset="0"/>
                <a:cs typeface="Times New Roman" panose="02020603050405020304" pitchFamily="18" charset="0"/>
              </a:rPr>
              <a:t>constructeur</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lvl="1" algn="just"/>
            <a:r>
              <a:rPr lang="fr-FR" sz="2000" dirty="0">
                <a:latin typeface="Times New Roman" panose="02020603050405020304" pitchFamily="18" charset="0"/>
                <a:cs typeface="Times New Roman" panose="02020603050405020304" pitchFamily="18" charset="0"/>
              </a:rPr>
              <a:t>public class </a:t>
            </a:r>
            <a:r>
              <a:rPr lang="fr-FR" sz="2000" dirty="0" err="1">
                <a:latin typeface="Times New Roman" panose="02020603050405020304" pitchFamily="18" charset="0"/>
                <a:cs typeface="Times New Roman" panose="02020603050405020304" pitchFamily="18" charset="0"/>
              </a:rPr>
              <a:t>CompteBancaire</a:t>
            </a:r>
            <a:endParaRPr lang="fr-FR" sz="2000" dirty="0">
              <a:latin typeface="Times New Roman" panose="02020603050405020304" pitchFamily="18" charset="0"/>
              <a:cs typeface="Times New Roman" panose="02020603050405020304" pitchFamily="18" charset="0"/>
            </a:endParaRPr>
          </a:p>
          <a:p>
            <a:pPr lvl="1" algn="just"/>
            <a:r>
              <a:rPr lang="fr-FR" sz="2000" dirty="0">
                <a:latin typeface="Times New Roman" panose="02020603050405020304" pitchFamily="18" charset="0"/>
                <a:cs typeface="Times New Roman" panose="02020603050405020304" pitchFamily="18" charset="0"/>
              </a:rPr>
              <a:t>{</a:t>
            </a:r>
          </a:p>
          <a:p>
            <a:pPr lvl="1" algn="just"/>
            <a:r>
              <a:rPr lang="fr-FR" sz="2000" dirty="0">
                <a:latin typeface="Times New Roman" panose="02020603050405020304" pitchFamily="18" charset="0"/>
                <a:cs typeface="Times New Roman" panose="02020603050405020304" pitchFamily="18" charset="0"/>
              </a:rPr>
              <a:t>    public string titulaire;</a:t>
            </a:r>
          </a:p>
          <a:p>
            <a:pPr lvl="1" algn="just"/>
            <a:r>
              <a:rPr lang="fr-FR" sz="2000" dirty="0">
                <a:latin typeface="Times New Roman" panose="02020603050405020304" pitchFamily="18" charset="0"/>
                <a:cs typeface="Times New Roman" panose="02020603050405020304" pitchFamily="18" charset="0"/>
              </a:rPr>
              <a:t>    public double solde;</a:t>
            </a:r>
          </a:p>
          <a:p>
            <a:pPr lvl="1" algn="just"/>
            <a:r>
              <a:rPr lang="fr-FR" sz="2000" dirty="0">
                <a:latin typeface="Times New Roman" panose="02020603050405020304" pitchFamily="18" charset="0"/>
                <a:cs typeface="Times New Roman" panose="02020603050405020304" pitchFamily="18" charset="0"/>
              </a:rPr>
              <a:t>    public string devise;</a:t>
            </a:r>
          </a:p>
          <a:p>
            <a:pPr lvl="1" algn="just"/>
            <a:endParaRPr lang="fr-FR" sz="2000" dirty="0">
              <a:latin typeface="Times New Roman" panose="02020603050405020304" pitchFamily="18" charset="0"/>
              <a:cs typeface="Times New Roman" panose="02020603050405020304" pitchFamily="18" charset="0"/>
            </a:endParaRPr>
          </a:p>
          <a:p>
            <a:pPr lvl="1" algn="just"/>
            <a:r>
              <a:rPr lang="fr-FR" sz="2000" dirty="0">
                <a:latin typeface="Times New Roman" panose="02020603050405020304" pitchFamily="18" charset="0"/>
                <a:cs typeface="Times New Roman" panose="02020603050405020304" pitchFamily="18" charset="0"/>
              </a:rPr>
              <a:t>    // Constructeur</a:t>
            </a:r>
          </a:p>
          <a:p>
            <a:pPr lvl="1"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(string </a:t>
            </a:r>
            <a:r>
              <a:rPr lang="fr-FR" sz="2000" dirty="0" err="1">
                <a:latin typeface="Times New Roman" panose="02020603050405020304" pitchFamily="18" charset="0"/>
                <a:cs typeface="Times New Roman" panose="02020603050405020304" pitchFamily="18" charset="0"/>
              </a:rPr>
              <a:t>leTitulaire</a:t>
            </a:r>
            <a:r>
              <a:rPr lang="fr-FR" sz="2000" dirty="0">
                <a:latin typeface="Times New Roman" panose="02020603050405020304" pitchFamily="18" charset="0"/>
                <a:cs typeface="Times New Roman" panose="02020603050405020304" pitchFamily="18" charset="0"/>
              </a:rPr>
              <a:t>, double </a:t>
            </a:r>
            <a:r>
              <a:rPr lang="fr-FR" sz="2000" dirty="0" err="1">
                <a:latin typeface="Times New Roman" panose="02020603050405020304" pitchFamily="18" charset="0"/>
                <a:cs typeface="Times New Roman" panose="02020603050405020304" pitchFamily="18" charset="0"/>
              </a:rPr>
              <a:t>soldeInitial</a:t>
            </a:r>
            <a:r>
              <a:rPr lang="fr-FR" sz="2000" dirty="0">
                <a:latin typeface="Times New Roman" panose="02020603050405020304" pitchFamily="18" charset="0"/>
                <a:cs typeface="Times New Roman" panose="02020603050405020304" pitchFamily="18" charset="0"/>
              </a:rPr>
              <a:t>, string </a:t>
            </a:r>
            <a:r>
              <a:rPr lang="fr-FR" sz="2000" dirty="0" err="1">
                <a:latin typeface="Times New Roman" panose="02020603050405020304" pitchFamily="18" charset="0"/>
                <a:cs typeface="Times New Roman" panose="02020603050405020304" pitchFamily="18" charset="0"/>
              </a:rPr>
              <a:t>laDevise</a:t>
            </a:r>
            <a:r>
              <a:rPr lang="fr-FR" sz="2000" dirty="0">
                <a:latin typeface="Times New Roman" panose="02020603050405020304" pitchFamily="18" charset="0"/>
                <a:cs typeface="Times New Roman" panose="02020603050405020304" pitchFamily="18" charset="0"/>
              </a:rPr>
              <a:t>)</a:t>
            </a:r>
          </a:p>
          <a:p>
            <a:pPr lvl="1" algn="just"/>
            <a:r>
              <a:rPr lang="fr-FR" sz="2000" dirty="0">
                <a:latin typeface="Times New Roman" panose="02020603050405020304" pitchFamily="18" charset="0"/>
                <a:cs typeface="Times New Roman" panose="02020603050405020304" pitchFamily="18" charset="0"/>
              </a:rPr>
              <a:t>    {</a:t>
            </a:r>
          </a:p>
          <a:p>
            <a:pPr lvl="1" algn="just"/>
            <a:r>
              <a:rPr lang="fr-FR" sz="2000" dirty="0">
                <a:latin typeface="Times New Roman" panose="02020603050405020304" pitchFamily="18" charset="0"/>
                <a:cs typeface="Times New Roman" panose="02020603050405020304" pitchFamily="18" charset="0"/>
              </a:rPr>
              <a:t>        titulaire = </a:t>
            </a:r>
            <a:r>
              <a:rPr lang="fr-FR" sz="2000" dirty="0" err="1">
                <a:latin typeface="Times New Roman" panose="02020603050405020304" pitchFamily="18" charset="0"/>
                <a:cs typeface="Times New Roman" panose="02020603050405020304" pitchFamily="18" charset="0"/>
              </a:rPr>
              <a:t>leTitulaire</a:t>
            </a:r>
            <a:r>
              <a:rPr lang="fr-FR" sz="2000" dirty="0">
                <a:latin typeface="Times New Roman" panose="02020603050405020304" pitchFamily="18" charset="0"/>
                <a:cs typeface="Times New Roman" panose="02020603050405020304" pitchFamily="18" charset="0"/>
              </a:rPr>
              <a:t>;</a:t>
            </a:r>
          </a:p>
          <a:p>
            <a:pPr lvl="1" algn="just"/>
            <a:r>
              <a:rPr lang="fr-FR" sz="2000" dirty="0">
                <a:latin typeface="Times New Roman" panose="02020603050405020304" pitchFamily="18" charset="0"/>
                <a:cs typeface="Times New Roman" panose="02020603050405020304" pitchFamily="18" charset="0"/>
              </a:rPr>
              <a:t>        solde = </a:t>
            </a:r>
            <a:r>
              <a:rPr lang="fr-FR" sz="2000" dirty="0" err="1">
                <a:latin typeface="Times New Roman" panose="02020603050405020304" pitchFamily="18" charset="0"/>
                <a:cs typeface="Times New Roman" panose="02020603050405020304" pitchFamily="18" charset="0"/>
              </a:rPr>
              <a:t>soldeInitial</a:t>
            </a:r>
            <a:r>
              <a:rPr lang="fr-FR" sz="2000" dirty="0">
                <a:latin typeface="Times New Roman" panose="02020603050405020304" pitchFamily="18" charset="0"/>
                <a:cs typeface="Times New Roman" panose="02020603050405020304" pitchFamily="18" charset="0"/>
              </a:rPr>
              <a:t>;</a:t>
            </a:r>
          </a:p>
          <a:p>
            <a:pPr lvl="1" algn="just"/>
            <a:r>
              <a:rPr lang="fr-FR" sz="2000" dirty="0">
                <a:latin typeface="Times New Roman" panose="02020603050405020304" pitchFamily="18" charset="0"/>
                <a:cs typeface="Times New Roman" panose="02020603050405020304" pitchFamily="18" charset="0"/>
              </a:rPr>
              <a:t>        devise = </a:t>
            </a:r>
            <a:r>
              <a:rPr lang="fr-FR" sz="2000" dirty="0" err="1">
                <a:latin typeface="Times New Roman" panose="02020603050405020304" pitchFamily="18" charset="0"/>
                <a:cs typeface="Times New Roman" panose="02020603050405020304" pitchFamily="18" charset="0"/>
              </a:rPr>
              <a:t>laDevise</a:t>
            </a:r>
            <a:r>
              <a:rPr lang="fr-FR" sz="2000" dirty="0">
                <a:latin typeface="Times New Roman" panose="02020603050405020304" pitchFamily="18" charset="0"/>
                <a:cs typeface="Times New Roman" panose="02020603050405020304" pitchFamily="18" charset="0"/>
              </a:rPr>
              <a:t>;</a:t>
            </a:r>
          </a:p>
          <a:p>
            <a:pPr lvl="1" algn="just"/>
            <a:r>
              <a:rPr lang="fr-FR" sz="2000" dirty="0">
                <a:latin typeface="Times New Roman" panose="02020603050405020304" pitchFamily="18" charset="0"/>
                <a:cs typeface="Times New Roman" panose="02020603050405020304" pitchFamily="18" charset="0"/>
              </a:rPr>
              <a:t>    }</a:t>
            </a:r>
          </a:p>
          <a:p>
            <a:pPr lvl="1" algn="just"/>
            <a:endParaRPr lang="fr-FR" sz="2000" dirty="0">
              <a:latin typeface="Times New Roman" panose="02020603050405020304" pitchFamily="18" charset="0"/>
              <a:cs typeface="Times New Roman" panose="02020603050405020304" pitchFamily="18" charset="0"/>
            </a:endParaRPr>
          </a:p>
          <a:p>
            <a:pPr lvl="1" algn="just"/>
            <a:r>
              <a:rPr lang="fr-FR" sz="2000" dirty="0">
                <a:latin typeface="Times New Roman" panose="02020603050405020304" pitchFamily="18" charset="0"/>
                <a:cs typeface="Times New Roman" panose="02020603050405020304" pitchFamily="18" charset="0"/>
              </a:rPr>
              <a:t>    // ...</a:t>
            </a:r>
          </a:p>
          <a:p>
            <a:pPr lvl="1" algn="just"/>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57847" y="2723480"/>
            <a:ext cx="2182316" cy="3240000"/>
          </a:xfrm>
          <a:prstGeom prst="rect">
            <a:avLst/>
          </a:prstGeom>
        </p:spPr>
      </p:pic>
    </p:spTree>
    <p:extLst>
      <p:ext uri="{BB962C8B-B14F-4D97-AF65-F5344CB8AC3E}">
        <p14:creationId xmlns:p14="http://schemas.microsoft.com/office/powerpoint/2010/main" val="25052010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Constructeur</a:t>
            </a:r>
          </a:p>
        </p:txBody>
      </p:sp>
      <p:sp>
        <p:nvSpPr>
          <p:cNvPr id="8" name="ZoneTexte 7"/>
          <p:cNvSpPr txBox="1"/>
          <p:nvPr/>
        </p:nvSpPr>
        <p:spPr>
          <a:xfrm>
            <a:off x="480163" y="911772"/>
            <a:ext cx="11160000" cy="5016758"/>
          </a:xfrm>
          <a:prstGeom prst="rect">
            <a:avLst/>
          </a:prstGeom>
          <a:noFill/>
        </p:spPr>
        <p:txBody>
          <a:bodyPr wrap="square" rtlCol="0">
            <a:spAutoFit/>
          </a:bodyPr>
          <a:lstStyle/>
          <a:p>
            <a:pPr algn="just"/>
            <a:r>
              <a:rPr lang="fr-FR" sz="2000" b="1" dirty="0" smtClean="0">
                <a:latin typeface="Times New Roman" panose="02020603050405020304" pitchFamily="18" charset="0"/>
                <a:cs typeface="Times New Roman" panose="02020603050405020304" pitchFamily="18" charset="0"/>
              </a:rPr>
              <a:t>Définition</a:t>
            </a:r>
            <a:r>
              <a:rPr lang="fr-FR" sz="2000" dirty="0" smtClean="0">
                <a:latin typeface="Times New Roman" panose="02020603050405020304" pitchFamily="18" charset="0"/>
                <a:cs typeface="Times New Roman" panose="02020603050405020304" pitchFamily="18" charset="0"/>
              </a:rPr>
              <a:t> : </a:t>
            </a:r>
            <a:r>
              <a:rPr lang="fr-FR" sz="2000" dirty="0">
                <a:latin typeface="Times New Roman" panose="02020603050405020304" pitchFamily="18" charset="0"/>
                <a:cs typeface="Times New Roman" panose="02020603050405020304" pitchFamily="18" charset="0"/>
              </a:rPr>
              <a:t>le constructeur est une méthode spécifique dont le rôle est de construire un objet, le plus souvent en initialisant ses attributs.</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Attention</a:t>
            </a:r>
            <a:r>
              <a:rPr lang="fr-FR" sz="2000" dirty="0" smtClean="0">
                <a:latin typeface="Times New Roman" panose="02020603050405020304" pitchFamily="18" charset="0"/>
                <a:cs typeface="Times New Roman" panose="02020603050405020304" pitchFamily="18" charset="0"/>
              </a:rPr>
              <a:t> : </a:t>
            </a:r>
            <a:r>
              <a:rPr lang="fr-FR" sz="2000" dirty="0">
                <a:latin typeface="Times New Roman" panose="02020603050405020304" pitchFamily="18" charset="0"/>
                <a:cs typeface="Times New Roman" panose="02020603050405020304" pitchFamily="18" charset="0"/>
              </a:rPr>
              <a:t>le nom du constructeur doit être identique au nom de la classe et sa définition ne comporte pas le mot-clé </a:t>
            </a:r>
            <a:r>
              <a:rPr lang="fr-FR" sz="2000" b="1"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L'utilisation d'un constructeur se fait au moment de l'instanciation de l'objet (opérateur </a:t>
            </a:r>
            <a:r>
              <a:rPr lang="fr-FR" sz="2000" b="1" dirty="0">
                <a:latin typeface="Times New Roman" panose="02020603050405020304" pitchFamily="18" charset="0"/>
                <a:cs typeface="Times New Roman" panose="02020603050405020304" pitchFamily="18" charset="0"/>
              </a:rPr>
              <a:t>new</a:t>
            </a:r>
            <a:r>
              <a:rPr lang="fr-FR" sz="2000" dirty="0">
                <a:latin typeface="Times New Roman" panose="02020603050405020304" pitchFamily="18" charset="0"/>
                <a:cs typeface="Times New Roman" panose="02020603050405020304" pitchFamily="18" charset="0"/>
              </a:rPr>
              <a:t>), en passant en paramètres les futures valeurs des attributs de l'objet créé</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déclaration et instanciation d'un nouvel objet en utilisant son constructeur</a:t>
            </a:r>
          </a:p>
          <a:p>
            <a:pPr algn="just"/>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("Pierre", 0, "euros");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appels de méthodes</a:t>
            </a:r>
          </a:p>
          <a:p>
            <a:pPr algn="just"/>
            <a:r>
              <a:rPr lang="fr-FR" sz="2000" dirty="0" err="1">
                <a:latin typeface="Times New Roman" panose="02020603050405020304" pitchFamily="18" charset="0"/>
                <a:cs typeface="Times New Roman" panose="02020603050405020304" pitchFamily="18" charset="0"/>
              </a:rPr>
              <a:t>comptePierre.Crediter</a:t>
            </a:r>
            <a:r>
              <a:rPr lang="fr-FR" sz="2000" dirty="0">
                <a:latin typeface="Times New Roman" panose="02020603050405020304" pitchFamily="18" charset="0"/>
                <a:cs typeface="Times New Roman" panose="02020603050405020304" pitchFamily="18" charset="0"/>
              </a:rPr>
              <a:t>(300);</a:t>
            </a:r>
          </a:p>
          <a:p>
            <a:pPr algn="just"/>
            <a:r>
              <a:rPr lang="fr-FR" sz="2000" dirty="0" err="1">
                <a:latin typeface="Times New Roman" panose="02020603050405020304" pitchFamily="18" charset="0"/>
                <a:cs typeface="Times New Roman" panose="02020603050405020304" pitchFamily="18" charset="0"/>
              </a:rPr>
              <a:t>comptePierre.Debiter</a:t>
            </a:r>
            <a:r>
              <a:rPr lang="fr-FR" sz="2000" dirty="0">
                <a:latin typeface="Times New Roman" panose="02020603050405020304" pitchFamily="18" charset="0"/>
                <a:cs typeface="Times New Roman" panose="02020603050405020304" pitchFamily="18" charset="0"/>
              </a:rPr>
              <a:t>(500);</a:t>
            </a:r>
          </a:p>
          <a:p>
            <a:pPr algn="just"/>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comptePierre.Decrire</a:t>
            </a:r>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580905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Constructeur</a:t>
            </a:r>
          </a:p>
        </p:txBody>
      </p:sp>
      <p:sp>
        <p:nvSpPr>
          <p:cNvPr id="8" name="ZoneTexte 7"/>
          <p:cNvSpPr txBox="1"/>
          <p:nvPr/>
        </p:nvSpPr>
        <p:spPr>
          <a:xfrm>
            <a:off x="480163" y="911772"/>
            <a:ext cx="11160000" cy="3477875"/>
          </a:xfrm>
          <a:prstGeom prst="rect">
            <a:avLst/>
          </a:prstGeom>
          <a:noFill/>
        </p:spPr>
        <p:txBody>
          <a:bodyPr wrap="square" rtlCol="0">
            <a:spAutoFit/>
          </a:bodyPr>
          <a:lstStyle/>
          <a:p>
            <a:pPr algn="just"/>
            <a:r>
              <a:rPr lang="fr-FR" sz="2000" b="1" dirty="0">
                <a:solidFill>
                  <a:srgbClr val="C00000"/>
                </a:solidFill>
              </a:rPr>
              <a:t>Constructeur par défaut</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Lorsqu'une classe ne définit aucun constructeur (comme dans l'exemple </a:t>
            </a:r>
            <a:r>
              <a:rPr lang="fr-FR" sz="2000" dirty="0" smtClean="0">
                <a:latin typeface="Times New Roman" panose="02020603050405020304" pitchFamily="18" charset="0"/>
                <a:cs typeface="Times New Roman" panose="02020603050405020304" pitchFamily="18" charset="0"/>
              </a:rPr>
              <a:t>précédent</a:t>
            </a:r>
            <a:r>
              <a:rPr lang="fr-FR" sz="2000" dirty="0">
                <a:latin typeface="Times New Roman" panose="02020603050405020304" pitchFamily="18" charset="0"/>
                <a:cs typeface="Times New Roman" panose="02020603050405020304" pitchFamily="18" charset="0"/>
              </a:rPr>
              <a:t>), un constructeur par défaut sans aucun paramètre est implicitement créé. Il n'a aucun comportement mais son existence permet d'instancier des objets de cette classe.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En revanche, toute définition explicite d'un constructeur dans une classe « désactive » le constructeur par défaut. Dans notre exemple actuel, on ne peut plus instancier un compte bancaire sans lui fournir les trois paramètres que son constructeur attend</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Remarque</a:t>
            </a:r>
            <a:r>
              <a:rPr lang="fr-FR" sz="2000" dirty="0" smtClean="0">
                <a:latin typeface="Times New Roman" panose="02020603050405020304" pitchFamily="18" charset="0"/>
                <a:cs typeface="Times New Roman" panose="02020603050405020304" pitchFamily="18" charset="0"/>
              </a:rPr>
              <a:t> : </a:t>
            </a:r>
            <a:r>
              <a:rPr lang="fr-FR" sz="2000" dirty="0">
                <a:latin typeface="Times New Roman" panose="02020603050405020304" pitchFamily="18" charset="0"/>
                <a:cs typeface="Times New Roman" panose="02020603050405020304" pitchFamily="18" charset="0"/>
              </a:rPr>
              <a:t>une classe peut disposer de plusieurs constructeurs initialisant différents attributs</a:t>
            </a:r>
            <a:r>
              <a:rPr lang="fr-FR" sz="20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1625142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9. Autoréférence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le mot-clé </a:t>
            </a:r>
            <a:r>
              <a:rPr lang="fr-FR" sz="4000" b="1" dirty="0" err="1"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this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5324535"/>
          </a:xfrm>
          <a:prstGeom prst="rect">
            <a:avLst/>
          </a:prstGeom>
          <a:noFill/>
        </p:spPr>
        <p:txBody>
          <a:bodyPr wrap="square" rtlCol="0">
            <a:spAutoFit/>
          </a:bodyPr>
          <a:lstStyle/>
          <a:p>
            <a:pPr algn="just"/>
            <a:r>
              <a:rPr lang="fr-FR" sz="2000" b="1" dirty="0" smtClean="0">
                <a:latin typeface="Times New Roman" panose="02020603050405020304" pitchFamily="18" charset="0"/>
                <a:cs typeface="Times New Roman" panose="02020603050405020304" pitchFamily="18" charset="0"/>
              </a:rPr>
              <a:t>Définition</a:t>
            </a:r>
            <a:r>
              <a:rPr lang="fr-FR" sz="2000" dirty="0" smtClean="0">
                <a:latin typeface="Times New Roman" panose="02020603050405020304" pitchFamily="18" charset="0"/>
                <a:cs typeface="Times New Roman" panose="02020603050405020304" pitchFamily="18" charset="0"/>
              </a:rPr>
              <a:t> : </a:t>
            </a:r>
            <a:r>
              <a:rPr lang="fr-FR" sz="2000" dirty="0">
                <a:latin typeface="Times New Roman" panose="02020603050405020304" pitchFamily="18" charset="0"/>
                <a:cs typeface="Times New Roman" panose="02020603050405020304" pitchFamily="18" charset="0"/>
              </a:rPr>
              <a:t>le mot-clé </a:t>
            </a:r>
            <a:r>
              <a:rPr lang="fr-FR" sz="2000" b="1" dirty="0" err="1">
                <a:latin typeface="Times New Roman" panose="02020603050405020304" pitchFamily="18" charset="0"/>
                <a:cs typeface="Times New Roman" panose="02020603050405020304" pitchFamily="18" charset="0"/>
              </a:rPr>
              <a:t>this</a:t>
            </a:r>
            <a:r>
              <a:rPr lang="fr-FR" sz="2000" dirty="0">
                <a:latin typeface="Times New Roman" panose="02020603050405020304" pitchFamily="18" charset="0"/>
                <a:cs typeface="Times New Roman" panose="02020603050405020304" pitchFamily="18" charset="0"/>
              </a:rPr>
              <a:t> désigne, dans une classe, l'instance courante de la classe elle-même. A l'intérieur d'une méthode, le mot-clé </a:t>
            </a:r>
            <a:r>
              <a:rPr lang="fr-FR" sz="2000" dirty="0" err="1">
                <a:latin typeface="Times New Roman" panose="02020603050405020304" pitchFamily="18" charset="0"/>
                <a:cs typeface="Times New Roman" panose="02020603050405020304" pitchFamily="18" charset="0"/>
              </a:rPr>
              <a:t>this</a:t>
            </a:r>
            <a:r>
              <a:rPr lang="fr-FR" sz="2000" dirty="0">
                <a:latin typeface="Times New Roman" panose="02020603050405020304" pitchFamily="18" charset="0"/>
                <a:cs typeface="Times New Roman" panose="02020603050405020304" pitchFamily="18" charset="0"/>
              </a:rPr>
              <a:t> permet d'accéder à l'instance (l'objet) sur lequel la méthode est appelée.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L'une des utilisations fréquentes de </a:t>
            </a:r>
            <a:r>
              <a:rPr lang="fr-FR" sz="2000" dirty="0" err="1">
                <a:latin typeface="Times New Roman" panose="02020603050405020304" pitchFamily="18" charset="0"/>
                <a:cs typeface="Times New Roman" panose="02020603050405020304" pitchFamily="18" charset="0"/>
              </a:rPr>
              <a:t>this</a:t>
            </a:r>
            <a:r>
              <a:rPr lang="fr-FR" sz="2000" dirty="0">
                <a:latin typeface="Times New Roman" panose="02020603050405020304" pitchFamily="18" charset="0"/>
                <a:cs typeface="Times New Roman" panose="02020603050405020304" pitchFamily="18" charset="0"/>
              </a:rPr>
              <a:t> consiste à lever les ambiguïtés de nommage entre attributs et paramètres. Par exemple, on pourrait réécrire le constructeur de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en changeant les noms de ses paramètres de la manière suivante.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public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(string titulaire, double </a:t>
            </a:r>
            <a:r>
              <a:rPr lang="fr-FR" sz="2000" dirty="0" err="1">
                <a:latin typeface="Times New Roman" panose="02020603050405020304" pitchFamily="18" charset="0"/>
                <a:cs typeface="Times New Roman" panose="02020603050405020304" pitchFamily="18" charset="0"/>
              </a:rPr>
              <a:t>soldeInitial</a:t>
            </a:r>
            <a:r>
              <a:rPr lang="fr-FR" sz="2000" dirty="0">
                <a:latin typeface="Times New Roman" panose="02020603050405020304" pitchFamily="18" charset="0"/>
                <a:cs typeface="Times New Roman" panose="02020603050405020304" pitchFamily="18" charset="0"/>
              </a:rPr>
              <a:t>, string devise)</a:t>
            </a:r>
          </a:p>
          <a:p>
            <a:pPr algn="just"/>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this.titulaire</a:t>
            </a:r>
            <a:r>
              <a:rPr lang="fr-FR" sz="2000" dirty="0">
                <a:latin typeface="Times New Roman" panose="02020603050405020304" pitchFamily="18" charset="0"/>
                <a:cs typeface="Times New Roman" panose="02020603050405020304" pitchFamily="18" charset="0"/>
              </a:rPr>
              <a:t> = titulaire;</a:t>
            </a:r>
          </a:p>
          <a:p>
            <a:pPr algn="just"/>
            <a:r>
              <a:rPr lang="fr-FR" sz="2000" dirty="0">
                <a:latin typeface="Times New Roman" panose="02020603050405020304" pitchFamily="18" charset="0"/>
                <a:cs typeface="Times New Roman" panose="02020603050405020304" pitchFamily="18" charset="0"/>
              </a:rPr>
              <a:t>    solde = </a:t>
            </a:r>
            <a:r>
              <a:rPr lang="fr-FR" sz="2000" dirty="0" err="1">
                <a:latin typeface="Times New Roman" panose="02020603050405020304" pitchFamily="18" charset="0"/>
                <a:cs typeface="Times New Roman" panose="02020603050405020304" pitchFamily="18" charset="0"/>
              </a:rPr>
              <a:t>soldeInitial</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this.devise</a:t>
            </a:r>
            <a:r>
              <a:rPr lang="fr-FR" sz="2000" dirty="0">
                <a:latin typeface="Times New Roman" panose="02020603050405020304" pitchFamily="18" charset="0"/>
                <a:cs typeface="Times New Roman" panose="02020603050405020304" pitchFamily="18" charset="0"/>
              </a:rPr>
              <a:t> = devise;</a:t>
            </a:r>
          </a:p>
          <a:p>
            <a:pPr algn="just"/>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Ici, l'expression </a:t>
            </a:r>
            <a:r>
              <a:rPr lang="fr-FR" sz="2000" dirty="0" err="1">
                <a:latin typeface="Times New Roman" panose="02020603050405020304" pitchFamily="18" charset="0"/>
                <a:cs typeface="Times New Roman" panose="02020603050405020304" pitchFamily="18" charset="0"/>
              </a:rPr>
              <a:t>this.titulaire</a:t>
            </a:r>
            <a:r>
              <a:rPr lang="fr-FR" sz="2000" dirty="0">
                <a:latin typeface="Times New Roman" panose="02020603050405020304" pitchFamily="18" charset="0"/>
                <a:cs typeface="Times New Roman" panose="02020603050405020304" pitchFamily="18" charset="0"/>
              </a:rPr>
              <a:t> désigne sans ambiguïté l'attribut de la classe, alors que l'expression titulaire désigne le paramètre du constructeur. Il n'y a pas non plus d'ambiguïté entre l'attribut solde et le paramètre </a:t>
            </a:r>
            <a:r>
              <a:rPr lang="fr-FR" sz="2000" dirty="0" err="1">
                <a:latin typeface="Times New Roman" panose="02020603050405020304" pitchFamily="18" charset="0"/>
                <a:cs typeface="Times New Roman" panose="02020603050405020304" pitchFamily="18" charset="0"/>
              </a:rPr>
              <a:t>soldeInitial</a:t>
            </a:r>
            <a:r>
              <a:rPr lang="fr-FR" sz="2000" dirty="0">
                <a:latin typeface="Times New Roman" panose="02020603050405020304" pitchFamily="18" charset="0"/>
                <a:cs typeface="Times New Roman" panose="02020603050405020304" pitchFamily="18" charset="0"/>
              </a:rPr>
              <a:t> qui porte un nom différent.</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12694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Surcharge des constructeurs</a:t>
            </a:r>
          </a:p>
        </p:txBody>
      </p:sp>
      <p:sp>
        <p:nvSpPr>
          <p:cNvPr id="8" name="ZoneTexte 7"/>
          <p:cNvSpPr txBox="1"/>
          <p:nvPr/>
        </p:nvSpPr>
        <p:spPr>
          <a:xfrm>
            <a:off x="480163" y="911772"/>
            <a:ext cx="11160000" cy="5016758"/>
          </a:xfrm>
          <a:prstGeom prst="rect">
            <a:avLst/>
          </a:prstGeom>
          <a:noFill/>
        </p:spPr>
        <p:txBody>
          <a:bodyPr wrap="square" rtlCol="0">
            <a:spAutoFit/>
          </a:bodyPr>
          <a:lstStyle/>
          <a:p>
            <a:pPr algn="just"/>
            <a:r>
              <a:rPr lang="fr-FR" sz="2000" dirty="0" smtClean="0">
                <a:latin typeface="Times New Roman" panose="02020603050405020304" pitchFamily="18" charset="0"/>
                <a:cs typeface="Times New Roman" panose="02020603050405020304" pitchFamily="18" charset="0"/>
              </a:rPr>
              <a:t>Pour </a:t>
            </a:r>
            <a:r>
              <a:rPr lang="fr-FR" sz="2000" dirty="0">
                <a:latin typeface="Times New Roman" panose="02020603050405020304" pitchFamily="18" charset="0"/>
                <a:cs typeface="Times New Roman" panose="02020603050405020304" pitchFamily="18" charset="0"/>
              </a:rPr>
              <a:t>une classe donnée, on peut définir plusieurs constructeurs, tous ces constructeurs partagent le même nom (le nom de la classe), mais se distinguent par le nombre et les types d’arguments, cette distinction s’appelle en orientée objet </a:t>
            </a:r>
            <a:r>
              <a:rPr lang="fr-FR" sz="2000" b="1" dirty="0">
                <a:latin typeface="Times New Roman" panose="02020603050405020304" pitchFamily="18" charset="0"/>
                <a:cs typeface="Times New Roman" panose="02020603050405020304" pitchFamily="18" charset="0"/>
              </a:rPr>
              <a:t>surcharge</a:t>
            </a:r>
            <a:r>
              <a:rPr lang="fr-FR" sz="2000" dirty="0" smtClean="0">
                <a:latin typeface="Times New Roman" panose="02020603050405020304" pitchFamily="18" charset="0"/>
                <a:cs typeface="Times New Roman" panose="02020603050405020304" pitchFamily="18" charset="0"/>
              </a:rPr>
              <a:t>.</a:t>
            </a:r>
          </a:p>
          <a:p>
            <a:pPr algn="just"/>
            <a:endParaRPr lang="fr-FR" sz="2000" dirty="0" smtClean="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fr-FR" sz="2000" b="1" dirty="0">
                <a:latin typeface="Times New Roman" panose="02020603050405020304" pitchFamily="18" charset="0"/>
                <a:cs typeface="Times New Roman" panose="02020603050405020304" pitchFamily="18" charset="0"/>
              </a:rPr>
              <a:t>Le constructeur d’initialisation </a:t>
            </a:r>
            <a:r>
              <a:rPr lang="fr-FR" sz="2000" dirty="0">
                <a:latin typeface="Times New Roman" panose="02020603050405020304" pitchFamily="18" charset="0"/>
                <a:cs typeface="Times New Roman" panose="02020603050405020304" pitchFamily="18" charset="0"/>
              </a:rPr>
              <a:t>(ou le constructeur avec paramètres) : </a:t>
            </a:r>
            <a:r>
              <a:rPr lang="fr-FR" sz="2000" dirty="0" smtClean="0">
                <a:latin typeface="Times New Roman" panose="02020603050405020304" pitchFamily="18" charset="0"/>
                <a:cs typeface="Times New Roman" panose="02020603050405020304" pitchFamily="18" charset="0"/>
              </a:rPr>
              <a:t>ce </a:t>
            </a:r>
            <a:r>
              <a:rPr lang="fr-FR" sz="2000" dirty="0">
                <a:latin typeface="Times New Roman" panose="02020603050405020304" pitchFamily="18" charset="0"/>
                <a:cs typeface="Times New Roman" panose="02020603050405020304" pitchFamily="18" charset="0"/>
              </a:rPr>
              <a:t>constructeur initialise les attributs de l’objet au moment de l’instanciation, par les valeurs passées en paramètre</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La classe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possède un constructeur qui initialise les attributs du compte créé</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public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(string titulaire, double </a:t>
            </a:r>
            <a:r>
              <a:rPr lang="fr-FR" sz="2000" dirty="0" err="1">
                <a:latin typeface="Times New Roman" panose="02020603050405020304" pitchFamily="18" charset="0"/>
                <a:cs typeface="Times New Roman" panose="02020603050405020304" pitchFamily="18" charset="0"/>
              </a:rPr>
              <a:t>soldeInitial</a:t>
            </a:r>
            <a:r>
              <a:rPr lang="fr-FR" sz="2000" dirty="0">
                <a:latin typeface="Times New Roman" panose="02020603050405020304" pitchFamily="18" charset="0"/>
                <a:cs typeface="Times New Roman" panose="02020603050405020304" pitchFamily="18" charset="0"/>
              </a:rPr>
              <a:t>, string devise)</a:t>
            </a:r>
          </a:p>
          <a:p>
            <a:pPr algn="just"/>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this.titulaire</a:t>
            </a:r>
            <a:r>
              <a:rPr lang="fr-FR" sz="2000" dirty="0">
                <a:latin typeface="Times New Roman" panose="02020603050405020304" pitchFamily="18" charset="0"/>
                <a:cs typeface="Times New Roman" panose="02020603050405020304" pitchFamily="18" charset="0"/>
              </a:rPr>
              <a:t> = titulaire;</a:t>
            </a:r>
          </a:p>
          <a:p>
            <a:pPr algn="just"/>
            <a:r>
              <a:rPr lang="fr-FR" sz="2000" dirty="0">
                <a:latin typeface="Times New Roman" panose="02020603050405020304" pitchFamily="18" charset="0"/>
                <a:cs typeface="Times New Roman" panose="02020603050405020304" pitchFamily="18" charset="0"/>
              </a:rPr>
              <a:t>    solde = </a:t>
            </a:r>
            <a:r>
              <a:rPr lang="fr-FR" sz="2000" dirty="0" err="1">
                <a:latin typeface="Times New Roman" panose="02020603050405020304" pitchFamily="18" charset="0"/>
                <a:cs typeface="Times New Roman" panose="02020603050405020304" pitchFamily="18" charset="0"/>
              </a:rPr>
              <a:t>soldeInitial</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this.devise</a:t>
            </a:r>
            <a:r>
              <a:rPr lang="fr-FR" sz="2000" dirty="0">
                <a:latin typeface="Times New Roman" panose="02020603050405020304" pitchFamily="18" charset="0"/>
                <a:cs typeface="Times New Roman" panose="02020603050405020304" pitchFamily="18" charset="0"/>
              </a:rPr>
              <a:t> = devise;</a:t>
            </a:r>
          </a:p>
          <a:p>
            <a:pPr algn="just"/>
            <a:r>
              <a:rPr lang="fr-FR" sz="2000" dirty="0">
                <a:latin typeface="Times New Roman" panose="02020603050405020304" pitchFamily="18" charset="0"/>
                <a:cs typeface="Times New Roman" panose="02020603050405020304" pitchFamily="18" charset="0"/>
              </a:rPr>
              <a:t>}</a:t>
            </a:r>
          </a:p>
          <a:p>
            <a:pPr algn="just"/>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16888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Surcharge des constructeurs</a:t>
            </a:r>
          </a:p>
        </p:txBody>
      </p:sp>
      <p:sp>
        <p:nvSpPr>
          <p:cNvPr id="8" name="ZoneTexte 7"/>
          <p:cNvSpPr txBox="1"/>
          <p:nvPr/>
        </p:nvSpPr>
        <p:spPr>
          <a:xfrm>
            <a:off x="480163" y="911772"/>
            <a:ext cx="11160000" cy="5324535"/>
          </a:xfrm>
          <a:prstGeom prst="rect">
            <a:avLst/>
          </a:prstGeom>
          <a:noFill/>
        </p:spPr>
        <p:txBody>
          <a:bodyPr wrap="square" rtlCol="0">
            <a:spAutoFit/>
          </a:bodyPr>
          <a:lstStyle/>
          <a:p>
            <a:pPr algn="just"/>
            <a:r>
              <a:rPr lang="fr-FR" sz="2000" dirty="0" smtClean="0">
                <a:latin typeface="Times New Roman" panose="02020603050405020304" pitchFamily="18" charset="0"/>
                <a:cs typeface="Times New Roman" panose="02020603050405020304" pitchFamily="18" charset="0"/>
              </a:rPr>
              <a:t>Ce </a:t>
            </a:r>
            <a:r>
              <a:rPr lang="fr-FR" sz="2000" dirty="0">
                <a:latin typeface="Times New Roman" panose="02020603050405020304" pitchFamily="18" charset="0"/>
                <a:cs typeface="Times New Roman" panose="02020603050405020304" pitchFamily="18" charset="0"/>
              </a:rPr>
              <a:t>constructeur nous oblige à définir systématiquement le titulaire, le solde et la devise de tout nouveau compte. Or, les nouveaux comptes bancaires disposent le plus souvent d'un solde égal à zéro et utilisent l'euro comme devise. Pour refléter cet aspect du domaine et faciliter l'utilisation de notre classe, on va ajouter un autre constructeur. Il prendra uniquement le titulaire en paramètre, et initialisera solde et devise avec leurs valeurs par défaut</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public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(string titulaire)</a:t>
            </a:r>
          </a:p>
          <a:p>
            <a:pPr algn="just"/>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this.titulaire</a:t>
            </a:r>
            <a:r>
              <a:rPr lang="fr-FR" sz="2000" dirty="0">
                <a:latin typeface="Times New Roman" panose="02020603050405020304" pitchFamily="18" charset="0"/>
                <a:cs typeface="Times New Roman" panose="02020603050405020304" pitchFamily="18" charset="0"/>
              </a:rPr>
              <a:t> = titulaire;</a:t>
            </a:r>
          </a:p>
          <a:p>
            <a:pPr algn="just"/>
            <a:r>
              <a:rPr lang="fr-FR" sz="2000" dirty="0">
                <a:latin typeface="Times New Roman" panose="02020603050405020304" pitchFamily="18" charset="0"/>
                <a:cs typeface="Times New Roman" panose="02020603050405020304" pitchFamily="18" charset="0"/>
              </a:rPr>
              <a:t>    solde = 0;</a:t>
            </a:r>
          </a:p>
          <a:p>
            <a:pPr algn="just"/>
            <a:r>
              <a:rPr lang="fr-FR" sz="2000" dirty="0">
                <a:latin typeface="Times New Roman" panose="02020603050405020304" pitchFamily="18" charset="0"/>
                <a:cs typeface="Times New Roman" panose="02020603050405020304" pitchFamily="18" charset="0"/>
              </a:rPr>
              <a:t>    devise = "euros";</a:t>
            </a:r>
          </a:p>
          <a:p>
            <a:pPr algn="just"/>
            <a:r>
              <a:rPr lang="fr-FR" sz="2000" dirty="0" smtClean="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On peut à présent instancier un compte bancaire en utilisant ce constructeur. On remarque que Visual Studio nous propose deux choix d'</a:t>
            </a:r>
            <a:r>
              <a:rPr lang="fr-FR" sz="2000" dirty="0" err="1">
                <a:latin typeface="Times New Roman" panose="02020603050405020304" pitchFamily="18" charset="0"/>
                <a:cs typeface="Times New Roman" panose="02020603050405020304" pitchFamily="18" charset="0"/>
              </a:rPr>
              <a:t>autocomplétion</a:t>
            </a:r>
            <a:r>
              <a:rPr lang="fr-FR" sz="2000" dirty="0">
                <a:latin typeface="Times New Roman" panose="02020603050405020304" pitchFamily="18" charset="0"/>
                <a:cs typeface="Times New Roman" panose="02020603050405020304" pitchFamily="18" charset="0"/>
              </a:rPr>
              <a:t>, visualisables à l'aide de petites flèches noires</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Cela signifie qu'il existe à présent deux constructeurs, donc deux manières d'instancier un compte. On choisit d'utiliser le nouveau constructeur</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compte = new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("Paul");</a:t>
            </a:r>
          </a:p>
          <a:p>
            <a:pPr algn="just"/>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(compte);</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231525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Surcharge des constructeurs</a:t>
            </a:r>
          </a:p>
        </p:txBody>
      </p:sp>
      <p:sp>
        <p:nvSpPr>
          <p:cNvPr id="8" name="ZoneTexte 7"/>
          <p:cNvSpPr txBox="1"/>
          <p:nvPr/>
        </p:nvSpPr>
        <p:spPr>
          <a:xfrm>
            <a:off x="480163" y="911772"/>
            <a:ext cx="11160000" cy="3170099"/>
          </a:xfrm>
          <a:prstGeom prst="rect">
            <a:avLst/>
          </a:prstGeom>
          <a:noFill/>
        </p:spPr>
        <p:txBody>
          <a:bodyPr wrap="square" rtlCol="0">
            <a:spAutoFit/>
          </a:bodyPr>
          <a:lstStyle/>
          <a:p>
            <a:pPr marL="342900" indent="-342900" algn="just">
              <a:buFont typeface="Wingdings" panose="05000000000000000000" pitchFamily="2" charset="2"/>
              <a:buChar char="Ø"/>
            </a:pPr>
            <a:r>
              <a:rPr lang="fr-FR" sz="2000" b="1" dirty="0">
                <a:latin typeface="Times New Roman" panose="02020603050405020304" pitchFamily="18" charset="0"/>
                <a:cs typeface="Times New Roman" panose="02020603050405020304" pitchFamily="18" charset="0"/>
              </a:rPr>
              <a:t>Constructeur de recopie </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le </a:t>
            </a:r>
            <a:r>
              <a:rPr lang="fr-FR" sz="2000" dirty="0">
                <a:latin typeface="Times New Roman" panose="02020603050405020304" pitchFamily="18" charset="0"/>
                <a:cs typeface="Times New Roman" panose="02020603050405020304" pitchFamily="18" charset="0"/>
              </a:rPr>
              <a:t>constructeur de recopie permet de copier les propriétés d’un objet existant dans la nouvelle instance</a:t>
            </a:r>
            <a:r>
              <a:rPr lang="fr-FR" sz="2000" dirty="0" smtClean="0">
                <a:latin typeface="Times New Roman" panose="02020603050405020304" pitchFamily="18" charset="0"/>
                <a:cs typeface="Times New Roman" panose="02020603050405020304" pitchFamily="18" charset="0"/>
              </a:rPr>
              <a:t>.</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public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cb)</a:t>
            </a:r>
          </a:p>
          <a:p>
            <a:pPr algn="just"/>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this.titulaire</a:t>
            </a:r>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cb.titulaire</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this.solde</a:t>
            </a:r>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cb.solde</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this.devise</a:t>
            </a:r>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cb.devise</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a:t>
            </a:r>
          </a:p>
          <a:p>
            <a:pPr algn="just"/>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060787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11.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Chaînage de constructeurs</a:t>
            </a:r>
          </a:p>
        </p:txBody>
      </p:sp>
      <p:sp>
        <p:nvSpPr>
          <p:cNvPr id="8" name="ZoneTexte 7"/>
          <p:cNvSpPr txBox="1"/>
          <p:nvPr/>
        </p:nvSpPr>
        <p:spPr>
          <a:xfrm>
            <a:off x="480163" y="911772"/>
            <a:ext cx="11160000" cy="5016758"/>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Revenons à notre nouveau constructeur. Il est possible d'améliorer sa définition de la manière suivante</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public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(string titulaire) : </a:t>
            </a:r>
            <a:r>
              <a:rPr lang="fr-FR" sz="2000" dirty="0" err="1">
                <a:latin typeface="Times New Roman" panose="02020603050405020304" pitchFamily="18" charset="0"/>
                <a:cs typeface="Times New Roman" panose="02020603050405020304" pitchFamily="18" charset="0"/>
              </a:rPr>
              <a:t>this</a:t>
            </a:r>
            <a:r>
              <a:rPr lang="fr-FR" sz="2000" dirty="0">
                <a:latin typeface="Times New Roman" panose="02020603050405020304" pitchFamily="18" charset="0"/>
                <a:cs typeface="Times New Roman" panose="02020603050405020304" pitchFamily="18" charset="0"/>
              </a:rPr>
              <a:t>(titulaire, 0, "euros")</a:t>
            </a:r>
          </a:p>
          <a:p>
            <a:pPr algn="just"/>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 Rien à faire !</a:t>
            </a:r>
          </a:p>
          <a:p>
            <a:pPr algn="just"/>
            <a:r>
              <a:rPr lang="fr-FR" sz="2000" dirty="0">
                <a:latin typeface="Times New Roman" panose="02020603050405020304" pitchFamily="18" charset="0"/>
                <a:cs typeface="Times New Roman" panose="02020603050405020304" pitchFamily="18" charset="0"/>
              </a:rPr>
              <a:t>}</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Cette variante n'initialise pas directement les attributs, mais fait appel à l'autre constructeur en lui passant en paramètres des valeurs par défaut pour les attributs que lui-même n'a pas reçus en paramètres.</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Conseil</a:t>
            </a:r>
            <a:r>
              <a:rPr lang="fr-FR" sz="2000" dirty="0" smtClean="0">
                <a:latin typeface="Times New Roman" panose="02020603050405020304" pitchFamily="18" charset="0"/>
                <a:cs typeface="Times New Roman" panose="02020603050405020304" pitchFamily="18" charset="0"/>
              </a:rPr>
              <a:t> : </a:t>
            </a:r>
            <a:r>
              <a:rPr lang="fr-FR" sz="2000" dirty="0">
                <a:latin typeface="Times New Roman" panose="02020603050405020304" pitchFamily="18" charset="0"/>
                <a:cs typeface="Times New Roman" panose="02020603050405020304" pitchFamily="18" charset="0"/>
              </a:rPr>
              <a:t>le chaînage des constructeurs les uns aux autres est une bonne pratique pour éviter la duplication du code d'initialisation des attributs.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Imaginons que l'on souhaite pouvoir instancier un compte bancaire en définissant son titulaire et son solde (la devise par défaut étant toujours l'euro). On va ajouter à notre classe un troisième constructeur en les chaînant les uns aux autres. Voici les trois constructeurs de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539651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11.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Chaînage de constructeurs</a:t>
            </a:r>
          </a:p>
        </p:txBody>
      </p:sp>
      <p:sp>
        <p:nvSpPr>
          <p:cNvPr id="8" name="ZoneTexte 7"/>
          <p:cNvSpPr txBox="1"/>
          <p:nvPr/>
        </p:nvSpPr>
        <p:spPr>
          <a:xfrm>
            <a:off x="480163" y="911772"/>
            <a:ext cx="11160000" cy="5016758"/>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public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(string titulaire) : </a:t>
            </a:r>
            <a:r>
              <a:rPr lang="fr-FR" sz="2000" dirty="0" err="1">
                <a:latin typeface="Times New Roman" panose="02020603050405020304" pitchFamily="18" charset="0"/>
                <a:cs typeface="Times New Roman" panose="02020603050405020304" pitchFamily="18" charset="0"/>
              </a:rPr>
              <a:t>this</a:t>
            </a:r>
            <a:r>
              <a:rPr lang="fr-FR" sz="2000" dirty="0">
                <a:latin typeface="Times New Roman" panose="02020603050405020304" pitchFamily="18" charset="0"/>
                <a:cs typeface="Times New Roman" panose="02020603050405020304" pitchFamily="18" charset="0"/>
              </a:rPr>
              <a:t>(titulaire, 0)</a:t>
            </a:r>
          </a:p>
          <a:p>
            <a:pPr algn="just"/>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public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(string titulaire, double </a:t>
            </a:r>
            <a:r>
              <a:rPr lang="fr-FR" sz="2000" dirty="0" err="1">
                <a:latin typeface="Times New Roman" panose="02020603050405020304" pitchFamily="18" charset="0"/>
                <a:cs typeface="Times New Roman" panose="02020603050405020304" pitchFamily="18" charset="0"/>
              </a:rPr>
              <a:t>soldeInitial</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this</a:t>
            </a:r>
            <a:r>
              <a:rPr lang="fr-FR" sz="2000" dirty="0">
                <a:latin typeface="Times New Roman" panose="02020603050405020304" pitchFamily="18" charset="0"/>
                <a:cs typeface="Times New Roman" panose="02020603050405020304" pitchFamily="18" charset="0"/>
              </a:rPr>
              <a:t>(titulaire, </a:t>
            </a:r>
            <a:r>
              <a:rPr lang="fr-FR" sz="2000" dirty="0" err="1">
                <a:latin typeface="Times New Roman" panose="02020603050405020304" pitchFamily="18" charset="0"/>
                <a:cs typeface="Times New Roman" panose="02020603050405020304" pitchFamily="18" charset="0"/>
              </a:rPr>
              <a:t>soldeInitial</a:t>
            </a:r>
            <a:r>
              <a:rPr lang="fr-FR" sz="2000" dirty="0">
                <a:latin typeface="Times New Roman" panose="02020603050405020304" pitchFamily="18" charset="0"/>
                <a:cs typeface="Times New Roman" panose="02020603050405020304" pitchFamily="18" charset="0"/>
              </a:rPr>
              <a:t>, "euros")</a:t>
            </a:r>
          </a:p>
          <a:p>
            <a:pPr algn="just"/>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public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(string titulaire, double </a:t>
            </a:r>
            <a:r>
              <a:rPr lang="fr-FR" sz="2000" dirty="0" err="1">
                <a:latin typeface="Times New Roman" panose="02020603050405020304" pitchFamily="18" charset="0"/>
                <a:cs typeface="Times New Roman" panose="02020603050405020304" pitchFamily="18" charset="0"/>
              </a:rPr>
              <a:t>soldeInitial</a:t>
            </a:r>
            <a:r>
              <a:rPr lang="fr-FR" sz="2000" dirty="0">
                <a:latin typeface="Times New Roman" panose="02020603050405020304" pitchFamily="18" charset="0"/>
                <a:cs typeface="Times New Roman" panose="02020603050405020304" pitchFamily="18" charset="0"/>
              </a:rPr>
              <a:t>, string devise)</a:t>
            </a:r>
          </a:p>
          <a:p>
            <a:pPr algn="just"/>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this.titulaire</a:t>
            </a:r>
            <a:r>
              <a:rPr lang="fr-FR" sz="2000" dirty="0">
                <a:latin typeface="Times New Roman" panose="02020603050405020304" pitchFamily="18" charset="0"/>
                <a:cs typeface="Times New Roman" panose="02020603050405020304" pitchFamily="18" charset="0"/>
              </a:rPr>
              <a:t> = titulaire;</a:t>
            </a:r>
          </a:p>
          <a:p>
            <a:pPr algn="just"/>
            <a:r>
              <a:rPr lang="fr-FR" sz="2000" dirty="0">
                <a:latin typeface="Times New Roman" panose="02020603050405020304" pitchFamily="18" charset="0"/>
                <a:cs typeface="Times New Roman" panose="02020603050405020304" pitchFamily="18" charset="0"/>
              </a:rPr>
              <a:t>    solde = </a:t>
            </a:r>
            <a:r>
              <a:rPr lang="fr-FR" sz="2000" dirty="0" err="1">
                <a:latin typeface="Times New Roman" panose="02020603050405020304" pitchFamily="18" charset="0"/>
                <a:cs typeface="Times New Roman" panose="02020603050405020304" pitchFamily="18" charset="0"/>
              </a:rPr>
              <a:t>soldeInitial</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this.devise</a:t>
            </a:r>
            <a:r>
              <a:rPr lang="fr-FR" sz="2000" dirty="0">
                <a:latin typeface="Times New Roman" panose="02020603050405020304" pitchFamily="18" charset="0"/>
                <a:cs typeface="Times New Roman" panose="02020603050405020304" pitchFamily="18" charset="0"/>
              </a:rPr>
              <a:t> = devise;</a:t>
            </a:r>
          </a:p>
          <a:p>
            <a:pPr algn="just"/>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En diversifiant la manière dont un objet peut être instancié, la présence de plusieurs constructeurs facilite l'utilisation d'une classe, </a:t>
            </a:r>
          </a:p>
        </p:txBody>
      </p:sp>
    </p:spTree>
    <p:extLst>
      <p:ext uri="{BB962C8B-B14F-4D97-AF65-F5344CB8AC3E}">
        <p14:creationId xmlns:p14="http://schemas.microsoft.com/office/powerpoint/2010/main" val="331685750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12.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Encapsulation</a:t>
            </a:r>
          </a:p>
        </p:txBody>
      </p:sp>
      <p:sp>
        <p:nvSpPr>
          <p:cNvPr id="8" name="ZoneTexte 7"/>
          <p:cNvSpPr txBox="1"/>
          <p:nvPr/>
        </p:nvSpPr>
        <p:spPr>
          <a:xfrm>
            <a:off x="480163" y="911772"/>
            <a:ext cx="11160000" cy="7478970"/>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L'écriture de classes offre d'autres avantages que le simple regroupement de données et de traitements. Parmi ceux-ci figure la possibilité de restreindre l'accès à certains éléments de la classe. C'est ce que l'on appelle </a:t>
            </a:r>
            <a:r>
              <a:rPr lang="fr-FR" sz="2000" b="1" dirty="0">
                <a:latin typeface="Times New Roman" panose="02020603050405020304" pitchFamily="18" charset="0"/>
                <a:cs typeface="Times New Roman" panose="02020603050405020304" pitchFamily="18" charset="0"/>
              </a:rPr>
              <a:t>l'encapsulation</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a:latin typeface="Times New Roman" panose="02020603050405020304" pitchFamily="18" charset="0"/>
                <a:cs typeface="Times New Roman" panose="02020603050405020304" pitchFamily="18" charset="0"/>
              </a:rPr>
              <a:t>Exemple </a:t>
            </a:r>
            <a:r>
              <a:rPr lang="fr-FR" sz="2000" b="1" dirty="0" smtClean="0">
                <a:latin typeface="Times New Roman" panose="02020603050405020304" pitchFamily="18" charset="0"/>
                <a:cs typeface="Times New Roman" panose="02020603050405020304" pitchFamily="18" charset="0"/>
              </a:rPr>
              <a:t>d'utilisation</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On souhaite qu'un compte bancaire créé ne puisse pas changer de titulaire ni de devise. Cela est possible en définissant les attributs titulaire et devise comme étant </a:t>
            </a:r>
            <a:r>
              <a:rPr lang="fr-FR" sz="2000" b="1" dirty="0">
                <a:latin typeface="Times New Roman" panose="02020603050405020304" pitchFamily="18" charset="0"/>
                <a:cs typeface="Times New Roman" panose="02020603050405020304" pitchFamily="18" charset="0"/>
              </a:rPr>
              <a:t>privés</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public class </a:t>
            </a:r>
            <a:r>
              <a:rPr lang="fr-FR" sz="2000" dirty="0" err="1">
                <a:latin typeface="Times New Roman" panose="02020603050405020304" pitchFamily="18" charset="0"/>
                <a:cs typeface="Times New Roman" panose="02020603050405020304" pitchFamily="18" charset="0"/>
              </a:rPr>
              <a:t>CompteBancaire</a:t>
            </a:r>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string titulaire;   // attribut privé</a:t>
            </a:r>
          </a:p>
          <a:p>
            <a:pPr lvl="2" algn="just"/>
            <a:r>
              <a:rPr lang="fr-FR" sz="2000" dirty="0">
                <a:latin typeface="Times New Roman" panose="02020603050405020304" pitchFamily="18" charset="0"/>
                <a:cs typeface="Times New Roman" panose="02020603050405020304" pitchFamily="18" charset="0"/>
              </a:rPr>
              <a:t>    public double solde;</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string devise;      // attribut privé</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(string </a:t>
            </a:r>
            <a:r>
              <a:rPr lang="fr-FR" sz="2000" dirty="0" err="1">
                <a:latin typeface="Times New Roman" panose="02020603050405020304" pitchFamily="18" charset="0"/>
                <a:cs typeface="Times New Roman" panose="02020603050405020304" pitchFamily="18" charset="0"/>
              </a:rPr>
              <a:t>leTitulaire</a:t>
            </a:r>
            <a:r>
              <a:rPr lang="fr-FR" sz="2000" dirty="0">
                <a:latin typeface="Times New Roman" panose="02020603050405020304" pitchFamily="18" charset="0"/>
                <a:cs typeface="Times New Roman" panose="02020603050405020304" pitchFamily="18" charset="0"/>
              </a:rPr>
              <a:t>, double </a:t>
            </a:r>
            <a:r>
              <a:rPr lang="fr-FR" sz="2000" dirty="0" err="1">
                <a:latin typeface="Times New Roman" panose="02020603050405020304" pitchFamily="18" charset="0"/>
                <a:cs typeface="Times New Roman" panose="02020603050405020304" pitchFamily="18" charset="0"/>
              </a:rPr>
              <a:t>soldeInitial</a:t>
            </a:r>
            <a:r>
              <a:rPr lang="fr-FR" sz="2000" dirty="0">
                <a:latin typeface="Times New Roman" panose="02020603050405020304" pitchFamily="18" charset="0"/>
                <a:cs typeface="Times New Roman" panose="02020603050405020304" pitchFamily="18" charset="0"/>
              </a:rPr>
              <a:t>, string </a:t>
            </a:r>
            <a:r>
              <a:rPr lang="fr-FR" sz="2000" dirty="0" err="1">
                <a:latin typeface="Times New Roman" panose="02020603050405020304" pitchFamily="18" charset="0"/>
                <a:cs typeface="Times New Roman" panose="02020603050405020304" pitchFamily="18" charset="0"/>
              </a:rPr>
              <a:t>laDevise</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titulaire = </a:t>
            </a:r>
            <a:r>
              <a:rPr lang="fr-FR" sz="2000" dirty="0" err="1">
                <a:latin typeface="Times New Roman" panose="02020603050405020304" pitchFamily="18" charset="0"/>
                <a:cs typeface="Times New Roman" panose="02020603050405020304" pitchFamily="18" charset="0"/>
              </a:rPr>
              <a:t>leTitulaire</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solde = </a:t>
            </a:r>
            <a:r>
              <a:rPr lang="fr-FR" sz="2000" dirty="0" err="1">
                <a:latin typeface="Times New Roman" panose="02020603050405020304" pitchFamily="18" charset="0"/>
                <a:cs typeface="Times New Roman" panose="02020603050405020304" pitchFamily="18" charset="0"/>
              </a:rPr>
              <a:t>soldeInitial</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devise = </a:t>
            </a:r>
            <a:r>
              <a:rPr lang="fr-FR" sz="2000" dirty="0" err="1">
                <a:latin typeface="Times New Roman" panose="02020603050405020304" pitchFamily="18" charset="0"/>
                <a:cs typeface="Times New Roman" panose="02020603050405020304" pitchFamily="18" charset="0"/>
              </a:rPr>
              <a:t>laDevise</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 ...</a:t>
            </a:r>
          </a:p>
          <a:p>
            <a:pPr lvl="2" algn="just"/>
            <a:r>
              <a:rPr lang="fr-FR" sz="2000" dirty="0">
                <a:latin typeface="Times New Roman" panose="02020603050405020304" pitchFamily="18" charset="0"/>
                <a:cs typeface="Times New Roman" panose="02020603050405020304" pitchFamily="18" charset="0"/>
              </a:rPr>
              <a:t>}</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924316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12.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Encapsulation</a:t>
            </a:r>
          </a:p>
        </p:txBody>
      </p:sp>
      <p:sp>
        <p:nvSpPr>
          <p:cNvPr id="8" name="ZoneTexte 7"/>
          <p:cNvSpPr txBox="1"/>
          <p:nvPr/>
        </p:nvSpPr>
        <p:spPr>
          <a:xfrm>
            <a:off x="480163" y="911772"/>
            <a:ext cx="11160000" cy="4401205"/>
          </a:xfrm>
          <a:prstGeom prst="rect">
            <a:avLst/>
          </a:prstGeom>
          <a:noFill/>
        </p:spPr>
        <p:txBody>
          <a:bodyPr wrap="square" rtlCol="0">
            <a:spAutoFit/>
          </a:bodyPr>
          <a:lstStyle/>
          <a:p>
            <a:pPr algn="just"/>
            <a:r>
              <a:rPr lang="fr-FR" sz="2000" dirty="0" smtClean="0">
                <a:latin typeface="Times New Roman" panose="02020603050405020304" pitchFamily="18" charset="0"/>
                <a:cs typeface="Times New Roman" panose="02020603050405020304" pitchFamily="18" charset="0"/>
              </a:rPr>
              <a:t>À </a:t>
            </a:r>
            <a:r>
              <a:rPr lang="fr-FR" sz="2000" dirty="0">
                <a:latin typeface="Times New Roman" panose="02020603050405020304" pitchFamily="18" charset="0"/>
                <a:cs typeface="Times New Roman" panose="02020603050405020304" pitchFamily="18" charset="0"/>
              </a:rPr>
              <a:t>présent, la seule manière de définir des valeurs pour titulaire et devise est d'utiliser le constructeur. Toute tentative d'accès externe aux propriétés privées générera une erreur lors de la compilation</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("Pierre", 0, "euros");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comptePierre.titulaire</a:t>
            </a:r>
            <a:r>
              <a:rPr lang="fr-FR" sz="2000" dirty="0">
                <a:latin typeface="Times New Roman" panose="02020603050405020304" pitchFamily="18" charset="0"/>
                <a:cs typeface="Times New Roman" panose="02020603050405020304" pitchFamily="18" charset="0"/>
              </a:rPr>
              <a:t> = "Pierre";  // Erreur : titulaire est un attribut privé</a:t>
            </a:r>
          </a:p>
          <a:p>
            <a:pPr algn="just"/>
            <a:r>
              <a:rPr lang="fr-FR" sz="2000" dirty="0" err="1">
                <a:latin typeface="Times New Roman" panose="02020603050405020304" pitchFamily="18" charset="0"/>
                <a:cs typeface="Times New Roman" panose="02020603050405020304" pitchFamily="18" charset="0"/>
              </a:rPr>
              <a:t>comptePierre.solde</a:t>
            </a:r>
            <a:r>
              <a:rPr lang="fr-FR" sz="2000" dirty="0">
                <a:latin typeface="Times New Roman" panose="02020603050405020304" pitchFamily="18" charset="0"/>
                <a:cs typeface="Times New Roman" panose="02020603050405020304" pitchFamily="18" charset="0"/>
              </a:rPr>
              <a:t> = 500;           // OK : solde est un attribut public</a:t>
            </a:r>
          </a:p>
          <a:p>
            <a:pPr algn="just"/>
            <a:r>
              <a:rPr lang="fr-FR" sz="2000" dirty="0" err="1">
                <a:latin typeface="Times New Roman" panose="02020603050405020304" pitchFamily="18" charset="0"/>
                <a:cs typeface="Times New Roman" panose="02020603050405020304" pitchFamily="18" charset="0"/>
              </a:rPr>
              <a:t>comptePierre.devise</a:t>
            </a:r>
            <a:r>
              <a:rPr lang="fr-FR" sz="2000" dirty="0">
                <a:latin typeface="Times New Roman" panose="02020603050405020304" pitchFamily="18" charset="0"/>
                <a:cs typeface="Times New Roman" panose="02020603050405020304" pitchFamily="18" charset="0"/>
              </a:rPr>
              <a:t> = "euros";      // Erreur : devise est un attribut </a:t>
            </a:r>
            <a:r>
              <a:rPr lang="fr-FR" sz="2000" dirty="0" smtClean="0">
                <a:latin typeface="Times New Roman" panose="02020603050405020304" pitchFamily="18" charset="0"/>
                <a:cs typeface="Times New Roman" panose="02020603050405020304" pitchFamily="18" charset="0"/>
              </a:rPr>
              <a:t>privé</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Les mots-clés </a:t>
            </a:r>
            <a:r>
              <a:rPr lang="fr-FR" sz="2000" b="1" dirty="0">
                <a:latin typeface="Times New Roman" panose="02020603050405020304" pitchFamily="18" charset="0"/>
                <a:cs typeface="Times New Roman" panose="02020603050405020304" pitchFamily="18" charset="0"/>
              </a:rPr>
              <a:t>public</a:t>
            </a:r>
            <a:r>
              <a:rPr lang="fr-FR" sz="2000" dirty="0">
                <a:latin typeface="Times New Roman" panose="02020603050405020304" pitchFamily="18" charset="0"/>
                <a:cs typeface="Times New Roman" panose="02020603050405020304" pitchFamily="18" charset="0"/>
              </a:rPr>
              <a:t> et </a:t>
            </a:r>
            <a:r>
              <a:rPr lang="fr-FR" sz="2000" b="1"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permettent de modifier le niveau d'encapsulation (on parle aussi de visibilité ou d'accessibilité) des éléments de la classe (attributs et méthodes) :</a:t>
            </a:r>
          </a:p>
          <a:p>
            <a:pPr marL="342900" indent="-342900" algn="just">
              <a:buFont typeface="Wingdings" panose="05000000000000000000" pitchFamily="2" charset="2"/>
              <a:buChar char="Ø"/>
            </a:pPr>
            <a:r>
              <a:rPr lang="fr-FR" sz="2000" dirty="0">
                <a:latin typeface="Times New Roman" panose="02020603050405020304" pitchFamily="18" charset="0"/>
                <a:cs typeface="Times New Roman" panose="02020603050405020304" pitchFamily="18" charset="0"/>
              </a:rPr>
              <a:t>un élément </a:t>
            </a:r>
            <a:r>
              <a:rPr lang="fr-FR" sz="2000" b="1" dirty="0">
                <a:latin typeface="Times New Roman" panose="02020603050405020304" pitchFamily="18" charset="0"/>
                <a:cs typeface="Times New Roman" panose="02020603050405020304" pitchFamily="18" charset="0"/>
              </a:rPr>
              <a:t>public</a:t>
            </a:r>
            <a:r>
              <a:rPr lang="fr-FR" sz="2000" dirty="0">
                <a:latin typeface="Times New Roman" panose="02020603050405020304" pitchFamily="18" charset="0"/>
                <a:cs typeface="Times New Roman" panose="02020603050405020304" pitchFamily="18" charset="0"/>
              </a:rPr>
              <a:t> est librement utilisable depuis le reste du programme ;</a:t>
            </a:r>
          </a:p>
          <a:p>
            <a:pPr marL="342900" indent="-342900" algn="just">
              <a:buFont typeface="Wingdings" panose="05000000000000000000" pitchFamily="2" charset="2"/>
              <a:buChar char="Ø"/>
            </a:pPr>
            <a:r>
              <a:rPr lang="fr-FR" sz="2000" dirty="0">
                <a:latin typeface="Times New Roman" panose="02020603050405020304" pitchFamily="18" charset="0"/>
                <a:cs typeface="Times New Roman" panose="02020603050405020304" pitchFamily="18" charset="0"/>
              </a:rPr>
              <a:t>un élément </a:t>
            </a:r>
            <a:r>
              <a:rPr lang="fr-FR" sz="2000" b="1" dirty="0">
                <a:latin typeface="Times New Roman" panose="02020603050405020304" pitchFamily="18" charset="0"/>
                <a:cs typeface="Times New Roman" panose="02020603050405020304" pitchFamily="18" charset="0"/>
              </a:rPr>
              <a:t>privé</a:t>
            </a:r>
            <a:r>
              <a:rPr lang="fr-FR" sz="2000" dirty="0">
                <a:latin typeface="Times New Roman" panose="02020603050405020304" pitchFamily="18" charset="0"/>
                <a:cs typeface="Times New Roman" panose="02020603050405020304" pitchFamily="18" charset="0"/>
              </a:rPr>
              <a:t> est uniquement utilisable depuis les méthodes de la classe elle-même.</a:t>
            </a:r>
          </a:p>
          <a:p>
            <a:pPr algn="just"/>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269672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12.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Encapsulation</a:t>
            </a:r>
          </a:p>
        </p:txBody>
      </p:sp>
      <p:sp>
        <p:nvSpPr>
          <p:cNvPr id="8" name="ZoneTexte 7"/>
          <p:cNvSpPr txBox="1"/>
          <p:nvPr/>
        </p:nvSpPr>
        <p:spPr>
          <a:xfrm>
            <a:off x="480163" y="911772"/>
            <a:ext cx="11160000" cy="7786747"/>
          </a:xfrm>
          <a:prstGeom prst="rect">
            <a:avLst/>
          </a:prstGeom>
          <a:noFill/>
        </p:spPr>
        <p:txBody>
          <a:bodyPr wrap="square" rtlCol="0">
            <a:spAutoFit/>
          </a:bodyPr>
          <a:lstStyle/>
          <a:p>
            <a:pPr algn="just"/>
            <a:r>
              <a:rPr lang="fr-FR" sz="2000" b="1" dirty="0" smtClean="0">
                <a:latin typeface="Times New Roman" panose="02020603050405020304" pitchFamily="18" charset="0"/>
                <a:cs typeface="Times New Roman" panose="02020603050405020304" pitchFamily="18" charset="0"/>
              </a:rPr>
              <a:t>Remarque</a:t>
            </a:r>
            <a:r>
              <a:rPr lang="fr-FR" sz="2000" dirty="0" smtClean="0">
                <a:latin typeface="Times New Roman" panose="02020603050405020304" pitchFamily="18" charset="0"/>
                <a:cs typeface="Times New Roman" panose="02020603050405020304" pitchFamily="18" charset="0"/>
              </a:rPr>
              <a:t> : </a:t>
            </a:r>
            <a:r>
              <a:rPr lang="fr-FR" sz="2000" dirty="0">
                <a:latin typeface="Times New Roman" panose="02020603050405020304" pitchFamily="18" charset="0"/>
                <a:cs typeface="Times New Roman" panose="02020603050405020304" pitchFamily="18" charset="0"/>
              </a:rPr>
              <a:t>dans de nombreux langages dont le C#, il existe un niveau d'encapsulation intermédiaire (</a:t>
            </a:r>
            <a:r>
              <a:rPr lang="fr-FR" sz="2000" b="1" dirty="0" err="1">
                <a:latin typeface="Times New Roman" panose="02020603050405020304" pitchFamily="18" charset="0"/>
                <a:cs typeface="Times New Roman" panose="02020603050405020304" pitchFamily="18" charset="0"/>
              </a:rPr>
              <a:t>protected</a:t>
            </a:r>
            <a:r>
              <a:rPr lang="fr-FR" sz="2000" dirty="0">
                <a:latin typeface="Times New Roman" panose="02020603050405020304" pitchFamily="18" charset="0"/>
                <a:cs typeface="Times New Roman" panose="02020603050405020304" pitchFamily="18" charset="0"/>
              </a:rPr>
              <a:t>) qui sera étudié plus loin.</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Définition</a:t>
            </a:r>
            <a:r>
              <a:rPr lang="fr-FR" sz="2000" dirty="0" smtClean="0">
                <a:latin typeface="Times New Roman" panose="02020603050405020304" pitchFamily="18" charset="0"/>
                <a:cs typeface="Times New Roman" panose="02020603050405020304" pitchFamily="18" charset="0"/>
              </a:rPr>
              <a:t> : </a:t>
            </a:r>
            <a:r>
              <a:rPr lang="fr-FR" sz="2000" dirty="0">
                <a:latin typeface="Times New Roman" panose="02020603050405020304" pitchFamily="18" charset="0"/>
                <a:cs typeface="Times New Roman" panose="02020603050405020304" pitchFamily="18" charset="0"/>
              </a:rPr>
              <a:t>l'encapsulation est l'un des principes fondamentaux de la POO. Il consiste à restreindre l'accès à certains éléments d'une classe (le plus souvent ses attributs). L'objectif de l'encapsulation est de ne laisser accessible que le strict nécessaire pour que la classe soit utilisable.</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Conseil</a:t>
            </a:r>
            <a:r>
              <a:rPr lang="fr-FR" sz="2000" dirty="0" smtClean="0">
                <a:latin typeface="Times New Roman" panose="02020603050405020304" pitchFamily="18" charset="0"/>
                <a:cs typeface="Times New Roman" panose="02020603050405020304" pitchFamily="18" charset="0"/>
              </a:rPr>
              <a:t> : </a:t>
            </a:r>
            <a:r>
              <a:rPr lang="fr-FR" sz="2000" dirty="0">
                <a:latin typeface="Times New Roman" panose="02020603050405020304" pitchFamily="18" charset="0"/>
                <a:cs typeface="Times New Roman" panose="02020603050405020304" pitchFamily="18" charset="0"/>
              </a:rPr>
              <a:t>sauf cas particulier, on donne le niveau de visibilité </a:t>
            </a:r>
            <a:r>
              <a:rPr lang="fr-FR" sz="2000" b="1"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à tous les attributs d'une classe afin d'assurer leur encapsulation par défaut</a:t>
            </a:r>
            <a:r>
              <a:rPr lang="fr-FR" sz="2000" dirty="0" smtClean="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public class </a:t>
            </a:r>
            <a:r>
              <a:rPr lang="fr-FR" sz="2000" dirty="0" err="1">
                <a:latin typeface="Times New Roman" panose="02020603050405020304" pitchFamily="18" charset="0"/>
                <a:cs typeface="Times New Roman" panose="02020603050405020304" pitchFamily="18" charset="0"/>
              </a:rPr>
              <a:t>CompteBancaire</a:t>
            </a:r>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string titulaire;</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double solde;</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string devise;</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 </a:t>
            </a:r>
            <a:r>
              <a:rPr lang="fr-FR" sz="2000" dirty="0" smtClean="0">
                <a:latin typeface="Times New Roman" panose="02020603050405020304" pitchFamily="18" charset="0"/>
                <a:cs typeface="Times New Roman" panose="02020603050405020304" pitchFamily="18" charset="0"/>
              </a:rPr>
              <a:t>...</a:t>
            </a:r>
          </a:p>
          <a:p>
            <a:pPr lvl="2" algn="just"/>
            <a:r>
              <a:rPr lang="fr-FR" sz="2000" dirty="0" smtClean="0">
                <a:latin typeface="Times New Roman" panose="02020603050405020304" pitchFamily="18" charset="0"/>
                <a:cs typeface="Times New Roman" panose="02020603050405020304" pitchFamily="18" charset="0"/>
              </a:rPr>
              <a:t>}</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L'encapsulation </a:t>
            </a:r>
            <a:r>
              <a:rPr lang="fr-FR" sz="2000" dirty="0">
                <a:latin typeface="Times New Roman" panose="02020603050405020304" pitchFamily="18" charset="0"/>
                <a:cs typeface="Times New Roman" panose="02020603050405020304" pitchFamily="18" charset="0"/>
              </a:rPr>
              <a:t>offre de nombreux avantages :</a:t>
            </a:r>
          </a:p>
          <a:p>
            <a:pPr algn="just"/>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diminution </a:t>
            </a:r>
            <a:r>
              <a:rPr lang="fr-FR" sz="2000" dirty="0">
                <a:latin typeface="Times New Roman" panose="02020603050405020304" pitchFamily="18" charset="0"/>
                <a:cs typeface="Times New Roman" panose="02020603050405020304" pitchFamily="18" charset="0"/>
              </a:rPr>
              <a:t>des risques de mauvaise manipulation d'une classe ;</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création </a:t>
            </a:r>
            <a:r>
              <a:rPr lang="fr-FR" sz="2000" dirty="0">
                <a:latin typeface="Times New Roman" panose="02020603050405020304" pitchFamily="18" charset="0"/>
                <a:cs typeface="Times New Roman" panose="02020603050405020304" pitchFamily="18" charset="0"/>
              </a:rPr>
              <a:t>de classes « boîtes noires » par masquage des détails internes ;</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possibilité </a:t>
            </a:r>
            <a:r>
              <a:rPr lang="fr-FR" sz="2000" dirty="0">
                <a:latin typeface="Times New Roman" panose="02020603050405020304" pitchFamily="18" charset="0"/>
                <a:cs typeface="Times New Roman" panose="02020603050405020304" pitchFamily="18" charset="0"/>
              </a:rPr>
              <a:t>de modifier les détails internes d'une classe (la manière dont elle fonctionne) sans changer son comportement extérieur (ce qu'elle permet de faire).</a:t>
            </a:r>
          </a:p>
          <a:p>
            <a:pPr algn="just"/>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000404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13.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Accesseurs</a:t>
            </a:r>
          </a:p>
        </p:txBody>
      </p:sp>
      <p:sp>
        <p:nvSpPr>
          <p:cNvPr id="8" name="ZoneTexte 7"/>
          <p:cNvSpPr txBox="1"/>
          <p:nvPr/>
        </p:nvSpPr>
        <p:spPr>
          <a:xfrm>
            <a:off x="480163" y="911772"/>
            <a:ext cx="11160000" cy="5016758"/>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L'encapsulation des attributs a permis d'interdire toute modification (accidentelle ou volontaire) des données d'un compte bancaire. Cependant, il est maintenant impossible de consulter le solde, le titulaire ou la devise d'un compte créé, ce qui est gênant. On aimerait pouvoir accéder aux données de la classe, tout en maintenant un certain niveau de contrôle. Cela est possible en ajoutant des </a:t>
            </a:r>
            <a:r>
              <a:rPr lang="fr-FR" sz="2000" b="1" dirty="0">
                <a:latin typeface="Times New Roman" panose="02020603050405020304" pitchFamily="18" charset="0"/>
                <a:cs typeface="Times New Roman" panose="02020603050405020304" pitchFamily="18" charset="0"/>
              </a:rPr>
              <a:t>accesseurs</a:t>
            </a:r>
            <a:r>
              <a:rPr lang="fr-FR" sz="2000" dirty="0">
                <a:latin typeface="Times New Roman" panose="02020603050405020304" pitchFamily="18" charset="0"/>
                <a:cs typeface="Times New Roman" panose="02020603050405020304" pitchFamily="18" charset="0"/>
              </a:rPr>
              <a:t> à la classe</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Définition</a:t>
            </a:r>
            <a:r>
              <a:rPr lang="fr-FR" sz="2000" dirty="0" smtClean="0">
                <a:latin typeface="Times New Roman" panose="02020603050405020304" pitchFamily="18" charset="0"/>
                <a:cs typeface="Times New Roman" panose="02020603050405020304" pitchFamily="18" charset="0"/>
              </a:rPr>
              <a:t> : </a:t>
            </a:r>
            <a:r>
              <a:rPr lang="fr-FR" sz="2000" dirty="0">
                <a:latin typeface="Times New Roman" panose="02020603050405020304" pitchFamily="18" charset="0"/>
                <a:cs typeface="Times New Roman" panose="02020603050405020304" pitchFamily="18" charset="0"/>
              </a:rPr>
              <a:t>un </a:t>
            </a:r>
            <a:r>
              <a:rPr lang="fr-FR" sz="2000" b="1" dirty="0">
                <a:latin typeface="Times New Roman" panose="02020603050405020304" pitchFamily="18" charset="0"/>
                <a:cs typeface="Times New Roman" panose="02020603050405020304" pitchFamily="18" charset="0"/>
              </a:rPr>
              <a:t>accesseur</a:t>
            </a:r>
            <a:r>
              <a:rPr lang="fr-FR" sz="2000" dirty="0">
                <a:latin typeface="Times New Roman" panose="02020603050405020304" pitchFamily="18" charset="0"/>
                <a:cs typeface="Times New Roman" panose="02020603050405020304" pitchFamily="18" charset="0"/>
              </a:rPr>
              <a:t> est une méthode le plus souvent publique qui permet d'accéder à un attribut privé</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Un </a:t>
            </a:r>
            <a:r>
              <a:rPr lang="fr-FR" sz="2000" b="1" dirty="0">
                <a:latin typeface="Times New Roman" panose="02020603050405020304" pitchFamily="18" charset="0"/>
                <a:cs typeface="Times New Roman" panose="02020603050405020304" pitchFamily="18" charset="0"/>
              </a:rPr>
              <a:t>accesseur en lecture </a:t>
            </a:r>
            <a:r>
              <a:rPr lang="fr-FR" sz="2000" dirty="0">
                <a:latin typeface="Times New Roman" panose="02020603050405020304" pitchFamily="18" charset="0"/>
                <a:cs typeface="Times New Roman" panose="02020603050405020304" pitchFamily="18" charset="0"/>
              </a:rPr>
              <a:t>(getter) permet de </a:t>
            </a:r>
            <a:r>
              <a:rPr lang="fr-FR" sz="2000" b="1" dirty="0">
                <a:latin typeface="Times New Roman" panose="02020603050405020304" pitchFamily="18" charset="0"/>
                <a:cs typeface="Times New Roman" panose="02020603050405020304" pitchFamily="18" charset="0"/>
              </a:rPr>
              <a:t>lire</a:t>
            </a:r>
            <a:r>
              <a:rPr lang="fr-FR" sz="2000" dirty="0">
                <a:latin typeface="Times New Roman" panose="02020603050405020304" pitchFamily="18" charset="0"/>
                <a:cs typeface="Times New Roman" panose="02020603050405020304" pitchFamily="18" charset="0"/>
              </a:rPr>
              <a:t> la valeur d'un attribut.</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Un </a:t>
            </a:r>
            <a:r>
              <a:rPr lang="fr-FR" sz="2000" b="1" dirty="0">
                <a:latin typeface="Times New Roman" panose="02020603050405020304" pitchFamily="18" charset="0"/>
                <a:cs typeface="Times New Roman" panose="02020603050405020304" pitchFamily="18" charset="0"/>
              </a:rPr>
              <a:t>accesseur en écriture </a:t>
            </a:r>
            <a:r>
              <a:rPr lang="fr-FR" sz="2000" dirty="0">
                <a:latin typeface="Times New Roman" panose="02020603050405020304" pitchFamily="18" charset="0"/>
                <a:cs typeface="Times New Roman" panose="02020603050405020304" pitchFamily="18" charset="0"/>
              </a:rPr>
              <a:t>(mutateur ou setter) permet de </a:t>
            </a:r>
            <a:r>
              <a:rPr lang="fr-FR" sz="2000" b="1" dirty="0">
                <a:latin typeface="Times New Roman" panose="02020603050405020304" pitchFamily="18" charset="0"/>
                <a:cs typeface="Times New Roman" panose="02020603050405020304" pitchFamily="18" charset="0"/>
              </a:rPr>
              <a:t>modifier</a:t>
            </a:r>
            <a:r>
              <a:rPr lang="fr-FR" sz="2000" dirty="0">
                <a:latin typeface="Times New Roman" panose="02020603050405020304" pitchFamily="18" charset="0"/>
                <a:cs typeface="Times New Roman" panose="02020603050405020304" pitchFamily="18" charset="0"/>
              </a:rPr>
              <a:t> la valeur d'un attribut.</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En C#, les accesseurs prennent la forme de </a:t>
            </a:r>
            <a:r>
              <a:rPr lang="fr-FR" sz="2000" b="1" dirty="0">
                <a:latin typeface="Times New Roman" panose="02020603050405020304" pitchFamily="18" charset="0"/>
                <a:cs typeface="Times New Roman" panose="02020603050405020304" pitchFamily="18" charset="0"/>
              </a:rPr>
              <a:t>propriétés</a:t>
            </a:r>
            <a:r>
              <a:rPr lang="fr-FR" sz="2000" dirty="0">
                <a:latin typeface="Times New Roman" panose="02020603050405020304" pitchFamily="18" charset="0"/>
                <a:cs typeface="Times New Roman" panose="02020603050405020304" pitchFamily="18" charset="0"/>
              </a:rPr>
              <a:t>. Une propriété se manipule comme un champ, mais il s'agit en réalité d'un couple d'accesseurs </a:t>
            </a:r>
            <a:r>
              <a:rPr lang="fr-FR" sz="2000" dirty="0" err="1">
                <a:latin typeface="Times New Roman" panose="02020603050405020304" pitchFamily="18" charset="0"/>
                <a:cs typeface="Times New Roman" panose="02020603050405020304" pitchFamily="18" charset="0"/>
              </a:rPr>
              <a:t>get</a:t>
            </a:r>
            <a:r>
              <a:rPr lang="fr-FR" sz="2000" dirty="0">
                <a:latin typeface="Times New Roman" panose="02020603050405020304" pitchFamily="18" charset="0"/>
                <a:cs typeface="Times New Roman" panose="02020603050405020304" pitchFamily="18" charset="0"/>
              </a:rPr>
              <a:t> et set. Dans la plupart des autres langages, les accesseurs sont des méthodes de la forme </a:t>
            </a:r>
            <a:r>
              <a:rPr lang="fr-FR" sz="2000" dirty="0" smtClean="0">
                <a:latin typeface="Times New Roman" panose="02020603050405020304" pitchFamily="18" charset="0"/>
                <a:cs typeface="Times New Roman" panose="02020603050405020304" pitchFamily="18" charset="0"/>
              </a:rPr>
              <a:t>et .</a:t>
            </a:r>
            <a:endParaRPr lang="fr-FR" sz="2000" dirty="0">
              <a:latin typeface="Times New Roman" panose="02020603050405020304" pitchFamily="18" charset="0"/>
              <a:cs typeface="Times New Roman" panose="02020603050405020304" pitchFamily="18" charset="0"/>
            </a:endParaRPr>
          </a:p>
          <a:p>
            <a:r>
              <a:rPr lang="fr-FR" sz="2000" b="1" dirty="0" err="1">
                <a:latin typeface="Times New Roman" panose="02020603050405020304" pitchFamily="18" charset="0"/>
                <a:cs typeface="Times New Roman" panose="02020603050405020304" pitchFamily="18" charset="0"/>
              </a:rPr>
              <a:t>getXXX</a:t>
            </a:r>
            <a:r>
              <a:rPr lang="fr-FR" sz="2000" dirty="0">
                <a:latin typeface="Times New Roman" panose="02020603050405020304" pitchFamily="18" charset="0"/>
                <a:cs typeface="Times New Roman" panose="02020603050405020304" pitchFamily="18" charset="0"/>
              </a:rPr>
              <a:t> </a:t>
            </a:r>
          </a:p>
          <a:p>
            <a:r>
              <a:rPr lang="fr-FR" sz="2000" b="1" dirty="0" err="1">
                <a:latin typeface="Times New Roman" panose="02020603050405020304" pitchFamily="18" charset="0"/>
                <a:cs typeface="Times New Roman" panose="02020603050405020304" pitchFamily="18" charset="0"/>
              </a:rPr>
              <a:t>setXXX</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Voici la classe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modifiée pour intégrer des accesseurs vers ses attributs, ainsi que son nouveau diagramme de classe</a:t>
            </a:r>
            <a:r>
              <a:rPr lang="fr-FR" sz="20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5202838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13.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Accesseurs</a:t>
            </a:r>
          </a:p>
        </p:txBody>
      </p:sp>
      <p:sp>
        <p:nvSpPr>
          <p:cNvPr id="8" name="ZoneTexte 7"/>
          <p:cNvSpPr txBox="1"/>
          <p:nvPr/>
        </p:nvSpPr>
        <p:spPr>
          <a:xfrm>
            <a:off x="480164" y="911772"/>
            <a:ext cx="11160000" cy="8402300"/>
          </a:xfrm>
          <a:prstGeom prst="rect">
            <a:avLst/>
          </a:prstGeom>
          <a:noFill/>
        </p:spPr>
        <p:txBody>
          <a:bodyPr wrap="square" rtlCol="0">
            <a:spAutoFit/>
          </a:bodyPr>
          <a:lstStyle/>
          <a:p>
            <a:pPr lvl="2" algn="just"/>
            <a:r>
              <a:rPr lang="fr-FR" sz="2000" dirty="0" smtClean="0">
                <a:latin typeface="Times New Roman" panose="02020603050405020304" pitchFamily="18" charset="0"/>
                <a:cs typeface="Times New Roman" panose="02020603050405020304" pitchFamily="18" charset="0"/>
              </a:rPr>
              <a:t>public </a:t>
            </a:r>
            <a:r>
              <a:rPr lang="fr-FR" sz="2000" dirty="0">
                <a:latin typeface="Times New Roman" panose="02020603050405020304" pitchFamily="18" charset="0"/>
                <a:cs typeface="Times New Roman" panose="02020603050405020304" pitchFamily="18" charset="0"/>
              </a:rPr>
              <a:t>class </a:t>
            </a:r>
            <a:r>
              <a:rPr lang="fr-FR" sz="2000" dirty="0" err="1">
                <a:latin typeface="Times New Roman" panose="02020603050405020304" pitchFamily="18" charset="0"/>
                <a:cs typeface="Times New Roman" panose="02020603050405020304" pitchFamily="18" charset="0"/>
              </a:rPr>
              <a:t>CompteBancaire</a:t>
            </a:r>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string titulaire;</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double solde;</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string devise;</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public string Titulaire</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get</a:t>
            </a:r>
            <a:r>
              <a:rPr lang="fr-FR" sz="2000" dirty="0">
                <a:latin typeface="Times New Roman" panose="02020603050405020304" pitchFamily="18" charset="0"/>
                <a:cs typeface="Times New Roman" panose="02020603050405020304" pitchFamily="18" charset="0"/>
              </a:rPr>
              <a:t> { return titulaire; }</a:t>
            </a:r>
          </a:p>
          <a:p>
            <a:pPr lvl="2" algn="just"/>
            <a:r>
              <a:rPr lang="fr-FR" sz="2000" dirty="0">
                <a:latin typeface="Times New Roman" panose="02020603050405020304" pitchFamily="18" charset="0"/>
                <a:cs typeface="Times New Roman" panose="02020603050405020304" pitchFamily="18" charset="0"/>
              </a:rPr>
              <a:t>        set { titulaire = value; }</a:t>
            </a:r>
          </a:p>
          <a:p>
            <a:pPr lvl="2" algn="just"/>
            <a:r>
              <a:rPr lang="fr-FR" sz="2000" dirty="0">
                <a:latin typeface="Times New Roman" panose="02020603050405020304" pitchFamily="18" charset="0"/>
                <a:cs typeface="Times New Roman" panose="02020603050405020304" pitchFamily="18" charset="0"/>
              </a:rPr>
              <a:t>    }</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public double Solde</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get</a:t>
            </a:r>
            <a:r>
              <a:rPr lang="fr-FR" sz="2000" dirty="0">
                <a:latin typeface="Times New Roman" panose="02020603050405020304" pitchFamily="18" charset="0"/>
                <a:cs typeface="Times New Roman" panose="02020603050405020304" pitchFamily="18" charset="0"/>
              </a:rPr>
              <a:t> { return solde; }</a:t>
            </a:r>
          </a:p>
          <a:p>
            <a:pPr lvl="2" algn="just"/>
            <a:r>
              <a:rPr lang="fr-FR" sz="2000" dirty="0">
                <a:latin typeface="Times New Roman" panose="02020603050405020304" pitchFamily="18" charset="0"/>
                <a:cs typeface="Times New Roman" panose="02020603050405020304" pitchFamily="18" charset="0"/>
              </a:rPr>
              <a:t>        set { solde = value; }</a:t>
            </a:r>
          </a:p>
          <a:p>
            <a:pPr lvl="2" algn="just"/>
            <a:r>
              <a:rPr lang="fr-FR" sz="2000" dirty="0">
                <a:latin typeface="Times New Roman" panose="02020603050405020304" pitchFamily="18" charset="0"/>
                <a:cs typeface="Times New Roman" panose="02020603050405020304" pitchFamily="18" charset="0"/>
              </a:rPr>
              <a:t>    }</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public string Devise</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get</a:t>
            </a:r>
            <a:r>
              <a:rPr lang="fr-FR" sz="2000" dirty="0">
                <a:latin typeface="Times New Roman" panose="02020603050405020304" pitchFamily="18" charset="0"/>
                <a:cs typeface="Times New Roman" panose="02020603050405020304" pitchFamily="18" charset="0"/>
              </a:rPr>
              <a:t> { return devise; }</a:t>
            </a:r>
          </a:p>
          <a:p>
            <a:pPr lvl="2" algn="just"/>
            <a:r>
              <a:rPr lang="fr-FR" sz="2000" dirty="0">
                <a:latin typeface="Times New Roman" panose="02020603050405020304" pitchFamily="18" charset="0"/>
                <a:cs typeface="Times New Roman" panose="02020603050405020304" pitchFamily="18" charset="0"/>
              </a:rPr>
              <a:t>        set { devise = value; }</a:t>
            </a:r>
          </a:p>
          <a:p>
            <a:pPr lvl="2" algn="just"/>
            <a:r>
              <a:rPr lang="fr-FR" sz="2000" dirty="0">
                <a:latin typeface="Times New Roman" panose="02020603050405020304" pitchFamily="18" charset="0"/>
                <a:cs typeface="Times New Roman" panose="02020603050405020304" pitchFamily="18" charset="0"/>
              </a:rPr>
              <a:t>    }</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 ...</a:t>
            </a:r>
          </a:p>
          <a:p>
            <a:pPr lvl="2" algn="just"/>
            <a:r>
              <a:rPr lang="fr-FR" sz="2000" dirty="0">
                <a:latin typeface="Times New Roman" panose="02020603050405020304" pitchFamily="18" charset="0"/>
                <a:cs typeface="Times New Roman" panose="02020603050405020304" pitchFamily="18" charset="0"/>
              </a:rPr>
              <a:t>}</a:t>
            </a:r>
            <a:endParaRPr lang="fr-FR" sz="2000" dirty="0" smtClean="0">
              <a:latin typeface="Times New Roman" panose="02020603050405020304" pitchFamily="18" charset="0"/>
              <a:cs typeface="Times New Roman" panose="02020603050405020304" pitchFamily="18" charset="0"/>
            </a:endParaRP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1753" y="911772"/>
            <a:ext cx="2763874" cy="5040000"/>
          </a:xfrm>
          <a:prstGeom prst="rect">
            <a:avLst/>
          </a:prstGeom>
        </p:spPr>
      </p:pic>
    </p:spTree>
    <p:extLst>
      <p:ext uri="{BB962C8B-B14F-4D97-AF65-F5344CB8AC3E}">
        <p14:creationId xmlns:p14="http://schemas.microsoft.com/office/powerpoint/2010/main" val="417123300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13.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Accesseurs</a:t>
            </a:r>
          </a:p>
        </p:txBody>
      </p:sp>
      <p:sp>
        <p:nvSpPr>
          <p:cNvPr id="8" name="ZoneTexte 7"/>
          <p:cNvSpPr txBox="1"/>
          <p:nvPr/>
        </p:nvSpPr>
        <p:spPr>
          <a:xfrm>
            <a:off x="480163" y="911772"/>
            <a:ext cx="11160000" cy="5632311"/>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Depuis la version 3 du langage, on peut définir les propriétés de manière automatique. Dans ce cas, l'attribut disparaît de la définition de le classe : sa présence est implicite. Voici l'exemple précédent réécrit en utilisant des propriétés automatiques</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public class </a:t>
            </a:r>
            <a:r>
              <a:rPr lang="fr-FR" sz="2000" dirty="0" err="1">
                <a:latin typeface="Times New Roman" panose="02020603050405020304" pitchFamily="18" charset="0"/>
                <a:cs typeface="Times New Roman" panose="02020603050405020304" pitchFamily="18" charset="0"/>
              </a:rPr>
              <a:t>CompteBancaire</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public string Titulaire { </a:t>
            </a:r>
            <a:r>
              <a:rPr lang="fr-FR" sz="2000" dirty="0" err="1">
                <a:latin typeface="Times New Roman" panose="02020603050405020304" pitchFamily="18" charset="0"/>
                <a:cs typeface="Times New Roman" panose="02020603050405020304" pitchFamily="18" charset="0"/>
              </a:rPr>
              <a:t>get</a:t>
            </a:r>
            <a:r>
              <a:rPr lang="fr-FR" sz="2000" dirty="0">
                <a:latin typeface="Times New Roman" panose="02020603050405020304" pitchFamily="18" charset="0"/>
                <a:cs typeface="Times New Roman" panose="02020603050405020304" pitchFamily="18" charset="0"/>
              </a:rPr>
              <a:t>; set; }</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public double Solde { </a:t>
            </a:r>
            <a:r>
              <a:rPr lang="fr-FR" sz="2000" dirty="0" err="1">
                <a:latin typeface="Times New Roman" panose="02020603050405020304" pitchFamily="18" charset="0"/>
                <a:cs typeface="Times New Roman" panose="02020603050405020304" pitchFamily="18" charset="0"/>
              </a:rPr>
              <a:t>get</a:t>
            </a:r>
            <a:r>
              <a:rPr lang="fr-FR" sz="2000" dirty="0">
                <a:latin typeface="Times New Roman" panose="02020603050405020304" pitchFamily="18" charset="0"/>
                <a:cs typeface="Times New Roman" panose="02020603050405020304" pitchFamily="18" charset="0"/>
              </a:rPr>
              <a:t>; set; }</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public string Devise { </a:t>
            </a:r>
            <a:r>
              <a:rPr lang="fr-FR" sz="2000" dirty="0" err="1">
                <a:latin typeface="Times New Roman" panose="02020603050405020304" pitchFamily="18" charset="0"/>
                <a:cs typeface="Times New Roman" panose="02020603050405020304" pitchFamily="18" charset="0"/>
              </a:rPr>
              <a:t>get</a:t>
            </a:r>
            <a:r>
              <a:rPr lang="fr-FR" sz="2000" dirty="0">
                <a:latin typeface="Times New Roman" panose="02020603050405020304" pitchFamily="18" charset="0"/>
                <a:cs typeface="Times New Roman" panose="02020603050405020304" pitchFamily="18" charset="0"/>
              </a:rPr>
              <a:t>; set; }</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 ...</a:t>
            </a:r>
          </a:p>
          <a:p>
            <a:pPr algn="just"/>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Cette syntaxe permet de gagner en concision si, comme le plus souvent, les accesseurs se contentent de donner accès à l'attribut sous-jacent sans rien faire de particulier</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Danger</a:t>
            </a:r>
            <a:r>
              <a:rPr lang="fr-FR" sz="2000" dirty="0" smtClean="0">
                <a:latin typeface="Times New Roman" panose="02020603050405020304" pitchFamily="18" charset="0"/>
                <a:cs typeface="Times New Roman" panose="02020603050405020304" pitchFamily="18" charset="0"/>
              </a:rPr>
              <a:t> ! </a:t>
            </a:r>
            <a:r>
              <a:rPr lang="fr-FR" sz="2000" dirty="0">
                <a:latin typeface="Times New Roman" panose="02020603050405020304" pitchFamily="18" charset="0"/>
                <a:cs typeface="Times New Roman" panose="02020603050405020304" pitchFamily="18" charset="0"/>
              </a:rPr>
              <a:t>Ne pas confondre un champ ou attribut (qui, par convention, commence par une lettre minuscule) avec une propriété au sens du C# (qui commence toujours par une lettre majuscule). </a:t>
            </a:r>
            <a:r>
              <a:rPr lang="fr-FR" sz="2000" b="1" dirty="0">
                <a:latin typeface="Times New Roman" panose="02020603050405020304" pitchFamily="18" charset="0"/>
                <a:cs typeface="Times New Roman" panose="02020603050405020304" pitchFamily="18" charset="0"/>
              </a:rPr>
              <a:t>Une propriété C# est un accesseur vers un champ.</a:t>
            </a:r>
            <a:endParaRPr lang="fr-FR" sz="2000"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081279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13.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Accesseurs</a:t>
            </a:r>
          </a:p>
        </p:txBody>
      </p:sp>
      <p:sp>
        <p:nvSpPr>
          <p:cNvPr id="8" name="ZoneTexte 7"/>
          <p:cNvSpPr txBox="1"/>
          <p:nvPr/>
        </p:nvSpPr>
        <p:spPr>
          <a:xfrm>
            <a:off x="480163" y="911772"/>
            <a:ext cx="11160000" cy="4708981"/>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Voici un exemple d'utilisation des accesseurs définis précédemment</a:t>
            </a:r>
            <a:r>
              <a:rPr lang="fr-FR" sz="2000" dirty="0" smtClean="0">
                <a:latin typeface="Times New Roman" panose="02020603050405020304" pitchFamily="18" charset="0"/>
                <a:cs typeface="Times New Roman" panose="02020603050405020304" pitchFamily="18" charset="0"/>
              </a:rPr>
              <a:t>.</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err="1" smtClean="0">
                <a:latin typeface="Times New Roman" panose="02020603050405020304" pitchFamily="18" charset="0"/>
                <a:cs typeface="Times New Roman" panose="02020603050405020304" pitchFamily="18" charset="0"/>
              </a:rPr>
              <a:t>CompteBancaire</a:t>
            </a:r>
            <a:r>
              <a:rPr lang="fr-FR" sz="2000" dirty="0" smtClean="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("Pierre", 1000, "euros");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utilisation des propriétés (accesseurs)</a:t>
            </a:r>
          </a:p>
          <a:p>
            <a:pPr algn="just"/>
            <a:r>
              <a:rPr lang="fr-FR" sz="2000" dirty="0">
                <a:latin typeface="Times New Roman" panose="02020603050405020304" pitchFamily="18" charset="0"/>
                <a:cs typeface="Times New Roman" panose="02020603050405020304" pitchFamily="18" charset="0"/>
              </a:rPr>
              <a:t>string </a:t>
            </a:r>
            <a:r>
              <a:rPr lang="fr-FR" sz="2000" dirty="0" err="1">
                <a:latin typeface="Times New Roman" panose="02020603050405020304" pitchFamily="18" charset="0"/>
                <a:cs typeface="Times New Roman" panose="02020603050405020304" pitchFamily="18" charset="0"/>
              </a:rPr>
              <a:t>titulaireCompte</a:t>
            </a:r>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comptePierre.Titulaire</a:t>
            </a:r>
            <a:r>
              <a:rPr lang="fr-FR" sz="2000" dirty="0">
                <a:latin typeface="Times New Roman" panose="02020603050405020304" pitchFamily="18" charset="0"/>
                <a:cs typeface="Times New Roman" panose="02020603050405020304" pitchFamily="18" charset="0"/>
              </a:rPr>
              <a:t>;  // en lecture (getter)</a:t>
            </a:r>
          </a:p>
          <a:p>
            <a:pPr algn="just"/>
            <a:r>
              <a:rPr lang="fr-FR" sz="2000" dirty="0" err="1">
                <a:latin typeface="Times New Roman" panose="02020603050405020304" pitchFamily="18" charset="0"/>
                <a:cs typeface="Times New Roman" panose="02020603050405020304" pitchFamily="18" charset="0"/>
              </a:rPr>
              <a:t>comptePierre.Solde</a:t>
            </a:r>
            <a:r>
              <a:rPr lang="fr-FR" sz="2000" dirty="0">
                <a:latin typeface="Times New Roman" panose="02020603050405020304" pitchFamily="18" charset="0"/>
                <a:cs typeface="Times New Roman" panose="02020603050405020304" pitchFamily="18" charset="0"/>
              </a:rPr>
              <a:t> = 500;                         // en écriture (setter)</a:t>
            </a:r>
          </a:p>
          <a:p>
            <a:pPr algn="just"/>
            <a:r>
              <a:rPr lang="fr-FR" sz="2000" dirty="0" err="1">
                <a:latin typeface="Times New Roman" panose="02020603050405020304" pitchFamily="18" charset="0"/>
                <a:cs typeface="Times New Roman" panose="02020603050405020304" pitchFamily="18" charset="0"/>
              </a:rPr>
              <a:t>comptePierre.Devise</a:t>
            </a:r>
            <a:r>
              <a:rPr lang="fr-FR" sz="2000" dirty="0">
                <a:latin typeface="Times New Roman" panose="02020603050405020304" pitchFamily="18" charset="0"/>
                <a:cs typeface="Times New Roman" panose="02020603050405020304" pitchFamily="18" charset="0"/>
              </a:rPr>
              <a:t> = "dollars";                  // en écriture (setter)</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En remplaçant l'accès direct à un attribut par l'utilisation d'une méthode, un accesseur permet d'effectuer des contrôles supplémentaires : respect d'une plage de valeurs, accès en lecture uniquement, etc</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On observe dans l'exemple ci-dessus qu'il est à nouveau possible de modifier directement les données d'un compte. Pour interdire ces modifications tout en permettant de lire les informations d'un compte, il suffit de supprimer les accesseurs en écriture (setters).</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062032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13.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Accesseurs</a:t>
            </a:r>
          </a:p>
        </p:txBody>
      </p:sp>
      <p:sp>
        <p:nvSpPr>
          <p:cNvPr id="8" name="ZoneTexte 7"/>
          <p:cNvSpPr txBox="1"/>
          <p:nvPr/>
        </p:nvSpPr>
        <p:spPr>
          <a:xfrm>
            <a:off x="480163" y="911772"/>
            <a:ext cx="11160000" cy="8402300"/>
          </a:xfrm>
          <a:prstGeom prst="rect">
            <a:avLst/>
          </a:prstGeom>
          <a:noFill/>
        </p:spPr>
        <p:txBody>
          <a:bodyPr wrap="square" rtlCol="0">
            <a:spAutoFit/>
          </a:bodyPr>
          <a:lstStyle/>
          <a:p>
            <a:pPr algn="just"/>
            <a:r>
              <a:rPr lang="fr-FR" sz="2000" dirty="0" smtClean="0">
                <a:latin typeface="Times New Roman" panose="02020603050405020304" pitchFamily="18" charset="0"/>
                <a:cs typeface="Times New Roman" panose="02020603050405020304" pitchFamily="18" charset="0"/>
              </a:rPr>
              <a:t>On </a:t>
            </a:r>
            <a:r>
              <a:rPr lang="fr-FR" sz="2000" dirty="0">
                <a:latin typeface="Times New Roman" panose="02020603050405020304" pitchFamily="18" charset="0"/>
                <a:cs typeface="Times New Roman" panose="02020603050405020304" pitchFamily="18" charset="0"/>
              </a:rPr>
              <a:t>observe dans l'exemple ci-dessus qu'il est à nouveau possible de modifier directement les données d'un compte. Pour interdire ces modifications tout en permettant de lire les informations d'un compte, il suffit de supprimer les accesseurs en écriture (setters</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public class </a:t>
            </a:r>
            <a:r>
              <a:rPr lang="fr-FR" sz="2000" dirty="0" err="1">
                <a:latin typeface="Times New Roman" panose="02020603050405020304" pitchFamily="18" charset="0"/>
                <a:cs typeface="Times New Roman" panose="02020603050405020304" pitchFamily="18" charset="0"/>
              </a:rPr>
              <a:t>CompteBancaire</a:t>
            </a:r>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string titulaire;</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double solde;</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string devise;</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public string Titulaire</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get</a:t>
            </a:r>
            <a:r>
              <a:rPr lang="fr-FR" sz="2000" dirty="0">
                <a:latin typeface="Times New Roman" panose="02020603050405020304" pitchFamily="18" charset="0"/>
                <a:cs typeface="Times New Roman" panose="02020603050405020304" pitchFamily="18" charset="0"/>
              </a:rPr>
              <a:t> { return titulaire; }</a:t>
            </a:r>
          </a:p>
          <a:p>
            <a:pPr lvl="2" algn="just"/>
            <a:r>
              <a:rPr lang="fr-FR" sz="2000" dirty="0">
                <a:latin typeface="Times New Roman" panose="02020603050405020304" pitchFamily="18" charset="0"/>
                <a:cs typeface="Times New Roman" panose="02020603050405020304" pitchFamily="18" charset="0"/>
              </a:rPr>
              <a:t>    }</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public double Solde</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get</a:t>
            </a:r>
            <a:r>
              <a:rPr lang="fr-FR" sz="2000" dirty="0">
                <a:latin typeface="Times New Roman" panose="02020603050405020304" pitchFamily="18" charset="0"/>
                <a:cs typeface="Times New Roman" panose="02020603050405020304" pitchFamily="18" charset="0"/>
              </a:rPr>
              <a:t> { return solde; }</a:t>
            </a:r>
          </a:p>
          <a:p>
            <a:pPr lvl="2" algn="just"/>
            <a:r>
              <a:rPr lang="fr-FR" sz="2000" dirty="0">
                <a:latin typeface="Times New Roman" panose="02020603050405020304" pitchFamily="18" charset="0"/>
                <a:cs typeface="Times New Roman" panose="02020603050405020304" pitchFamily="18" charset="0"/>
              </a:rPr>
              <a:t>    }</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public string Devise</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get</a:t>
            </a:r>
            <a:r>
              <a:rPr lang="fr-FR" sz="2000" dirty="0">
                <a:latin typeface="Times New Roman" panose="02020603050405020304" pitchFamily="18" charset="0"/>
                <a:cs typeface="Times New Roman" panose="02020603050405020304" pitchFamily="18" charset="0"/>
              </a:rPr>
              <a:t> { return devise; }</a:t>
            </a:r>
          </a:p>
          <a:p>
            <a:pPr lvl="2" algn="just"/>
            <a:r>
              <a:rPr lang="fr-FR" sz="2000" dirty="0">
                <a:latin typeface="Times New Roman" panose="02020603050405020304" pitchFamily="18" charset="0"/>
                <a:cs typeface="Times New Roman" panose="02020603050405020304" pitchFamily="18" charset="0"/>
              </a:rPr>
              <a:t>    }</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 ...</a:t>
            </a:r>
          </a:p>
          <a:p>
            <a:pPr lvl="2" algn="just"/>
            <a:r>
              <a:rPr lang="fr-FR" sz="2000" dirty="0">
                <a:latin typeface="Times New Roman" panose="02020603050405020304" pitchFamily="18" charset="0"/>
                <a:cs typeface="Times New Roman" panose="02020603050405020304" pitchFamily="18" charset="0"/>
              </a:rPr>
              <a:t>}</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050928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13.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Accesseurs</a:t>
            </a:r>
          </a:p>
        </p:txBody>
      </p:sp>
      <p:sp>
        <p:nvSpPr>
          <p:cNvPr id="8" name="ZoneTexte 7"/>
          <p:cNvSpPr txBox="1"/>
          <p:nvPr/>
        </p:nvSpPr>
        <p:spPr>
          <a:xfrm>
            <a:off x="480163" y="911772"/>
            <a:ext cx="11160000" cy="4708981"/>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Avec des propriétés automatiques, on peut seulement jouer sur le niveau de visibilité des accesseurs. La version 6 du langage C#, sortie en 2015, permet d'avoir réellement des propriétés automatiques en lecture seule (Plus de détails</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public class </a:t>
            </a:r>
            <a:r>
              <a:rPr lang="fr-FR" sz="2000" dirty="0" err="1">
                <a:latin typeface="Times New Roman" panose="02020603050405020304" pitchFamily="18" charset="0"/>
                <a:cs typeface="Times New Roman" panose="02020603050405020304" pitchFamily="18" charset="0"/>
              </a:rPr>
              <a:t>CompteBancaire</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public string Titulaire { </a:t>
            </a:r>
            <a:r>
              <a:rPr lang="fr-FR" sz="2000" dirty="0" err="1">
                <a:latin typeface="Times New Roman" panose="02020603050405020304" pitchFamily="18" charset="0"/>
                <a:cs typeface="Times New Roman" panose="02020603050405020304" pitchFamily="18" charset="0"/>
              </a:rPr>
              <a:t>get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set; }</a:t>
            </a:r>
          </a:p>
          <a:p>
            <a:pPr algn="just"/>
            <a:r>
              <a:rPr lang="fr-FR" sz="2000" dirty="0">
                <a:latin typeface="Times New Roman" panose="02020603050405020304" pitchFamily="18" charset="0"/>
                <a:cs typeface="Times New Roman" panose="02020603050405020304" pitchFamily="18" charset="0"/>
              </a:rPr>
              <a:t>    // public string Titulaire { </a:t>
            </a:r>
            <a:r>
              <a:rPr lang="fr-FR" sz="2000" dirty="0" err="1">
                <a:latin typeface="Times New Roman" panose="02020603050405020304" pitchFamily="18" charset="0"/>
                <a:cs typeface="Times New Roman" panose="02020603050405020304" pitchFamily="18" charset="0"/>
              </a:rPr>
              <a:t>get</a:t>
            </a:r>
            <a:r>
              <a:rPr lang="fr-FR" sz="2000" dirty="0">
                <a:latin typeface="Times New Roman" panose="02020603050405020304" pitchFamily="18" charset="0"/>
                <a:cs typeface="Times New Roman" panose="02020603050405020304" pitchFamily="18" charset="0"/>
              </a:rPr>
              <a:t>; } // Incorrect avant C# 6 (.NET </a:t>
            </a:r>
            <a:r>
              <a:rPr lang="fr-FR" sz="2000" dirty="0" err="1">
                <a:latin typeface="Times New Roman" panose="02020603050405020304" pitchFamily="18" charset="0"/>
                <a:cs typeface="Times New Roman" panose="02020603050405020304" pitchFamily="18" charset="0"/>
              </a:rPr>
              <a:t>framework</a:t>
            </a:r>
            <a:r>
              <a:rPr lang="fr-FR" sz="2000" dirty="0">
                <a:latin typeface="Times New Roman" panose="02020603050405020304" pitchFamily="18" charset="0"/>
                <a:cs typeface="Times New Roman" panose="02020603050405020304" pitchFamily="18" charset="0"/>
              </a:rPr>
              <a:t> 4.6)</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public double Solde { </a:t>
            </a:r>
            <a:r>
              <a:rPr lang="fr-FR" sz="2000" dirty="0" err="1">
                <a:latin typeface="Times New Roman" panose="02020603050405020304" pitchFamily="18" charset="0"/>
                <a:cs typeface="Times New Roman" panose="02020603050405020304" pitchFamily="18" charset="0"/>
              </a:rPr>
              <a:t>get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set; }</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public string Devise { </a:t>
            </a:r>
            <a:r>
              <a:rPr lang="fr-FR" sz="2000" dirty="0" err="1">
                <a:latin typeface="Times New Roman" panose="02020603050405020304" pitchFamily="18" charset="0"/>
                <a:cs typeface="Times New Roman" panose="02020603050405020304" pitchFamily="18" charset="0"/>
              </a:rPr>
              <a:t>get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set; }</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 ...</a:t>
            </a:r>
          </a:p>
          <a:p>
            <a:pPr algn="just"/>
            <a:r>
              <a:rPr lang="fr-FR" sz="2000" dirty="0">
                <a:latin typeface="Times New Roman" panose="02020603050405020304" pitchFamily="18" charset="0"/>
                <a:cs typeface="Times New Roman" panose="02020603050405020304" pitchFamily="18" charset="0"/>
              </a:rPr>
              <a:t>}</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574153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13.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Accesseurs</a:t>
            </a:r>
          </a:p>
        </p:txBody>
      </p:sp>
      <p:sp>
        <p:nvSpPr>
          <p:cNvPr id="8" name="ZoneTexte 7"/>
          <p:cNvSpPr txBox="1"/>
          <p:nvPr/>
        </p:nvSpPr>
        <p:spPr>
          <a:xfrm>
            <a:off x="480163" y="911772"/>
            <a:ext cx="11160000" cy="2862322"/>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À présent, l'accès aux champs est toujours possible, mais toute tentative de modification des données sera refusée</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("Pierre", 1000, "euros");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string </a:t>
            </a:r>
            <a:r>
              <a:rPr lang="fr-FR" sz="2000" dirty="0" err="1">
                <a:latin typeface="Times New Roman" panose="02020603050405020304" pitchFamily="18" charset="0"/>
                <a:cs typeface="Times New Roman" panose="02020603050405020304" pitchFamily="18" charset="0"/>
              </a:rPr>
              <a:t>titulaireCompte</a:t>
            </a:r>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comptePierre.Titulaire</a:t>
            </a:r>
            <a:r>
              <a:rPr lang="fr-FR" sz="2000" dirty="0">
                <a:latin typeface="Times New Roman" panose="02020603050405020304" pitchFamily="18" charset="0"/>
                <a:cs typeface="Times New Roman" panose="02020603050405020304" pitchFamily="18" charset="0"/>
              </a:rPr>
              <a:t>;  // OK : le getter existe</a:t>
            </a:r>
          </a:p>
          <a:p>
            <a:pPr algn="just"/>
            <a:r>
              <a:rPr lang="fr-FR" sz="2000" dirty="0" err="1">
                <a:latin typeface="Times New Roman" panose="02020603050405020304" pitchFamily="18" charset="0"/>
                <a:cs typeface="Times New Roman" panose="02020603050405020304" pitchFamily="18" charset="0"/>
              </a:rPr>
              <a:t>comptePierre.Solde</a:t>
            </a:r>
            <a:r>
              <a:rPr lang="fr-FR" sz="2000" dirty="0">
                <a:latin typeface="Times New Roman" panose="02020603050405020304" pitchFamily="18" charset="0"/>
                <a:cs typeface="Times New Roman" panose="02020603050405020304" pitchFamily="18" charset="0"/>
              </a:rPr>
              <a:t> = 500;                         // Erreur : pas de setter</a:t>
            </a:r>
          </a:p>
          <a:p>
            <a:pPr algn="just"/>
            <a:r>
              <a:rPr lang="fr-FR" sz="2000" dirty="0" err="1">
                <a:latin typeface="Times New Roman" panose="02020603050405020304" pitchFamily="18" charset="0"/>
                <a:cs typeface="Times New Roman" panose="02020603050405020304" pitchFamily="18" charset="0"/>
              </a:rPr>
              <a:t>comptePierre.Devise</a:t>
            </a:r>
            <a:r>
              <a:rPr lang="fr-FR" sz="2000" dirty="0">
                <a:latin typeface="Times New Roman" panose="02020603050405020304" pitchFamily="18" charset="0"/>
                <a:cs typeface="Times New Roman" panose="02020603050405020304" pitchFamily="18" charset="0"/>
              </a:rPr>
              <a:t> = "dollars";                  // Erreur : pas de setter</a:t>
            </a:r>
          </a:p>
          <a:p>
            <a:pPr algn="just"/>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455941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14.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Définition d'un attribut de </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classe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(attribut </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statique)</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4093428"/>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Imaginons que l'on souhaite identifier les comptes bancaires par un numéro unique. Le premier compte créé porterait le numéro 1, le second le numéro 2, etc.</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Une possibilité serait de passer le numéro de compte en paramètre au constructeur. Cependant, elle serait fastidieuse à utiliser (l'utilisateur de la classe doit gérer lui-même l'unicité et l'incrémentation des numéros) et source d'erreurs (aucun contrôle et risque de doublons dans les numéros).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Une meilleure solution consiste à internaliser la problématique de définition du numéro à l'intérieur de la classe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Il faudrait stocker dans la classe l'information sur le numéro du prochain compte. Lors de la création du compte suivant (c'est-à-dire lors du prochain appel au constructeur de la classe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le numéro du prochain compte lui serait attribué, puis incrémenté</a:t>
            </a:r>
            <a:r>
              <a:rPr lang="fr-FR" sz="2000" dirty="0" smtClean="0">
                <a:latin typeface="Times New Roman" panose="02020603050405020304" pitchFamily="18" charset="0"/>
                <a:cs typeface="Times New Roman" panose="02020603050405020304" pitchFamily="18" charset="0"/>
              </a:rPr>
              <a:t>.</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Essayons de mettre en œuvre cette stratégie.</a:t>
            </a:r>
          </a:p>
        </p:txBody>
      </p:sp>
    </p:spTree>
    <p:extLst>
      <p:ext uri="{BB962C8B-B14F-4D97-AF65-F5344CB8AC3E}">
        <p14:creationId xmlns:p14="http://schemas.microsoft.com/office/powerpoint/2010/main" val="294352491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14.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Définition d'un attribut de </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classe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(attribut </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statique)</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8094524"/>
          </a:xfrm>
          <a:prstGeom prst="rect">
            <a:avLst/>
          </a:prstGeom>
          <a:noFill/>
        </p:spPr>
        <p:txBody>
          <a:bodyPr wrap="square" rtlCol="0">
            <a:spAutoFit/>
          </a:bodyPr>
          <a:lstStyle/>
          <a:p>
            <a:pPr algn="just"/>
            <a:r>
              <a:rPr lang="fr-FR" sz="2000" dirty="0" smtClean="0">
                <a:latin typeface="Times New Roman" panose="02020603050405020304" pitchFamily="18" charset="0"/>
                <a:cs typeface="Times New Roman" panose="02020603050405020304" pitchFamily="18" charset="0"/>
              </a:rPr>
              <a:t>Essayons </a:t>
            </a:r>
            <a:r>
              <a:rPr lang="fr-FR" sz="2000" dirty="0">
                <a:latin typeface="Times New Roman" panose="02020603050405020304" pitchFamily="18" charset="0"/>
                <a:cs typeface="Times New Roman" panose="02020603050405020304" pitchFamily="18" charset="0"/>
              </a:rPr>
              <a:t>de mettre en œuvre cette stratégie</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public class </a:t>
            </a:r>
            <a:r>
              <a:rPr lang="fr-FR" sz="2000" dirty="0" err="1">
                <a:latin typeface="Times New Roman" panose="02020603050405020304" pitchFamily="18" charset="0"/>
                <a:cs typeface="Times New Roman" panose="02020603050405020304" pitchFamily="18" charset="0"/>
              </a:rPr>
              <a:t>CompteBancaire</a:t>
            </a:r>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string titulaire;</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double solde;</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string devise;</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numero</a:t>
            </a:r>
            <a:r>
              <a:rPr lang="fr-FR" sz="2000" dirty="0">
                <a:latin typeface="Times New Roman" panose="02020603050405020304" pitchFamily="18" charset="0"/>
                <a:cs typeface="Times New Roman" panose="02020603050405020304" pitchFamily="18" charset="0"/>
              </a:rPr>
              <a:t>;  // numéro du compte</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numeroProchainCompte</a:t>
            </a:r>
            <a:r>
              <a:rPr lang="fr-FR" sz="2000" dirty="0">
                <a:latin typeface="Times New Roman" panose="02020603050405020304" pitchFamily="18" charset="0"/>
                <a:cs typeface="Times New Roman" panose="02020603050405020304" pitchFamily="18" charset="0"/>
              </a:rPr>
              <a:t> = 1;  // numéro du prochain compte créé</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(string titulaire, double </a:t>
            </a:r>
            <a:r>
              <a:rPr lang="fr-FR" sz="2000" dirty="0" err="1">
                <a:latin typeface="Times New Roman" panose="02020603050405020304" pitchFamily="18" charset="0"/>
                <a:cs typeface="Times New Roman" panose="02020603050405020304" pitchFamily="18" charset="0"/>
              </a:rPr>
              <a:t>soldeInitial</a:t>
            </a:r>
            <a:r>
              <a:rPr lang="fr-FR" sz="2000" dirty="0">
                <a:latin typeface="Times New Roman" panose="02020603050405020304" pitchFamily="18" charset="0"/>
                <a:cs typeface="Times New Roman" panose="02020603050405020304" pitchFamily="18" charset="0"/>
              </a:rPr>
              <a:t>, string devise)</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 ... (initialisation des attributs titulaire, solde et devise)</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numero</a:t>
            </a:r>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numeroProchainCompte</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numeroProchainCompte</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 ...</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override</a:t>
            </a:r>
            <a:r>
              <a:rPr lang="fr-FR" sz="2000" dirty="0">
                <a:latin typeface="Times New Roman" panose="02020603050405020304" pitchFamily="18" charset="0"/>
                <a:cs typeface="Times New Roman" panose="02020603050405020304" pitchFamily="18" charset="0"/>
              </a:rPr>
              <a:t> string </a:t>
            </a:r>
            <a:r>
              <a:rPr lang="fr-FR" sz="2000" dirty="0" err="1">
                <a:latin typeface="Times New Roman" panose="02020603050405020304" pitchFamily="18" charset="0"/>
                <a:cs typeface="Times New Roman" panose="02020603050405020304" pitchFamily="18" charset="0"/>
              </a:rPr>
              <a:t>ToString</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return "Le solde du compte numéro " + </a:t>
            </a:r>
            <a:r>
              <a:rPr lang="fr-FR" sz="2000" dirty="0" err="1">
                <a:latin typeface="Times New Roman" panose="02020603050405020304" pitchFamily="18" charset="0"/>
                <a:cs typeface="Times New Roman" panose="02020603050405020304" pitchFamily="18" charset="0"/>
              </a:rPr>
              <a:t>numero</a:t>
            </a:r>
            <a:r>
              <a:rPr lang="fr-FR" sz="2000" dirty="0">
                <a:latin typeface="Times New Roman" panose="02020603050405020304" pitchFamily="18" charset="0"/>
                <a:cs typeface="Times New Roman" panose="02020603050405020304" pitchFamily="18" charset="0"/>
              </a:rPr>
              <a:t> + " de " + titulaire + " est de " + solde + " " + devise;</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470713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14.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Définition d'un attribut de </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classe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(attribut </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statique)</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4708981"/>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Cependant, on constate un problème lorsque l'on instancie plusieurs objets.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("Pierre");</a:t>
            </a:r>
          </a:p>
          <a:p>
            <a:pPr algn="just"/>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comptePaul</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("Paul");</a:t>
            </a:r>
          </a:p>
          <a:p>
            <a:pPr algn="just"/>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compteJacques</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("Jacques");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comptePierre</a:t>
            </a:r>
            <a:r>
              <a:rPr lang="fr-FR" sz="2000" dirty="0">
                <a:latin typeface="Times New Roman" panose="02020603050405020304" pitchFamily="18" charset="0"/>
                <a:cs typeface="Times New Roman" panose="02020603050405020304" pitchFamily="18" charset="0"/>
              </a:rPr>
              <a:t>);</a:t>
            </a:r>
          </a:p>
          <a:p>
            <a:pPr algn="just"/>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comptePaul</a:t>
            </a:r>
            <a:r>
              <a:rPr lang="fr-FR" sz="2000" dirty="0">
                <a:latin typeface="Times New Roman" panose="02020603050405020304" pitchFamily="18" charset="0"/>
                <a:cs typeface="Times New Roman" panose="02020603050405020304" pitchFamily="18" charset="0"/>
              </a:rPr>
              <a:t>);</a:t>
            </a:r>
          </a:p>
          <a:p>
            <a:pPr algn="just"/>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compteJacques</a:t>
            </a:r>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Tous les comptes portent le même numéro ! Cela vient du fait que chaque instance de la classe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dispose de ses propres attributs. Chaque objet a donc un attribut </a:t>
            </a:r>
            <a:r>
              <a:rPr lang="fr-FR" sz="2000" dirty="0" err="1">
                <a:latin typeface="Times New Roman" panose="02020603050405020304" pitchFamily="18" charset="0"/>
                <a:cs typeface="Times New Roman" panose="02020603050405020304" pitchFamily="18" charset="0"/>
              </a:rPr>
              <a:t>numeroProchainCompte</a:t>
            </a:r>
            <a:r>
              <a:rPr lang="fr-FR" sz="2000" dirty="0">
                <a:latin typeface="Times New Roman" panose="02020603050405020304" pitchFamily="18" charset="0"/>
                <a:cs typeface="Times New Roman" panose="02020603050405020304" pitchFamily="18" charset="0"/>
              </a:rPr>
              <a:t> qui lui est propre, avec une valeur spécifique. L'incrémentation de cet attribut dans le constructeur, lors de l'instanciation d'un compte, n'a aucun effet sur les attributs des instances existantes. Voici les valeurs de ces attributs une fois les objets créés.</a:t>
            </a:r>
          </a:p>
        </p:txBody>
      </p:sp>
    </p:spTree>
    <p:extLst>
      <p:ext uri="{BB962C8B-B14F-4D97-AF65-F5344CB8AC3E}">
        <p14:creationId xmlns:p14="http://schemas.microsoft.com/office/powerpoint/2010/main" val="234189674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14.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Définition d'un attribut de </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classe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(attribut </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statique)</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7478970"/>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La solution serait de lier l'attribut </a:t>
            </a:r>
            <a:r>
              <a:rPr lang="fr-FR" sz="2000" dirty="0" err="1">
                <a:latin typeface="Times New Roman" panose="02020603050405020304" pitchFamily="18" charset="0"/>
                <a:cs typeface="Times New Roman" panose="02020603050405020304" pitchFamily="18" charset="0"/>
              </a:rPr>
              <a:t>numeroProchainCompte</a:t>
            </a:r>
            <a:r>
              <a:rPr lang="fr-FR" sz="2000" dirty="0">
                <a:latin typeface="Times New Roman" panose="02020603050405020304" pitchFamily="18" charset="0"/>
                <a:cs typeface="Times New Roman" panose="02020603050405020304" pitchFamily="18" charset="0"/>
              </a:rPr>
              <a:t> à la classe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elle-même, et non à chacune de ses instances. Le même attribut serait partagé entre toutes les instances de la classe, ce qui permettrait d'obtenir des numéros de compte uniques.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On parle </a:t>
            </a:r>
            <a:r>
              <a:rPr lang="fr-FR" sz="2000" b="1" dirty="0">
                <a:latin typeface="Times New Roman" panose="02020603050405020304" pitchFamily="18" charset="0"/>
                <a:cs typeface="Times New Roman" panose="02020603050405020304" pitchFamily="18" charset="0"/>
              </a:rPr>
              <a:t>d'attributs de classe</a:t>
            </a:r>
            <a:r>
              <a:rPr lang="fr-FR" sz="2000" dirty="0">
                <a:latin typeface="Times New Roman" panose="02020603050405020304" pitchFamily="18" charset="0"/>
                <a:cs typeface="Times New Roman" panose="02020603050405020304" pitchFamily="18" charset="0"/>
              </a:rPr>
              <a:t>, par opposition aux attributs appelés </a:t>
            </a:r>
            <a:r>
              <a:rPr lang="fr-FR" sz="2000" b="1" dirty="0">
                <a:latin typeface="Times New Roman" panose="02020603050405020304" pitchFamily="18" charset="0"/>
                <a:cs typeface="Times New Roman" panose="02020603050405020304" pitchFamily="18" charset="0"/>
              </a:rPr>
              <a:t>attributs d'instance </a:t>
            </a:r>
            <a:r>
              <a:rPr lang="fr-FR" sz="2000" dirty="0">
                <a:latin typeface="Times New Roman" panose="02020603050405020304" pitchFamily="18" charset="0"/>
                <a:cs typeface="Times New Roman" panose="02020603050405020304" pitchFamily="18" charset="0"/>
              </a:rPr>
              <a:t>quand on veut distinguer les deux types d'attributs.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En C# (ainsi qu'en Java et en C++), la création d'un attribut de classe se fait en précisant sa définition grâce au mot-clé </a:t>
            </a:r>
            <a:r>
              <a:rPr lang="fr-FR" sz="2000" dirty="0" err="1">
                <a:latin typeface="Times New Roman" panose="02020603050405020304" pitchFamily="18" charset="0"/>
                <a:cs typeface="Times New Roman" panose="02020603050405020304" pitchFamily="18" charset="0"/>
              </a:rPr>
              <a:t>static</a:t>
            </a:r>
            <a:r>
              <a:rPr lang="fr-FR" sz="2000" dirty="0">
                <a:latin typeface="Times New Roman" panose="02020603050405020304" pitchFamily="18" charset="0"/>
                <a:cs typeface="Times New Roman" panose="02020603050405020304" pitchFamily="18" charset="0"/>
              </a:rPr>
              <a:t>, que vous avez déjà rencontré par ailleurs.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public class </a:t>
            </a:r>
            <a:r>
              <a:rPr lang="fr-FR" sz="2000" dirty="0" err="1">
                <a:latin typeface="Times New Roman" panose="02020603050405020304" pitchFamily="18" charset="0"/>
                <a:cs typeface="Times New Roman" panose="02020603050405020304" pitchFamily="18" charset="0"/>
              </a:rPr>
              <a:t>CompteBancaire</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 ...</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numero</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static</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numeroProchainCompte</a:t>
            </a:r>
            <a:r>
              <a:rPr lang="fr-FR" sz="2000" dirty="0">
                <a:latin typeface="Times New Roman" panose="02020603050405020304" pitchFamily="18" charset="0"/>
                <a:cs typeface="Times New Roman" panose="02020603050405020304" pitchFamily="18" charset="0"/>
              </a:rPr>
              <a:t> = 1;  // Numéro du prochain compte créé</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 ...</a:t>
            </a:r>
          </a:p>
          <a:p>
            <a:pPr algn="just"/>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 même programme principal donne à présent un résultat différent.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Ce résultat illustre le fait que l'attribut </a:t>
            </a:r>
            <a:r>
              <a:rPr lang="fr-FR" sz="2000" dirty="0" err="1">
                <a:latin typeface="Times New Roman" panose="02020603050405020304" pitchFamily="18" charset="0"/>
                <a:cs typeface="Times New Roman" panose="02020603050405020304" pitchFamily="18" charset="0"/>
              </a:rPr>
              <a:t>numeroProchainCompte</a:t>
            </a:r>
            <a:r>
              <a:rPr lang="fr-FR" sz="2000" dirty="0">
                <a:latin typeface="Times New Roman" panose="02020603050405020304" pitchFamily="18" charset="0"/>
                <a:cs typeface="Times New Roman" panose="02020603050405020304" pitchFamily="18" charset="0"/>
              </a:rPr>
              <a:t> est maintenant lié à la classe et partagé entre toutes ses instances. À chaque appel du constructeur, sa valeur courante est récupérée puis incrémentée. On obtient le comportement désiré.</a:t>
            </a:r>
          </a:p>
        </p:txBody>
      </p:sp>
    </p:spTree>
    <p:extLst>
      <p:ext uri="{BB962C8B-B14F-4D97-AF65-F5344CB8AC3E}">
        <p14:creationId xmlns:p14="http://schemas.microsoft.com/office/powerpoint/2010/main" val="366844060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15.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Définition d'une méthode de classe (méthode statique</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3477875"/>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Ce qui vient d'être vu pour les attributs s'applique également aux méthodes. En utilisant le mot-clé </a:t>
            </a:r>
            <a:r>
              <a:rPr lang="fr-FR" sz="2000" b="1" dirty="0" err="1">
                <a:latin typeface="Times New Roman" panose="02020603050405020304" pitchFamily="18" charset="0"/>
                <a:cs typeface="Times New Roman" panose="02020603050405020304" pitchFamily="18" charset="0"/>
              </a:rPr>
              <a:t>static</a:t>
            </a:r>
            <a:r>
              <a:rPr lang="fr-FR" sz="2000" dirty="0">
                <a:latin typeface="Times New Roman" panose="02020603050405020304" pitchFamily="18" charset="0"/>
                <a:cs typeface="Times New Roman" panose="02020603050405020304" pitchFamily="18" charset="0"/>
              </a:rPr>
              <a:t>, on définit une </a:t>
            </a:r>
            <a:r>
              <a:rPr lang="fr-FR" sz="2000" b="1" dirty="0">
                <a:latin typeface="Times New Roman" panose="02020603050405020304" pitchFamily="18" charset="0"/>
                <a:cs typeface="Times New Roman" panose="02020603050405020304" pitchFamily="18" charset="0"/>
              </a:rPr>
              <a:t>méthode de classe</a:t>
            </a:r>
            <a:r>
              <a:rPr lang="fr-FR" sz="2000" dirty="0">
                <a:latin typeface="Times New Roman" panose="02020603050405020304" pitchFamily="18" charset="0"/>
                <a:cs typeface="Times New Roman" panose="02020603050405020304" pitchFamily="18" charset="0"/>
              </a:rPr>
              <a:t>, par opposition aux méthodes habituelles appelées </a:t>
            </a:r>
            <a:r>
              <a:rPr lang="fr-FR" sz="2000" b="1" dirty="0">
                <a:latin typeface="Times New Roman" panose="02020603050405020304" pitchFamily="18" charset="0"/>
                <a:cs typeface="Times New Roman" panose="02020603050405020304" pitchFamily="18" charset="0"/>
              </a:rPr>
              <a:t>méthodes d'instance </a:t>
            </a:r>
            <a:r>
              <a:rPr lang="fr-FR" sz="2000" dirty="0">
                <a:latin typeface="Times New Roman" panose="02020603050405020304" pitchFamily="18" charset="0"/>
                <a:cs typeface="Times New Roman" panose="02020603050405020304" pitchFamily="18" charset="0"/>
              </a:rPr>
              <a:t>pour les distinguer.</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Imaginons que l'on souhaite pouvoir récupérer le numéro du prochain compte. Il faut ajouter une méthode à la classe </a:t>
            </a:r>
            <a:r>
              <a:rPr lang="fr-FR" sz="2000" dirty="0" err="1">
                <a:latin typeface="Times New Roman" panose="02020603050405020304" pitchFamily="18" charset="0"/>
                <a:cs typeface="Times New Roman" panose="02020603050405020304" pitchFamily="18" charset="0"/>
              </a:rPr>
              <a:t>CompteBancaire</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public </a:t>
            </a:r>
            <a:r>
              <a:rPr lang="fr-FR" sz="2000" dirty="0" err="1">
                <a:latin typeface="Times New Roman" panose="02020603050405020304" pitchFamily="18" charset="0"/>
                <a:cs typeface="Times New Roman" panose="02020603050405020304" pitchFamily="18" charset="0"/>
              </a:rPr>
              <a:t>static</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GetNumeroProchainCompte</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return </a:t>
            </a:r>
            <a:r>
              <a:rPr lang="fr-FR" sz="2000" dirty="0" err="1">
                <a:latin typeface="Times New Roman" panose="02020603050405020304" pitchFamily="18" charset="0"/>
                <a:cs typeface="Times New Roman" panose="02020603050405020304" pitchFamily="18" charset="0"/>
              </a:rPr>
              <a:t>numeroProchainCompte</a:t>
            </a:r>
            <a:r>
              <a:rPr lang="fr-FR" sz="2000" dirty="0">
                <a:latin typeface="Times New Roman" panose="02020603050405020304" pitchFamily="18" charset="0"/>
                <a:cs typeface="Times New Roman" panose="02020603050405020304" pitchFamily="18" charset="0"/>
              </a:rPr>
              <a:t>;</a:t>
            </a:r>
          </a:p>
          <a:p>
            <a:pPr algn="just"/>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6667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15.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Définition d'une méthode de classe (méthode statique</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5324535"/>
          </a:xfrm>
          <a:prstGeom prst="rect">
            <a:avLst/>
          </a:prstGeom>
          <a:noFill/>
        </p:spPr>
        <p:txBody>
          <a:bodyPr wrap="square" rtlCol="0">
            <a:spAutoFit/>
          </a:bodyPr>
          <a:lstStyle/>
          <a:p>
            <a:pPr algn="just"/>
            <a:r>
              <a:rPr lang="fr-FR" sz="2000" dirty="0" smtClean="0">
                <a:latin typeface="Times New Roman" panose="02020603050405020304" pitchFamily="18" charset="0"/>
                <a:cs typeface="Times New Roman" panose="02020603050405020304" pitchFamily="18" charset="0"/>
              </a:rPr>
              <a:t>On </a:t>
            </a:r>
            <a:r>
              <a:rPr lang="fr-FR" sz="2000" dirty="0">
                <a:latin typeface="Times New Roman" panose="02020603050405020304" pitchFamily="18" charset="0"/>
                <a:cs typeface="Times New Roman" panose="02020603050405020304" pitchFamily="18" charset="0"/>
              </a:rPr>
              <a:t>peut modifier le programme principal afin d'exploiter cette nouvelle méthode.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("Avant la 1re création : " + </a:t>
            </a:r>
            <a:r>
              <a:rPr lang="fr-FR" sz="2000" dirty="0" err="1">
                <a:latin typeface="Times New Roman" panose="02020603050405020304" pitchFamily="18" charset="0"/>
                <a:cs typeface="Times New Roman" panose="02020603050405020304" pitchFamily="18" charset="0"/>
              </a:rPr>
              <a:t>CompteBancaire.GetNumeroProchainCompte</a:t>
            </a:r>
            <a:r>
              <a:rPr lang="fr-FR" sz="2000" dirty="0">
                <a:latin typeface="Times New Roman" panose="02020603050405020304" pitchFamily="18" charset="0"/>
                <a:cs typeface="Times New Roman" panose="02020603050405020304" pitchFamily="18" charset="0"/>
              </a:rPr>
              <a:t>());</a:t>
            </a:r>
          </a:p>
          <a:p>
            <a:pPr algn="just"/>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comptePierre</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("Pierre");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("Avant la 2e création : " + </a:t>
            </a:r>
            <a:r>
              <a:rPr lang="fr-FR" sz="2000" dirty="0" err="1">
                <a:latin typeface="Times New Roman" panose="02020603050405020304" pitchFamily="18" charset="0"/>
                <a:cs typeface="Times New Roman" panose="02020603050405020304" pitchFamily="18" charset="0"/>
              </a:rPr>
              <a:t>CompteBancaire.GetNumeroProchainCompte</a:t>
            </a:r>
            <a:r>
              <a:rPr lang="fr-FR" sz="2000" dirty="0">
                <a:latin typeface="Times New Roman" panose="02020603050405020304" pitchFamily="18" charset="0"/>
                <a:cs typeface="Times New Roman" panose="02020603050405020304" pitchFamily="18" charset="0"/>
              </a:rPr>
              <a:t>());</a:t>
            </a:r>
          </a:p>
          <a:p>
            <a:pPr algn="just"/>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comptePaul</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("Paul");</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("Avant la 3e création : " + </a:t>
            </a:r>
            <a:r>
              <a:rPr lang="fr-FR" sz="2000" dirty="0" err="1">
                <a:latin typeface="Times New Roman" panose="02020603050405020304" pitchFamily="18" charset="0"/>
                <a:cs typeface="Times New Roman" panose="02020603050405020304" pitchFamily="18" charset="0"/>
              </a:rPr>
              <a:t>CompteBancaire.GetNumeroProchainCompte</a:t>
            </a:r>
            <a:r>
              <a:rPr lang="fr-FR" sz="2000" dirty="0">
                <a:latin typeface="Times New Roman" panose="02020603050405020304" pitchFamily="18" charset="0"/>
                <a:cs typeface="Times New Roman" panose="02020603050405020304" pitchFamily="18" charset="0"/>
              </a:rPr>
              <a:t>());</a:t>
            </a:r>
          </a:p>
          <a:p>
            <a:pPr algn="just"/>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compteJacques</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CompteBancaire</a:t>
            </a:r>
            <a:r>
              <a:rPr lang="fr-FR" sz="2000" dirty="0">
                <a:latin typeface="Times New Roman" panose="02020603050405020304" pitchFamily="18" charset="0"/>
                <a:cs typeface="Times New Roman" panose="02020603050405020304" pitchFamily="18" charset="0"/>
              </a:rPr>
              <a:t>("Jacques");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("Après la 3e création : " + </a:t>
            </a:r>
            <a:r>
              <a:rPr lang="fr-FR" sz="2000" dirty="0" err="1">
                <a:latin typeface="Times New Roman" panose="02020603050405020304" pitchFamily="18" charset="0"/>
                <a:cs typeface="Times New Roman" panose="02020603050405020304" pitchFamily="18" charset="0"/>
              </a:rPr>
              <a:t>CompteBancaire.GetNumeroProchainCompte</a:t>
            </a:r>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comptePierre</a:t>
            </a:r>
            <a:r>
              <a:rPr lang="fr-FR" sz="2000" dirty="0">
                <a:latin typeface="Times New Roman" panose="02020603050405020304" pitchFamily="18" charset="0"/>
                <a:cs typeface="Times New Roman" panose="02020603050405020304" pitchFamily="18" charset="0"/>
              </a:rPr>
              <a:t>);</a:t>
            </a:r>
          </a:p>
          <a:p>
            <a:pPr algn="just"/>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comptePaul</a:t>
            </a:r>
            <a:r>
              <a:rPr lang="fr-FR" sz="2000" dirty="0">
                <a:latin typeface="Times New Roman" panose="02020603050405020304" pitchFamily="18" charset="0"/>
                <a:cs typeface="Times New Roman" panose="02020603050405020304" pitchFamily="18" charset="0"/>
              </a:rPr>
              <a:t>);</a:t>
            </a:r>
          </a:p>
          <a:p>
            <a:pPr algn="just"/>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compteJacques</a:t>
            </a:r>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120081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15.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Définition d'une méthode de classe (méthode statique</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5632311"/>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Une méthode de classe s'utilise de manière différente d'une méthode d'instance. Elle peut s'utiliser en l'absence de toute instance de la classe. Étant donné qu'elle est liée à la classe et non à ses instances, on préfixe le nom de la méthode par le nom de la classe, par exemple </a:t>
            </a:r>
            <a:r>
              <a:rPr lang="fr-FR" sz="2000" dirty="0" err="1">
                <a:latin typeface="Times New Roman" panose="02020603050405020304" pitchFamily="18" charset="0"/>
                <a:cs typeface="Times New Roman" panose="02020603050405020304" pitchFamily="18" charset="0"/>
              </a:rPr>
              <a:t>CompteBancaire.GetNumeroProchainCompte</a:t>
            </a:r>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Une méthode de classe sert à définir un comportement indépendant de toute instance. Vous en avez déjà rencontrées certaines en utilisant les classes du </a:t>
            </a:r>
            <a:r>
              <a:rPr lang="fr-FR" sz="2000" dirty="0" err="1">
                <a:latin typeface="Times New Roman" panose="02020603050405020304" pitchFamily="18" charset="0"/>
                <a:cs typeface="Times New Roman" panose="02020603050405020304" pitchFamily="18" charset="0"/>
              </a:rPr>
              <a:t>framework</a:t>
            </a:r>
            <a:r>
              <a:rPr lang="fr-FR" sz="2000" dirty="0">
                <a:latin typeface="Times New Roman" panose="02020603050405020304" pitchFamily="18" charset="0"/>
                <a:cs typeface="Times New Roman" panose="02020603050405020304" pitchFamily="18" charset="0"/>
              </a:rPr>
              <a:t> .NET, par exemple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 ou </a:t>
            </a:r>
            <a:r>
              <a:rPr lang="fr-FR" sz="2000" dirty="0" err="1">
                <a:latin typeface="Times New Roman" panose="02020603050405020304" pitchFamily="18" charset="0"/>
                <a:cs typeface="Times New Roman" panose="02020603050405020304" pitchFamily="18" charset="0"/>
              </a:rPr>
              <a:t>Convert.ToDouble</a:t>
            </a:r>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Remarque</a:t>
            </a:r>
            <a:r>
              <a:rPr lang="fr-FR" sz="2000" dirty="0" smtClean="0">
                <a:latin typeface="Times New Roman" panose="02020603050405020304" pitchFamily="18" charset="0"/>
                <a:cs typeface="Times New Roman" panose="02020603050405020304" pitchFamily="18" charset="0"/>
              </a:rPr>
              <a:t> : </a:t>
            </a:r>
            <a:r>
              <a:rPr lang="fr-FR" sz="2000" dirty="0">
                <a:latin typeface="Times New Roman" panose="02020603050405020304" pitchFamily="18" charset="0"/>
                <a:cs typeface="Times New Roman" panose="02020603050405020304" pitchFamily="18" charset="0"/>
              </a:rPr>
              <a:t>la méthode Main, point d'entrée dans une application console en C#, est en réalité une méthode de classe de la classe Program.</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Il existe des contraintes, somme toute logiques, concernant les interactions entre membres de classe et membres d'instance</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Une </a:t>
            </a:r>
            <a:r>
              <a:rPr lang="fr-FR" sz="2000" dirty="0">
                <a:latin typeface="Times New Roman" panose="02020603050405020304" pitchFamily="18" charset="0"/>
                <a:cs typeface="Times New Roman" panose="02020603050405020304" pitchFamily="18" charset="0"/>
              </a:rPr>
              <a:t>méthode d'instance </a:t>
            </a:r>
            <a:r>
              <a:rPr lang="fr-FR" sz="2000" b="1" dirty="0">
                <a:latin typeface="Times New Roman" panose="02020603050405020304" pitchFamily="18" charset="0"/>
                <a:cs typeface="Times New Roman" panose="02020603050405020304" pitchFamily="18" charset="0"/>
              </a:rPr>
              <a:t>peut utiliser </a:t>
            </a:r>
            <a:r>
              <a:rPr lang="fr-FR" sz="2000" dirty="0">
                <a:latin typeface="Times New Roman" panose="02020603050405020304" pitchFamily="18" charset="0"/>
                <a:cs typeface="Times New Roman" panose="02020603050405020304" pitchFamily="18" charset="0"/>
              </a:rPr>
              <a:t>un membre de classe (attribut ou méthode).</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Une </a:t>
            </a:r>
            <a:r>
              <a:rPr lang="fr-FR" sz="2000" dirty="0">
                <a:latin typeface="Times New Roman" panose="02020603050405020304" pitchFamily="18" charset="0"/>
                <a:cs typeface="Times New Roman" panose="02020603050405020304" pitchFamily="18" charset="0"/>
              </a:rPr>
              <a:t>méthode de classe </a:t>
            </a:r>
            <a:r>
              <a:rPr lang="fr-FR" sz="2000" b="1" dirty="0">
                <a:latin typeface="Times New Roman" panose="02020603050405020304" pitchFamily="18" charset="0"/>
                <a:cs typeface="Times New Roman" panose="02020603050405020304" pitchFamily="18" charset="0"/>
              </a:rPr>
              <a:t>peut utiliser </a:t>
            </a:r>
            <a:r>
              <a:rPr lang="fr-FR" sz="2000" dirty="0">
                <a:latin typeface="Times New Roman" panose="02020603050405020304" pitchFamily="18" charset="0"/>
                <a:cs typeface="Times New Roman" panose="02020603050405020304" pitchFamily="18" charset="0"/>
              </a:rPr>
              <a:t>un membre de classe.</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Une </a:t>
            </a:r>
            <a:r>
              <a:rPr lang="fr-FR" sz="2000" dirty="0">
                <a:latin typeface="Times New Roman" panose="02020603050405020304" pitchFamily="18" charset="0"/>
                <a:cs typeface="Times New Roman" panose="02020603050405020304" pitchFamily="18" charset="0"/>
              </a:rPr>
              <a:t>méthode de classe </a:t>
            </a:r>
            <a:r>
              <a:rPr lang="fr-FR" sz="2000" b="1" dirty="0">
                <a:latin typeface="Times New Roman" panose="02020603050405020304" pitchFamily="18" charset="0"/>
                <a:cs typeface="Times New Roman" panose="02020603050405020304" pitchFamily="18" charset="0"/>
              </a:rPr>
              <a:t>ne peut pas utiliser </a:t>
            </a:r>
            <a:r>
              <a:rPr lang="fr-FR" sz="2000" dirty="0">
                <a:latin typeface="Times New Roman" panose="02020603050405020304" pitchFamily="18" charset="0"/>
                <a:cs typeface="Times New Roman" panose="02020603050405020304" pitchFamily="18" charset="0"/>
              </a:rPr>
              <a:t>un membre d'instance (attribut ou méthode).</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Une </a:t>
            </a:r>
            <a:r>
              <a:rPr lang="fr-FR" sz="2000" dirty="0">
                <a:latin typeface="Times New Roman" panose="02020603050405020304" pitchFamily="18" charset="0"/>
                <a:cs typeface="Times New Roman" panose="02020603050405020304" pitchFamily="18" charset="0"/>
              </a:rPr>
              <a:t>méthode de classe </a:t>
            </a:r>
            <a:r>
              <a:rPr lang="fr-FR" sz="2000" b="1" dirty="0">
                <a:latin typeface="Times New Roman" panose="02020603050405020304" pitchFamily="18" charset="0"/>
                <a:cs typeface="Times New Roman" panose="02020603050405020304" pitchFamily="18" charset="0"/>
              </a:rPr>
              <a:t>ne peut pas utiliser </a:t>
            </a:r>
            <a:r>
              <a:rPr lang="fr-FR" sz="2000" dirty="0">
                <a:latin typeface="Times New Roman" panose="02020603050405020304" pitchFamily="18" charset="0"/>
                <a:cs typeface="Times New Roman" panose="02020603050405020304" pitchFamily="18" charset="0"/>
              </a:rPr>
              <a:t>le mot-clé </a:t>
            </a:r>
            <a:r>
              <a:rPr lang="fr-FR" sz="2000" dirty="0" err="1">
                <a:latin typeface="Times New Roman" panose="02020603050405020304" pitchFamily="18" charset="0"/>
                <a:cs typeface="Times New Roman" panose="02020603050405020304" pitchFamily="18" charset="0"/>
              </a:rPr>
              <a:t>this</a:t>
            </a:r>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2063068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Destruction d'un objet</a:t>
            </a:r>
          </a:p>
        </p:txBody>
      </p:sp>
      <p:sp>
        <p:nvSpPr>
          <p:cNvPr id="8" name="ZoneTexte 7"/>
          <p:cNvSpPr txBox="1"/>
          <p:nvPr/>
        </p:nvSpPr>
        <p:spPr>
          <a:xfrm>
            <a:off x="480163" y="911772"/>
            <a:ext cx="11160000" cy="5940088"/>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L'instanciation d'un objet provoque la réservation d'espace mémoire. Sans libération de cet espace une fois que l'objet sera devenu inutile, le risque existe d'une saturation de la mémoire de l'application, voire du système</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Dans certains langages comme le C++, la libération de la mémoire est de la responsabilité du programmeur, ce qui est source de problèmes complexes. Heureusement pour vous, le C# a suivi l'exemple de Java et dispose d'une fonctionnalité de libération mémoire automatique appelée ramasse-miettes (</a:t>
            </a:r>
            <a:r>
              <a:rPr lang="fr-FR" sz="2000" dirty="0" err="1">
                <a:latin typeface="Times New Roman" panose="02020603050405020304" pitchFamily="18" charset="0"/>
                <a:cs typeface="Times New Roman" panose="02020603050405020304" pitchFamily="18" charset="0"/>
              </a:rPr>
              <a:t>garbage</a:t>
            </a:r>
            <a:r>
              <a:rPr lang="fr-FR" sz="2000" dirty="0">
                <a:latin typeface="Times New Roman" panose="02020603050405020304" pitchFamily="18" charset="0"/>
                <a:cs typeface="Times New Roman" panose="02020603050405020304" pitchFamily="18" charset="0"/>
              </a:rPr>
              <a:t> collector</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Cela fonctionne de manière simple : tout objet, une fois qu'il n'est plus pointé par aucune référence, devient éligible pour la destruction (c'est-à-dire la libération de l'espace mémoire associé</a:t>
            </a:r>
            <a:r>
              <a:rPr lang="fr-FR" sz="2000" dirty="0" smtClean="0">
                <a:latin typeface="Times New Roman" panose="02020603050405020304" pitchFamily="18" charset="0"/>
                <a:cs typeface="Times New Roman" panose="02020603050405020304" pitchFamily="18" charset="0"/>
              </a:rPr>
              <a:t>).</a:t>
            </a:r>
          </a:p>
          <a:p>
            <a:pPr algn="just"/>
            <a:endParaRPr lang="fr-FR" sz="2000" dirty="0" smtClean="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Dans l'exemple ci-dessus, l'objet initialement pointé par cercle2 n'est plus pointé par aucune référence et sera prochainement détruit automatiquement par le ramasse-miettes.</a:t>
            </a: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7760" y="3743555"/>
            <a:ext cx="4551899" cy="2340000"/>
          </a:xfrm>
          <a:prstGeom prst="rect">
            <a:avLst/>
          </a:prstGeom>
        </p:spPr>
      </p:pic>
    </p:spTree>
    <p:extLst>
      <p:ext uri="{BB962C8B-B14F-4D97-AF65-F5344CB8AC3E}">
        <p14:creationId xmlns:p14="http://schemas.microsoft.com/office/powerpoint/2010/main" val="420719125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TPs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5324535"/>
          </a:xfrm>
          <a:prstGeom prst="rect">
            <a:avLst/>
          </a:prstGeom>
          <a:noFill/>
        </p:spPr>
        <p:txBody>
          <a:bodyPr wrap="square" rtlCol="0">
            <a:spAutoFit/>
          </a:bodyPr>
          <a:lstStyle/>
          <a:p>
            <a:r>
              <a:rPr lang="fr-FR" sz="2000" b="1" dirty="0" smtClean="0">
                <a:latin typeface="Times New Roman" panose="02020603050405020304" pitchFamily="18" charset="0"/>
                <a:cs typeface="Times New Roman" panose="02020603050405020304" pitchFamily="18" charset="0"/>
              </a:rPr>
              <a:t>Exercice 1 :</a:t>
            </a:r>
            <a:endParaRPr lang="fr-FR" sz="2000" b="1"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1. Créer </a:t>
            </a:r>
            <a:r>
              <a:rPr lang="fr-FR" sz="2000" dirty="0">
                <a:latin typeface="Times New Roman" panose="02020603050405020304" pitchFamily="18" charset="0"/>
                <a:cs typeface="Times New Roman" panose="02020603050405020304" pitchFamily="18" charset="0"/>
              </a:rPr>
              <a:t>la classe Rectangle , qui a les champs : Hauteur , Largeur </a:t>
            </a:r>
          </a:p>
          <a:p>
            <a:r>
              <a:rPr lang="fr-FR" sz="2000" dirty="0" smtClean="0">
                <a:latin typeface="Times New Roman" panose="02020603050405020304" pitchFamily="18" charset="0"/>
                <a:cs typeface="Times New Roman" panose="02020603050405020304" pitchFamily="18" charset="0"/>
              </a:rPr>
              <a:t>2. Ajouter </a:t>
            </a:r>
            <a:r>
              <a:rPr lang="fr-FR" sz="2000" dirty="0">
                <a:latin typeface="Times New Roman" panose="02020603050405020304" pitchFamily="18" charset="0"/>
                <a:cs typeface="Times New Roman" panose="02020603050405020304" pitchFamily="18" charset="0"/>
              </a:rPr>
              <a:t>les méthodes pour calculer la surface et le périmètre </a:t>
            </a:r>
          </a:p>
          <a:p>
            <a:r>
              <a:rPr lang="fr-FR" sz="2000" dirty="0" smtClean="0">
                <a:latin typeface="Times New Roman" panose="02020603050405020304" pitchFamily="18" charset="0"/>
                <a:cs typeface="Times New Roman" panose="02020603050405020304" pitchFamily="18" charset="0"/>
              </a:rPr>
              <a:t>3. Ajouter </a:t>
            </a:r>
            <a:r>
              <a:rPr lang="fr-FR" sz="2000" dirty="0">
                <a:latin typeface="Times New Roman" panose="02020603050405020304" pitchFamily="18" charset="0"/>
                <a:cs typeface="Times New Roman" panose="02020603050405020304" pitchFamily="18" charset="0"/>
              </a:rPr>
              <a:t>un objet Rectangle </a:t>
            </a:r>
          </a:p>
          <a:p>
            <a:r>
              <a:rPr lang="fr-FR" sz="2000" dirty="0" smtClean="0">
                <a:latin typeface="Times New Roman" panose="02020603050405020304" pitchFamily="18" charset="0"/>
                <a:cs typeface="Times New Roman" panose="02020603050405020304" pitchFamily="18" charset="0"/>
              </a:rPr>
              <a:t>4. Demander </a:t>
            </a:r>
            <a:r>
              <a:rPr lang="fr-FR" sz="2000" dirty="0">
                <a:latin typeface="Times New Roman" panose="02020603050405020304" pitchFamily="18" charset="0"/>
                <a:cs typeface="Times New Roman" panose="02020603050405020304" pitchFamily="18" charset="0"/>
              </a:rPr>
              <a:t>à l’utilisateur de définir les valeurs de propriétés de l’objet crée .</a:t>
            </a:r>
          </a:p>
          <a:p>
            <a:r>
              <a:rPr lang="fr-FR" sz="2000" dirty="0" smtClean="0">
                <a:latin typeface="Times New Roman" panose="02020603050405020304" pitchFamily="18" charset="0"/>
                <a:cs typeface="Times New Roman" panose="02020603050405020304" pitchFamily="18" charset="0"/>
              </a:rPr>
              <a:t>5. Afficher </a:t>
            </a:r>
            <a:r>
              <a:rPr lang="fr-FR" sz="2000" dirty="0">
                <a:latin typeface="Times New Roman" panose="02020603050405020304" pitchFamily="18" charset="0"/>
                <a:cs typeface="Times New Roman" panose="02020603050405020304" pitchFamily="18" charset="0"/>
              </a:rPr>
              <a:t>les informations de l’objet </a:t>
            </a:r>
            <a:r>
              <a:rPr lang="fr-FR" sz="2000" dirty="0" smtClean="0">
                <a:latin typeface="Times New Roman" panose="02020603050405020304" pitchFamily="18" charset="0"/>
                <a:cs typeface="Times New Roman" panose="02020603050405020304" pitchFamily="18" charset="0"/>
              </a:rPr>
              <a:t>créé </a:t>
            </a:r>
          </a:p>
          <a:p>
            <a:endParaRPr lang="fr-FR" sz="2000" dirty="0">
              <a:latin typeface="Times New Roman" panose="02020603050405020304" pitchFamily="18" charset="0"/>
              <a:cs typeface="Times New Roman" panose="02020603050405020304" pitchFamily="18" charset="0"/>
            </a:endParaRPr>
          </a:p>
          <a:p>
            <a:r>
              <a:rPr lang="fr-FR" sz="2000" b="1" dirty="0" smtClean="0">
                <a:latin typeface="Times New Roman" panose="02020603050405020304" pitchFamily="18" charset="0"/>
                <a:cs typeface="Times New Roman" panose="02020603050405020304" pitchFamily="18" charset="0"/>
              </a:rPr>
              <a:t>Exercice 2 :</a:t>
            </a:r>
            <a:endParaRPr lang="fr-FR" sz="2000" b="1"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1</a:t>
            </a:r>
            <a:r>
              <a:rPr lang="fr-FR" sz="2000" dirty="0">
                <a:latin typeface="Times New Roman" panose="02020603050405020304" pitchFamily="18" charset="0"/>
                <a:cs typeface="Times New Roman" panose="02020603050405020304" pitchFamily="18" charset="0"/>
              </a:rPr>
              <a:t>.</a:t>
            </a:r>
            <a:r>
              <a:rPr lang="fr-FR" sz="2000" dirty="0" smtClean="0">
                <a:latin typeface="Times New Roman" panose="02020603050405020304" pitchFamily="18" charset="0"/>
                <a:cs typeface="Times New Roman" panose="02020603050405020304" pitchFamily="18" charset="0"/>
              </a:rPr>
              <a:t> Créer </a:t>
            </a:r>
            <a:r>
              <a:rPr lang="fr-FR" sz="2000" dirty="0">
                <a:latin typeface="Times New Roman" panose="02020603050405020304" pitchFamily="18" charset="0"/>
                <a:cs typeface="Times New Roman" panose="02020603050405020304" pitchFamily="18" charset="0"/>
              </a:rPr>
              <a:t>la classe Stagiaire qui a les propriétés suivants : </a:t>
            </a:r>
          </a:p>
          <a:p>
            <a:r>
              <a:rPr lang="fr-FR" sz="2000" dirty="0" err="1">
                <a:latin typeface="Times New Roman" panose="02020603050405020304" pitchFamily="18" charset="0"/>
                <a:cs typeface="Times New Roman" panose="02020603050405020304" pitchFamily="18" charset="0"/>
              </a:rPr>
              <a:t>Nom,Prénom,Age,Note</a:t>
            </a:r>
            <a:r>
              <a:rPr lang="fr-FR" sz="2000" dirty="0">
                <a:latin typeface="Times New Roman" panose="02020603050405020304" pitchFamily="18" charset="0"/>
                <a:cs typeface="Times New Roman" panose="02020603050405020304" pitchFamily="18" charset="0"/>
              </a:rPr>
              <a:t> :Tableau de taille5</a:t>
            </a:r>
          </a:p>
          <a:p>
            <a:r>
              <a:rPr lang="fr-FR" sz="2000" dirty="0" smtClean="0">
                <a:latin typeface="Times New Roman" panose="02020603050405020304" pitchFamily="18" charset="0"/>
                <a:cs typeface="Times New Roman" panose="02020603050405020304" pitchFamily="18" charset="0"/>
              </a:rPr>
              <a:t>2. Ajouter </a:t>
            </a:r>
            <a:r>
              <a:rPr lang="fr-FR" sz="2000" dirty="0">
                <a:latin typeface="Times New Roman" panose="02020603050405020304" pitchFamily="18" charset="0"/>
                <a:cs typeface="Times New Roman" panose="02020603050405020304" pitchFamily="18" charset="0"/>
              </a:rPr>
              <a:t>les méthodes suivantes :</a:t>
            </a:r>
          </a:p>
          <a:p>
            <a:pPr marL="285750" indent="-285750">
              <a:buFont typeface="Wingdings" panose="05000000000000000000" pitchFamily="2" charset="2"/>
              <a:buChar char="§"/>
            </a:pPr>
            <a:r>
              <a:rPr lang="fr-FR" sz="2000" dirty="0" err="1">
                <a:latin typeface="Times New Roman" panose="02020603050405020304" pitchFamily="18" charset="0"/>
                <a:cs typeface="Times New Roman" panose="02020603050405020304" pitchFamily="18" charset="0"/>
              </a:rPr>
              <a:t>CalculMoyenne</a:t>
            </a:r>
            <a:r>
              <a:rPr lang="fr-FR" sz="2000" dirty="0">
                <a:latin typeface="Times New Roman" panose="02020603050405020304" pitchFamily="18" charset="0"/>
                <a:cs typeface="Times New Roman" panose="02020603050405020304" pitchFamily="18" charset="0"/>
              </a:rPr>
              <a:t> : qui permet de retourner les moyennes des notes du stagiaires </a:t>
            </a:r>
            <a:endParaRPr lang="fr-FR" sz="20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fr-FR" sz="2000" dirty="0" err="1" smtClean="0">
                <a:latin typeface="Times New Roman" panose="02020603050405020304" pitchFamily="18" charset="0"/>
                <a:cs typeface="Times New Roman" panose="02020603050405020304" pitchFamily="18" charset="0"/>
              </a:rPr>
              <a:t>ValiderInscription</a:t>
            </a:r>
            <a:r>
              <a:rPr lang="fr-FR" sz="20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 Retourne </a:t>
            </a:r>
            <a:r>
              <a:rPr lang="fr-FR" sz="2000" dirty="0" err="1">
                <a:latin typeface="Times New Roman" panose="02020603050405020304" pitchFamily="18" charset="0"/>
                <a:cs typeface="Times New Roman" panose="02020603050405020304" pitchFamily="18" charset="0"/>
              </a:rPr>
              <a:t>true</a:t>
            </a:r>
            <a:r>
              <a:rPr lang="fr-FR" sz="2000" dirty="0">
                <a:latin typeface="Times New Roman" panose="02020603050405020304" pitchFamily="18" charset="0"/>
                <a:cs typeface="Times New Roman" panose="02020603050405020304" pitchFamily="18" charset="0"/>
              </a:rPr>
              <a:t> ou false </a:t>
            </a:r>
          </a:p>
          <a:p>
            <a:pPr lvl="5">
              <a:buFont typeface="Wingdings" panose="05000000000000000000" pitchFamily="2" charset="2"/>
              <a:buChar char="§"/>
            </a:pPr>
            <a:r>
              <a:rPr lang="fr-FR" sz="2000" dirty="0">
                <a:latin typeface="Times New Roman" panose="02020603050405020304" pitchFamily="18" charset="0"/>
                <a:cs typeface="Times New Roman" panose="02020603050405020304" pitchFamily="18" charset="0"/>
              </a:rPr>
              <a:t>Si l'âge du stagiaire est entre 18 et 25  return </a:t>
            </a:r>
            <a:r>
              <a:rPr lang="fr-FR" sz="2000" dirty="0" err="1">
                <a:latin typeface="Times New Roman" panose="02020603050405020304" pitchFamily="18" charset="0"/>
                <a:cs typeface="Times New Roman" panose="02020603050405020304" pitchFamily="18" charset="0"/>
              </a:rPr>
              <a:t>true</a:t>
            </a:r>
            <a:r>
              <a:rPr lang="fr-FR" sz="2000" dirty="0">
                <a:latin typeface="Times New Roman" panose="02020603050405020304" pitchFamily="18" charset="0"/>
                <a:cs typeface="Times New Roman" panose="02020603050405020304" pitchFamily="18" charset="0"/>
              </a:rPr>
              <a:t> </a:t>
            </a:r>
          </a:p>
          <a:p>
            <a:pPr lvl="5">
              <a:buFont typeface="Wingdings" panose="05000000000000000000" pitchFamily="2" charset="2"/>
              <a:buChar char="§"/>
            </a:pPr>
            <a:r>
              <a:rPr lang="fr-FR" sz="2000" dirty="0">
                <a:latin typeface="Times New Roman" panose="02020603050405020304" pitchFamily="18" charset="0"/>
                <a:cs typeface="Times New Roman" panose="02020603050405020304" pitchFamily="18" charset="0"/>
              </a:rPr>
              <a:t>Sinon return false </a:t>
            </a:r>
          </a:p>
          <a:p>
            <a:pPr marL="285750" indent="-285750">
              <a:buFont typeface="Wingdings" panose="05000000000000000000" pitchFamily="2" charset="2"/>
              <a:buChar char="§"/>
            </a:pPr>
            <a:r>
              <a:rPr lang="fr-FR" sz="2000" dirty="0">
                <a:latin typeface="Times New Roman" panose="02020603050405020304" pitchFamily="18" charset="0"/>
                <a:cs typeface="Times New Roman" panose="02020603050405020304" pitchFamily="18" charset="0"/>
              </a:rPr>
              <a:t>Affichage de nom , prénom, âge , Moyenne des notes</a:t>
            </a:r>
          </a:p>
          <a:p>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622002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TPs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4093428"/>
          </a:xfrm>
          <a:prstGeom prst="rect">
            <a:avLst/>
          </a:prstGeom>
          <a:noFill/>
        </p:spPr>
        <p:txBody>
          <a:bodyPr wrap="square" rtlCol="0">
            <a:spAutoFit/>
          </a:bodyPr>
          <a:lstStyle/>
          <a:p>
            <a:r>
              <a:rPr lang="fr-FR" sz="2000" b="1" dirty="0" smtClean="0">
                <a:latin typeface="Times New Roman" panose="02020603050405020304" pitchFamily="18" charset="0"/>
                <a:cs typeface="Times New Roman" panose="02020603050405020304" pitchFamily="18" charset="0"/>
              </a:rPr>
              <a:t>Exercice 3 </a:t>
            </a:r>
            <a:r>
              <a:rPr lang="fr-FR" sz="2000" b="1" dirty="0">
                <a:latin typeface="Times New Roman" panose="02020603050405020304" pitchFamily="18" charset="0"/>
                <a:cs typeface="Times New Roman" panose="02020603050405020304" pitchFamily="18" charset="0"/>
              </a:rPr>
              <a:t>:</a:t>
            </a:r>
          </a:p>
          <a:p>
            <a:r>
              <a:rPr lang="fr-FR" sz="2000" dirty="0" smtClean="0">
                <a:latin typeface="Times New Roman" panose="02020603050405020304" pitchFamily="18" charset="0"/>
                <a:cs typeface="Times New Roman" panose="02020603050405020304" pitchFamily="18" charset="0"/>
              </a:rPr>
              <a:t>1. Créer </a:t>
            </a:r>
            <a:r>
              <a:rPr lang="fr-FR" sz="2000" dirty="0">
                <a:latin typeface="Times New Roman" panose="02020603050405020304" pitchFamily="18" charset="0"/>
                <a:cs typeface="Times New Roman" panose="02020603050405020304" pitchFamily="18" charset="0"/>
              </a:rPr>
              <a:t>la classe Produit qui a les propriétés suivantes : </a:t>
            </a:r>
            <a:r>
              <a:rPr lang="fr-FR" sz="2000" dirty="0" err="1">
                <a:latin typeface="Times New Roman" panose="02020603050405020304" pitchFamily="18" charset="0"/>
                <a:cs typeface="Times New Roman" panose="02020603050405020304" pitchFamily="18" charset="0"/>
              </a:rPr>
              <a:t>Numéro,Intitule</a:t>
            </a:r>
            <a:r>
              <a:rPr lang="fr-FR" sz="2000" dirty="0">
                <a:latin typeface="Times New Roman" panose="02020603050405020304" pitchFamily="18" charset="0"/>
                <a:cs typeface="Times New Roman" panose="02020603050405020304" pitchFamily="18" charset="0"/>
              </a:rPr>
              <a:t> ,Prix </a:t>
            </a:r>
          </a:p>
          <a:p>
            <a:r>
              <a:rPr lang="fr-FR" sz="2000" dirty="0" smtClean="0">
                <a:latin typeface="Times New Roman" panose="02020603050405020304" pitchFamily="18" charset="0"/>
                <a:cs typeface="Times New Roman" panose="02020603050405020304" pitchFamily="18" charset="0"/>
              </a:rPr>
              <a:t>2. Ajouter </a:t>
            </a:r>
            <a:r>
              <a:rPr lang="fr-FR" sz="2000" dirty="0">
                <a:latin typeface="Times New Roman" panose="02020603050405020304" pitchFamily="18" charset="0"/>
                <a:cs typeface="Times New Roman" panose="02020603050405020304" pitchFamily="18" charset="0"/>
              </a:rPr>
              <a:t>les constructeurs : Par défaut</a:t>
            </a:r>
          </a:p>
          <a:p>
            <a:r>
              <a:rPr lang="fr-FR" sz="2000" dirty="0">
                <a:latin typeface="Times New Roman" panose="02020603050405020304" pitchFamily="18" charset="0"/>
                <a:cs typeface="Times New Roman" panose="02020603050405020304" pitchFamily="18" charset="0"/>
              </a:rPr>
              <a:t>                                                    D’initialisation</a:t>
            </a:r>
          </a:p>
          <a:p>
            <a:r>
              <a:rPr lang="fr-FR" sz="2000" dirty="0">
                <a:latin typeface="Times New Roman" panose="02020603050405020304" pitchFamily="18" charset="0"/>
                <a:cs typeface="Times New Roman" panose="02020603050405020304" pitchFamily="18" charset="0"/>
              </a:rPr>
              <a:t>		              De copie </a:t>
            </a:r>
          </a:p>
          <a:p>
            <a:r>
              <a:rPr lang="fr-FR" sz="2000" dirty="0" smtClean="0">
                <a:latin typeface="Times New Roman" panose="02020603050405020304" pitchFamily="18" charset="0"/>
                <a:cs typeface="Times New Roman" panose="02020603050405020304" pitchFamily="18" charset="0"/>
              </a:rPr>
              <a:t>3. Ajouter </a:t>
            </a:r>
            <a:r>
              <a:rPr lang="fr-FR" sz="2000" dirty="0">
                <a:latin typeface="Times New Roman" panose="02020603050405020304" pitchFamily="18" charset="0"/>
                <a:cs typeface="Times New Roman" panose="02020603050405020304" pitchFamily="18" charset="0"/>
              </a:rPr>
              <a:t>les méthodes suivantes :</a:t>
            </a:r>
          </a:p>
          <a:p>
            <a:pPr>
              <a:buFont typeface="Wingdings" panose="05000000000000000000" pitchFamily="2" charset="2"/>
              <a:buChar char="§"/>
            </a:pPr>
            <a:r>
              <a:rPr lang="fr-FR" sz="2000" dirty="0" smtClean="0">
                <a:latin typeface="Times New Roman" panose="02020603050405020304" pitchFamily="18" charset="0"/>
                <a:cs typeface="Times New Roman" panose="02020603050405020304" pitchFamily="18" charset="0"/>
              </a:rPr>
              <a:t> Affichage </a:t>
            </a:r>
            <a:endParaRPr lang="fr-FR"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fr-FR" sz="2000" dirty="0" smtClean="0">
                <a:latin typeface="Times New Roman" panose="02020603050405020304" pitchFamily="18" charset="0"/>
                <a:cs typeface="Times New Roman" panose="02020603050405020304" pitchFamily="18" charset="0"/>
              </a:rPr>
              <a:t> </a:t>
            </a:r>
            <a:r>
              <a:rPr lang="fr-FR" sz="2000" dirty="0" err="1" smtClean="0">
                <a:latin typeface="Times New Roman" panose="02020603050405020304" pitchFamily="18" charset="0"/>
                <a:cs typeface="Times New Roman" panose="02020603050405020304" pitchFamily="18" charset="0"/>
              </a:rPr>
              <a:t>PrixParRéduction</a:t>
            </a:r>
            <a:r>
              <a:rPr lang="fr-FR" sz="20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 qui retourne prix après réduction :</a:t>
            </a:r>
          </a:p>
          <a:p>
            <a:pPr lvl="6">
              <a:buFont typeface="Wingdings" panose="05000000000000000000" pitchFamily="2" charset="2"/>
              <a:buChar char="Ø"/>
            </a:pPr>
            <a:r>
              <a:rPr lang="fr-FR" sz="2000" dirty="0">
                <a:latin typeface="Times New Roman" panose="02020603050405020304" pitchFamily="18" charset="0"/>
                <a:cs typeface="Times New Roman" panose="02020603050405020304" pitchFamily="18" charset="0"/>
              </a:rPr>
              <a:t>Si le prix entre 200 et 1000 </a:t>
            </a:r>
            <a:r>
              <a:rPr lang="fr-FR" sz="2000" dirty="0">
                <a:latin typeface="Times New Roman" panose="02020603050405020304" pitchFamily="18" charset="0"/>
                <a:cs typeface="Times New Roman" panose="02020603050405020304" pitchFamily="18" charset="0"/>
                <a:sym typeface="Wingdings" panose="05000000000000000000" pitchFamily="2" charset="2"/>
              </a:rPr>
              <a:t>  La réduction est 10%</a:t>
            </a:r>
          </a:p>
          <a:p>
            <a:pPr lvl="6">
              <a:buFont typeface="Wingdings" panose="05000000000000000000" pitchFamily="2" charset="2"/>
              <a:buChar char="Ø"/>
            </a:pPr>
            <a:r>
              <a:rPr lang="fr-FR" sz="2000" dirty="0">
                <a:latin typeface="Times New Roman" panose="02020603050405020304" pitchFamily="18" charset="0"/>
                <a:cs typeface="Times New Roman" panose="02020603050405020304" pitchFamily="18" charset="0"/>
                <a:sym typeface="Wingdings" panose="05000000000000000000" pitchFamily="2" charset="2"/>
              </a:rPr>
              <a:t>Si le prix &gt;1000  	        La réduction est 20%</a:t>
            </a:r>
          </a:p>
          <a:p>
            <a:pPr lvl="6">
              <a:buFont typeface="Wingdings" panose="05000000000000000000" pitchFamily="2" charset="2"/>
              <a:buChar char="Ø"/>
            </a:pPr>
            <a:r>
              <a:rPr lang="fr-FR" sz="2000" dirty="0">
                <a:latin typeface="Times New Roman" panose="02020603050405020304" pitchFamily="18" charset="0"/>
                <a:cs typeface="Times New Roman" panose="02020603050405020304" pitchFamily="18" charset="0"/>
                <a:sym typeface="Wingdings" panose="05000000000000000000" pitchFamily="2" charset="2"/>
              </a:rPr>
              <a:t>Si le prix &lt;200                       il n’a aucune réduction </a:t>
            </a:r>
          </a:p>
          <a:p>
            <a:pPr>
              <a:buFont typeface="Wingdings" panose="05000000000000000000" pitchFamily="2" charset="2"/>
              <a:buChar char="§"/>
            </a:pPr>
            <a:r>
              <a:rPr lang="fr-FR" sz="2000" dirty="0">
                <a:latin typeface="Times New Roman" panose="02020603050405020304" pitchFamily="18" charset="0"/>
                <a:cs typeface="Times New Roman" panose="02020603050405020304" pitchFamily="18" charset="0"/>
                <a:sym typeface="Wingdings" panose="05000000000000000000" pitchFamily="2" charset="2"/>
              </a:rPr>
              <a:t> </a:t>
            </a:r>
            <a:r>
              <a:rPr lang="fr-FR" sz="2000" dirty="0" err="1">
                <a:latin typeface="Times New Roman" panose="02020603050405020304" pitchFamily="18" charset="0"/>
                <a:cs typeface="Times New Roman" panose="02020603050405020304" pitchFamily="18" charset="0"/>
                <a:sym typeface="Wingdings" panose="05000000000000000000" pitchFamily="2" charset="2"/>
              </a:rPr>
              <a:t>RechercheProduit</a:t>
            </a:r>
            <a:r>
              <a:rPr lang="fr-FR" sz="2000" dirty="0">
                <a:latin typeface="Times New Roman" panose="02020603050405020304" pitchFamily="18" charset="0"/>
                <a:cs typeface="Times New Roman" panose="02020603050405020304" pitchFamily="18" charset="0"/>
                <a:sym typeface="Wingdings" panose="05000000000000000000" pitchFamily="2" charset="2"/>
              </a:rPr>
              <a:t> : Retourne </a:t>
            </a:r>
            <a:r>
              <a:rPr lang="fr-FR" sz="2000" dirty="0" err="1">
                <a:latin typeface="Times New Roman" panose="02020603050405020304" pitchFamily="18" charset="0"/>
                <a:cs typeface="Times New Roman" panose="02020603050405020304" pitchFamily="18" charset="0"/>
                <a:sym typeface="Wingdings" panose="05000000000000000000" pitchFamily="2" charset="2"/>
              </a:rPr>
              <a:t>true</a:t>
            </a:r>
            <a:r>
              <a:rPr lang="fr-FR" sz="2000" dirty="0">
                <a:latin typeface="Times New Roman" panose="02020603050405020304" pitchFamily="18" charset="0"/>
                <a:cs typeface="Times New Roman" panose="02020603050405020304" pitchFamily="18" charset="0"/>
                <a:sym typeface="Wingdings" panose="05000000000000000000" pitchFamily="2" charset="2"/>
              </a:rPr>
              <a:t> ou false Si l’intitule du produit correspond tout au paramètre à      			l’intitule passé en paramètre .</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686599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err="1"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TPs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9633406"/>
          </a:xfrm>
          <a:prstGeom prst="rect">
            <a:avLst/>
          </a:prstGeom>
          <a:noFill/>
        </p:spPr>
        <p:txBody>
          <a:bodyPr wrap="square" rtlCol="0">
            <a:spAutoFit/>
          </a:bodyPr>
          <a:lstStyle/>
          <a:p>
            <a:r>
              <a:rPr lang="fr-FR" sz="2000" b="1" dirty="0" smtClean="0">
                <a:latin typeface="Times New Roman" panose="02020603050405020304" pitchFamily="18" charset="0"/>
                <a:cs typeface="Times New Roman" panose="02020603050405020304" pitchFamily="18" charset="0"/>
              </a:rPr>
              <a:t>Exercice 4 </a:t>
            </a:r>
            <a:r>
              <a:rPr lang="fr-FR" sz="2000" b="1" dirty="0">
                <a:latin typeface="Times New Roman" panose="02020603050405020304" pitchFamily="18" charset="0"/>
                <a:cs typeface="Times New Roman" panose="02020603050405020304" pitchFamily="18" charset="0"/>
              </a:rPr>
              <a:t>:</a:t>
            </a:r>
          </a:p>
          <a:p>
            <a:r>
              <a:rPr lang="fr-FR" sz="2000" dirty="0" smtClean="0">
                <a:latin typeface="Times New Roman" panose="02020603050405020304" pitchFamily="18" charset="0"/>
                <a:cs typeface="Times New Roman" panose="02020603050405020304" pitchFamily="18" charset="0"/>
              </a:rPr>
              <a:t>1. Créez </a:t>
            </a:r>
            <a:r>
              <a:rPr lang="fr-FR" sz="2000" dirty="0">
                <a:latin typeface="Times New Roman" panose="02020603050405020304" pitchFamily="18" charset="0"/>
                <a:cs typeface="Times New Roman" panose="02020603050405020304" pitchFamily="18" charset="0"/>
              </a:rPr>
              <a:t>une classe </a:t>
            </a:r>
            <a:r>
              <a:rPr lang="fr-FR" sz="2000" dirty="0" smtClean="0">
                <a:latin typeface="Times New Roman" panose="02020603050405020304" pitchFamily="18" charset="0"/>
                <a:cs typeface="Times New Roman" panose="02020603050405020304" pitchFamily="18" charset="0"/>
              </a:rPr>
              <a:t>Rectangle</a:t>
            </a:r>
            <a:r>
              <a:rPr lang="fr-FR" sz="2000" dirty="0">
                <a:latin typeface="Times New Roman" panose="02020603050405020304" pitchFamily="18" charset="0"/>
                <a:cs typeface="Times New Roman" panose="02020603050405020304" pitchFamily="18" charset="0"/>
              </a:rPr>
              <a:t>.</a:t>
            </a:r>
            <a:endParaRPr lang="fr-FR" sz="2000" dirty="0" smtClean="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2. Ajoutez </a:t>
            </a:r>
            <a:r>
              <a:rPr lang="fr-FR" sz="2000" dirty="0">
                <a:latin typeface="Times New Roman" panose="02020603050405020304" pitchFamily="18" charset="0"/>
                <a:cs typeface="Times New Roman" panose="02020603050405020304" pitchFamily="18" charset="0"/>
              </a:rPr>
              <a:t>des attributs à la classe : sa largeur </a:t>
            </a:r>
            <a:r>
              <a:rPr lang="fr-FR" sz="2000" dirty="0" err="1">
                <a:latin typeface="Times New Roman" panose="02020603050405020304" pitchFamily="18" charset="0"/>
                <a:cs typeface="Times New Roman" panose="02020603050405020304" pitchFamily="18" charset="0"/>
              </a:rPr>
              <a:t>largeur</a:t>
            </a:r>
            <a:r>
              <a:rPr lang="fr-FR" sz="2000" dirty="0">
                <a:latin typeface="Times New Roman" panose="02020603050405020304" pitchFamily="18" charset="0"/>
                <a:cs typeface="Times New Roman" panose="02020603050405020304" pitchFamily="18" charset="0"/>
              </a:rPr>
              <a:t>, sa hauteur </a:t>
            </a:r>
            <a:r>
              <a:rPr lang="fr-FR" sz="2000" dirty="0" err="1">
                <a:latin typeface="Times New Roman" panose="02020603050405020304" pitchFamily="18" charset="0"/>
                <a:cs typeface="Times New Roman" panose="02020603050405020304" pitchFamily="18" charset="0"/>
              </a:rPr>
              <a:t>hauteur</a:t>
            </a:r>
            <a:r>
              <a:rPr lang="fr-FR" sz="2000" dirty="0">
                <a:latin typeface="Times New Roman" panose="02020603050405020304" pitchFamily="18" charset="0"/>
                <a:cs typeface="Times New Roman" panose="02020603050405020304" pitchFamily="18" charset="0"/>
              </a:rPr>
              <a:t> en pixel et sa position à l’écran (</a:t>
            </a:r>
            <a:r>
              <a:rPr lang="fr-FR" sz="2000" dirty="0" err="1">
                <a:latin typeface="Times New Roman" panose="02020603050405020304" pitchFamily="18" charset="0"/>
                <a:cs typeface="Times New Roman" panose="02020603050405020304" pitchFamily="18" charset="0"/>
              </a:rPr>
              <a:t>positionX,positionY</a:t>
            </a:r>
            <a:r>
              <a:rPr lang="fr-FR" sz="2000" dirty="0">
                <a:latin typeface="Times New Roman" panose="02020603050405020304" pitchFamily="18" charset="0"/>
                <a:cs typeface="Times New Roman" panose="02020603050405020304" pitchFamily="18" charset="0"/>
              </a:rPr>
              <a:t>) en pixel</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3. Ajoutez </a:t>
            </a:r>
            <a:r>
              <a:rPr lang="fr-FR" sz="2000" dirty="0">
                <a:latin typeface="Times New Roman" panose="02020603050405020304" pitchFamily="18" charset="0"/>
                <a:cs typeface="Times New Roman" panose="02020603050405020304" pitchFamily="18" charset="0"/>
              </a:rPr>
              <a:t>un constructeur paramétrique qui initialise la taille et la position de l’objet</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4. Ajoutez </a:t>
            </a:r>
            <a:r>
              <a:rPr lang="fr-FR" sz="2000" dirty="0">
                <a:latin typeface="Times New Roman" panose="02020603050405020304" pitchFamily="18" charset="0"/>
                <a:cs typeface="Times New Roman" panose="02020603050405020304" pitchFamily="18" charset="0"/>
              </a:rPr>
              <a:t>une méthode d’instance Aire (sans argument) qui retourne l’aire du rectangle</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5. Dans </a:t>
            </a:r>
            <a:r>
              <a:rPr lang="fr-FR" sz="2000" dirty="0">
                <a:latin typeface="Times New Roman" panose="02020603050405020304" pitchFamily="18" charset="0"/>
                <a:cs typeface="Times New Roman" panose="02020603050405020304" pitchFamily="18" charset="0"/>
              </a:rPr>
              <a:t>la méthode Main de la classe Program </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a. Créez </a:t>
            </a:r>
            <a:r>
              <a:rPr lang="fr-FR" sz="2000" dirty="0">
                <a:latin typeface="Times New Roman" panose="02020603050405020304" pitchFamily="18" charset="0"/>
                <a:cs typeface="Times New Roman" panose="02020603050405020304" pitchFamily="18" charset="0"/>
              </a:rPr>
              <a:t>une nouvelle instance de la classe Rectangle de dimension 20 par 30 à la position (15,20</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b. Affichez </a:t>
            </a:r>
            <a:r>
              <a:rPr lang="fr-FR" sz="2000" dirty="0">
                <a:latin typeface="Times New Roman" panose="02020603050405020304" pitchFamily="18" charset="0"/>
                <a:cs typeface="Times New Roman" panose="02020603050405020304" pitchFamily="18" charset="0"/>
              </a:rPr>
              <a:t>les valeurs des attributs de l’objet créé</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c. Affichez </a:t>
            </a:r>
            <a:r>
              <a:rPr lang="fr-FR" sz="2000" dirty="0">
                <a:latin typeface="Times New Roman" panose="02020603050405020304" pitchFamily="18" charset="0"/>
                <a:cs typeface="Times New Roman" panose="02020603050405020304" pitchFamily="18" charset="0"/>
              </a:rPr>
              <a:t>l’aire de l’objet créé (utilisez la méthode Aire) afin de la calculer</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d. Exécutez </a:t>
            </a:r>
            <a:r>
              <a:rPr lang="fr-FR" sz="2000" dirty="0">
                <a:latin typeface="Times New Roman" panose="02020603050405020304" pitchFamily="18" charset="0"/>
                <a:cs typeface="Times New Roman" panose="02020603050405020304" pitchFamily="18" charset="0"/>
              </a:rPr>
              <a:t>votre programme et vérifiez que tout fonctionne correctement (ajoutez l’instruction </a:t>
            </a:r>
            <a:r>
              <a:rPr lang="fr-FR" sz="2000" dirty="0" err="1">
                <a:latin typeface="Times New Roman" panose="02020603050405020304" pitchFamily="18" charset="0"/>
                <a:cs typeface="Times New Roman" panose="02020603050405020304" pitchFamily="18" charset="0"/>
              </a:rPr>
              <a:t>Console.Read</a:t>
            </a:r>
            <a:r>
              <a:rPr lang="fr-FR" sz="2000" dirty="0">
                <a:latin typeface="Times New Roman" panose="02020603050405020304" pitchFamily="18" charset="0"/>
                <a:cs typeface="Times New Roman" panose="02020603050405020304" pitchFamily="18" charset="0"/>
              </a:rPr>
              <a:t>(); à la fin du Main pour éviter que la fenêtre ne se ferme tout de suite</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6. Ajoutez </a:t>
            </a:r>
            <a:r>
              <a:rPr lang="fr-FR" sz="2000" dirty="0">
                <a:latin typeface="Times New Roman" panose="02020603050405020304" pitchFamily="18" charset="0"/>
                <a:cs typeface="Times New Roman" panose="02020603050405020304" pitchFamily="18" charset="0"/>
              </a:rPr>
              <a:t>un constructeur sans argument qui initialise la forme comme un carré de coté 10 et de position (0,0). Respectez le principe DRY : utilisez le chainage de constructeurs pour que le corps de votre constructeur ne contienne aucune instruction </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7. Ajoutez </a:t>
            </a:r>
            <a:r>
              <a:rPr lang="fr-FR" sz="2000" dirty="0">
                <a:latin typeface="Times New Roman" panose="02020603050405020304" pitchFamily="18" charset="0"/>
                <a:cs typeface="Times New Roman" panose="02020603050405020304" pitchFamily="18" charset="0"/>
              </a:rPr>
              <a:t>une méthode </a:t>
            </a:r>
            <a:r>
              <a:rPr lang="fr-FR" sz="2000" dirty="0" err="1">
                <a:latin typeface="Times New Roman" panose="02020603050405020304" pitchFamily="18" charset="0"/>
                <a:cs typeface="Times New Roman" panose="02020603050405020304" pitchFamily="18" charset="0"/>
              </a:rPr>
              <a:t>DoublerTaille</a:t>
            </a:r>
            <a:r>
              <a:rPr lang="fr-FR" sz="2000" dirty="0">
                <a:latin typeface="Times New Roman" panose="02020603050405020304" pitchFamily="18" charset="0"/>
                <a:cs typeface="Times New Roman" panose="02020603050405020304" pitchFamily="18" charset="0"/>
              </a:rPr>
              <a:t> qui multiplie la largeur et la longueur du rectangle par 2</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8. Dans </a:t>
            </a:r>
            <a:r>
              <a:rPr lang="fr-FR" sz="2000" dirty="0">
                <a:latin typeface="Times New Roman" panose="02020603050405020304" pitchFamily="18" charset="0"/>
                <a:cs typeface="Times New Roman" panose="02020603050405020304" pitchFamily="18" charset="0"/>
              </a:rPr>
              <a:t>la méthode Main de la classe Program </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a. Créez </a:t>
            </a:r>
            <a:r>
              <a:rPr lang="fr-FR" sz="2000" dirty="0">
                <a:latin typeface="Times New Roman" panose="02020603050405020304" pitchFamily="18" charset="0"/>
                <a:cs typeface="Times New Roman" panose="02020603050405020304" pitchFamily="18" charset="0"/>
              </a:rPr>
              <a:t>une nouvelle instance de la classe Rectangle avec votre constructeur sans argument</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b. Doublez </a:t>
            </a:r>
            <a:r>
              <a:rPr lang="fr-FR" sz="2000" dirty="0">
                <a:latin typeface="Times New Roman" panose="02020603050405020304" pitchFamily="18" charset="0"/>
                <a:cs typeface="Times New Roman" panose="02020603050405020304" pitchFamily="18" charset="0"/>
              </a:rPr>
              <a:t>la taille du rectangle créé avec la méthode </a:t>
            </a:r>
            <a:r>
              <a:rPr lang="fr-FR" sz="2000" dirty="0" err="1">
                <a:latin typeface="Times New Roman" panose="02020603050405020304" pitchFamily="18" charset="0"/>
                <a:cs typeface="Times New Roman" panose="02020603050405020304" pitchFamily="18" charset="0"/>
              </a:rPr>
              <a:t>DoublerTaille</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c. Affichez </a:t>
            </a:r>
            <a:r>
              <a:rPr lang="fr-FR" sz="2000" dirty="0">
                <a:latin typeface="Times New Roman" panose="02020603050405020304" pitchFamily="18" charset="0"/>
                <a:cs typeface="Times New Roman" panose="02020603050405020304" pitchFamily="18" charset="0"/>
              </a:rPr>
              <a:t>les dimensions du rectangle pour vérifier que tout a bien fonctionné</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9. Ajoutez </a:t>
            </a:r>
            <a:r>
              <a:rPr lang="fr-FR" sz="2000" dirty="0">
                <a:latin typeface="Times New Roman" panose="02020603050405020304" pitchFamily="18" charset="0"/>
                <a:cs typeface="Times New Roman" panose="02020603050405020304" pitchFamily="18" charset="0"/>
              </a:rPr>
              <a:t>une méthode </a:t>
            </a:r>
            <a:r>
              <a:rPr lang="fr-FR" sz="2000" dirty="0" err="1">
                <a:latin typeface="Times New Roman" panose="02020603050405020304" pitchFamily="18" charset="0"/>
                <a:cs typeface="Times New Roman" panose="02020603050405020304" pitchFamily="18" charset="0"/>
              </a:rPr>
              <a:t>TestePlusPetit</a:t>
            </a:r>
            <a:r>
              <a:rPr lang="fr-FR" sz="2000" dirty="0">
                <a:latin typeface="Times New Roman" panose="02020603050405020304" pitchFamily="18" charset="0"/>
                <a:cs typeface="Times New Roman" panose="02020603050405020304" pitchFamily="18" charset="0"/>
              </a:rPr>
              <a:t> qui prend en paramètre un rectangle r et retourne vrai si l’aire de r est plus petite que l’aire de l’instance courante</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10. Dans </a:t>
            </a:r>
            <a:r>
              <a:rPr lang="fr-FR" sz="2000" dirty="0">
                <a:latin typeface="Times New Roman" panose="02020603050405020304" pitchFamily="18" charset="0"/>
                <a:cs typeface="Times New Roman" panose="02020603050405020304" pitchFamily="18" charset="0"/>
              </a:rPr>
              <a:t>la méthode Main de la classe Program </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a. Testez </a:t>
            </a:r>
            <a:r>
              <a:rPr lang="fr-FR" sz="2000" dirty="0">
                <a:latin typeface="Times New Roman" panose="02020603050405020304" pitchFamily="18" charset="0"/>
                <a:cs typeface="Times New Roman" panose="02020603050405020304" pitchFamily="18" charset="0"/>
              </a:rPr>
              <a:t>la méthode </a:t>
            </a:r>
            <a:r>
              <a:rPr lang="fr-FR" sz="2000" dirty="0" err="1">
                <a:latin typeface="Times New Roman" panose="02020603050405020304" pitchFamily="18" charset="0"/>
                <a:cs typeface="Times New Roman" panose="02020603050405020304" pitchFamily="18" charset="0"/>
              </a:rPr>
              <a:t>TestePlusPetit</a:t>
            </a:r>
            <a:r>
              <a:rPr lang="fr-FR" sz="2000" dirty="0">
                <a:latin typeface="Times New Roman" panose="02020603050405020304" pitchFamily="18" charset="0"/>
                <a:cs typeface="Times New Roman" panose="02020603050405020304" pitchFamily="18" charset="0"/>
              </a:rPr>
              <a:t> avec les 2 références de Rectangle déjà créées</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11. Créez </a:t>
            </a:r>
            <a:r>
              <a:rPr lang="fr-FR" sz="2000" dirty="0">
                <a:latin typeface="Times New Roman" panose="02020603050405020304" pitchFamily="18" charset="0"/>
                <a:cs typeface="Times New Roman" panose="02020603050405020304" pitchFamily="18" charset="0"/>
              </a:rPr>
              <a:t>le constructeur de recopie : constructeur qui reçoit en paramètre une référence sur un objet du même type et qui initialise à l’identique l’objet en cours de création. Respectez le principe DRY : utilisez le chainage de constructeurs pour que le corps de votre constructeur ne contienne aucune instruction </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12. Dans </a:t>
            </a:r>
            <a:r>
              <a:rPr lang="fr-FR" sz="2000" dirty="0">
                <a:latin typeface="Times New Roman" panose="02020603050405020304" pitchFamily="18" charset="0"/>
                <a:cs typeface="Times New Roman" panose="02020603050405020304" pitchFamily="18" charset="0"/>
              </a:rPr>
              <a:t>la méthode Main de la classe Program </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a. Créez </a:t>
            </a:r>
            <a:r>
              <a:rPr lang="fr-FR" sz="2000" dirty="0">
                <a:latin typeface="Times New Roman" panose="02020603050405020304" pitchFamily="18" charset="0"/>
                <a:cs typeface="Times New Roman" panose="02020603050405020304" pitchFamily="18" charset="0"/>
              </a:rPr>
              <a:t>une copie du premier rectangle créé</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b. Modifiez </a:t>
            </a:r>
            <a:r>
              <a:rPr lang="fr-FR" sz="2000" dirty="0">
                <a:latin typeface="Times New Roman" panose="02020603050405020304" pitchFamily="18" charset="0"/>
                <a:cs typeface="Times New Roman" panose="02020603050405020304" pitchFamily="18" charset="0"/>
              </a:rPr>
              <a:t>la largeur de la copie</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c. Vérifiez </a:t>
            </a:r>
            <a:r>
              <a:rPr lang="fr-FR" sz="2000" dirty="0">
                <a:latin typeface="Times New Roman" panose="02020603050405020304" pitchFamily="18" charset="0"/>
                <a:cs typeface="Times New Roman" panose="02020603050405020304" pitchFamily="18" charset="0"/>
              </a:rPr>
              <a:t>que la largeur du premier rectangle n’a pas changé</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623572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err="1"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TPs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6555641"/>
          </a:xfrm>
          <a:prstGeom prst="rect">
            <a:avLst/>
          </a:prstGeom>
          <a:noFill/>
        </p:spPr>
        <p:txBody>
          <a:bodyPr wrap="square" rtlCol="0">
            <a:spAutoFit/>
          </a:bodyPr>
          <a:lstStyle/>
          <a:p>
            <a:r>
              <a:rPr lang="fr-FR" sz="2000" b="1" dirty="0">
                <a:latin typeface="Times New Roman" panose="02020603050405020304" pitchFamily="18" charset="0"/>
                <a:cs typeface="Times New Roman" panose="02020603050405020304" pitchFamily="18" charset="0"/>
              </a:rPr>
              <a:t>Exercice </a:t>
            </a:r>
            <a:r>
              <a:rPr lang="fr-FR" sz="2000" b="1" dirty="0" smtClean="0">
                <a:latin typeface="Times New Roman" panose="02020603050405020304" pitchFamily="18" charset="0"/>
                <a:cs typeface="Times New Roman" panose="02020603050405020304" pitchFamily="18" charset="0"/>
              </a:rPr>
              <a:t>5 :</a:t>
            </a:r>
          </a:p>
          <a:p>
            <a:r>
              <a:rPr lang="fr-FR" sz="2000" dirty="0" smtClean="0">
                <a:latin typeface="Times New Roman" panose="02020603050405020304" pitchFamily="18" charset="0"/>
                <a:cs typeface="Times New Roman" panose="02020603050405020304" pitchFamily="18" charset="0"/>
              </a:rPr>
              <a:t>Créez </a:t>
            </a:r>
            <a:r>
              <a:rPr lang="fr-FR" sz="2000" dirty="0">
                <a:latin typeface="Times New Roman" panose="02020603050405020304" pitchFamily="18" charset="0"/>
                <a:cs typeface="Times New Roman" panose="02020603050405020304" pitchFamily="18" charset="0"/>
              </a:rPr>
              <a:t>la classe Salarie. </a:t>
            </a:r>
          </a:p>
          <a:p>
            <a:r>
              <a:rPr lang="fr-FR" sz="2000" dirty="0">
                <a:latin typeface="Times New Roman" panose="02020603050405020304" pitchFamily="18" charset="0"/>
                <a:cs typeface="Times New Roman" panose="02020603050405020304" pitchFamily="18" charset="0"/>
              </a:rPr>
              <a:t>Cette classe possédera 5 propriétés de visibilité privée :</a:t>
            </a:r>
          </a:p>
          <a:p>
            <a:pPr lvl="1"/>
            <a:r>
              <a:rPr lang="fr-FR" sz="2000" dirty="0">
                <a:latin typeface="Times New Roman" panose="02020603050405020304" pitchFamily="18" charset="0"/>
                <a:cs typeface="Times New Roman" panose="02020603050405020304" pitchFamily="18" charset="0"/>
              </a:rPr>
              <a:t>M</a:t>
            </a:r>
            <a:r>
              <a:rPr lang="fr-FR" sz="2000" dirty="0" smtClean="0">
                <a:latin typeface="Times New Roman" panose="02020603050405020304" pitchFamily="18" charset="0"/>
                <a:cs typeface="Times New Roman" panose="02020603050405020304" pitchFamily="18" charset="0"/>
              </a:rPr>
              <a:t>atricule</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	matricule</a:t>
            </a:r>
            <a:r>
              <a:rPr lang="fr-FR" sz="2000" dirty="0">
                <a:latin typeface="Times New Roman" panose="02020603050405020304" pitchFamily="18" charset="0"/>
                <a:cs typeface="Times New Roman" panose="02020603050405020304" pitchFamily="18" charset="0"/>
              </a:rPr>
              <a:t>	Int</a:t>
            </a:r>
          </a:p>
          <a:p>
            <a:pPr lvl="1"/>
            <a:r>
              <a:rPr lang="fr-FR" sz="2000" dirty="0">
                <a:latin typeface="Times New Roman" panose="02020603050405020304" pitchFamily="18" charset="0"/>
                <a:cs typeface="Times New Roman" panose="02020603050405020304" pitchFamily="18" charset="0"/>
              </a:rPr>
              <a:t>N</a:t>
            </a:r>
            <a:r>
              <a:rPr lang="fr-FR" sz="2000" dirty="0" smtClean="0">
                <a:latin typeface="Times New Roman" panose="02020603050405020304" pitchFamily="18" charset="0"/>
                <a:cs typeface="Times New Roman" panose="02020603050405020304" pitchFamily="18" charset="0"/>
              </a:rPr>
              <a:t>om </a:t>
            </a:r>
            <a:r>
              <a:rPr lang="fr-FR" sz="2000" dirty="0">
                <a:latin typeface="Times New Roman" panose="02020603050405020304" pitchFamily="18" charset="0"/>
                <a:cs typeface="Times New Roman" panose="02020603050405020304" pitchFamily="18" charset="0"/>
              </a:rPr>
              <a:t>			nom		String</a:t>
            </a:r>
          </a:p>
          <a:p>
            <a:pPr lvl="1"/>
            <a:r>
              <a:rPr lang="fr-FR" sz="2000" dirty="0">
                <a:latin typeface="Times New Roman" panose="02020603050405020304" pitchFamily="18" charset="0"/>
                <a:cs typeface="Times New Roman" panose="02020603050405020304" pitchFamily="18" charset="0"/>
              </a:rPr>
              <a:t>Prénom			</a:t>
            </a:r>
            <a:r>
              <a:rPr lang="fr-FR" sz="2000" dirty="0" err="1">
                <a:latin typeface="Times New Roman" panose="02020603050405020304" pitchFamily="18" charset="0"/>
                <a:cs typeface="Times New Roman" panose="02020603050405020304" pitchFamily="18" charset="0"/>
              </a:rPr>
              <a:t>prenom</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	String</a:t>
            </a:r>
            <a:endParaRPr lang="fr-FR" sz="2000" dirty="0">
              <a:latin typeface="Times New Roman" panose="02020603050405020304" pitchFamily="18" charset="0"/>
              <a:cs typeface="Times New Roman" panose="02020603050405020304" pitchFamily="18" charset="0"/>
            </a:endParaRPr>
          </a:p>
          <a:p>
            <a:pPr lvl="1"/>
            <a:r>
              <a:rPr lang="fr-FR" sz="2000" dirty="0">
                <a:latin typeface="Times New Roman" panose="02020603050405020304" pitchFamily="18" charset="0"/>
                <a:cs typeface="Times New Roman" panose="02020603050405020304" pitchFamily="18" charset="0"/>
              </a:rPr>
              <a:t>S</a:t>
            </a:r>
            <a:r>
              <a:rPr lang="fr-FR" sz="2000" dirty="0" smtClean="0">
                <a:latin typeface="Times New Roman" panose="02020603050405020304" pitchFamily="18" charset="0"/>
                <a:cs typeface="Times New Roman" panose="02020603050405020304" pitchFamily="18" charset="0"/>
              </a:rPr>
              <a:t>alaire</a:t>
            </a:r>
            <a:r>
              <a:rPr lang="fr-FR" sz="2000" dirty="0">
                <a:latin typeface="Times New Roman" panose="02020603050405020304" pitchFamily="18" charset="0"/>
                <a:cs typeface="Times New Roman" panose="02020603050405020304" pitchFamily="18" charset="0"/>
              </a:rPr>
              <a:t>			salaire		Double</a:t>
            </a:r>
          </a:p>
          <a:p>
            <a:pPr lvl="1"/>
            <a:r>
              <a:rPr lang="fr-FR" sz="2000" dirty="0">
                <a:latin typeface="Times New Roman" panose="02020603050405020304" pitchFamily="18" charset="0"/>
                <a:cs typeface="Times New Roman" panose="02020603050405020304" pitchFamily="18" charset="0"/>
              </a:rPr>
              <a:t>Taux Charges Sociales	</a:t>
            </a:r>
            <a:r>
              <a:rPr lang="fr-FR" sz="2000" dirty="0" err="1" smtClean="0">
                <a:latin typeface="Times New Roman" panose="02020603050405020304" pitchFamily="18" charset="0"/>
                <a:cs typeface="Times New Roman" panose="02020603050405020304" pitchFamily="18" charset="0"/>
              </a:rPr>
              <a:t>tauxCS</a:t>
            </a:r>
            <a:r>
              <a:rPr lang="fr-FR" sz="2000" dirty="0">
                <a:latin typeface="Times New Roman" panose="02020603050405020304" pitchFamily="18" charset="0"/>
                <a:cs typeface="Times New Roman" panose="02020603050405020304" pitchFamily="18" charset="0"/>
              </a:rPr>
              <a:t>	 	Double</a:t>
            </a:r>
          </a:p>
          <a:p>
            <a:r>
              <a:rPr lang="fr-FR" sz="2000" dirty="0">
                <a:latin typeface="Times New Roman" panose="02020603050405020304" pitchFamily="18" charset="0"/>
                <a:cs typeface="Times New Roman" panose="02020603050405020304" pitchFamily="18" charset="0"/>
              </a:rPr>
              <a:t> </a:t>
            </a:r>
          </a:p>
          <a:p>
            <a:pPr lvl="0"/>
            <a:r>
              <a:rPr lang="fr-FR" sz="2000" dirty="0" smtClean="0">
                <a:latin typeface="Times New Roman" panose="02020603050405020304" pitchFamily="18" charset="0"/>
                <a:cs typeface="Times New Roman" panose="02020603050405020304" pitchFamily="18" charset="0"/>
              </a:rPr>
              <a:t>1. Implémentez </a:t>
            </a:r>
            <a:r>
              <a:rPr lang="fr-FR" sz="2000" dirty="0">
                <a:latin typeface="Times New Roman" panose="02020603050405020304" pitchFamily="18" charset="0"/>
                <a:cs typeface="Times New Roman" panose="02020603050405020304" pitchFamily="18" charset="0"/>
              </a:rPr>
              <a:t>trois constructeurs (par défaut, d’initialisation et de recopie)</a:t>
            </a:r>
          </a:p>
          <a:p>
            <a:pPr lvl="0"/>
            <a:r>
              <a:rPr lang="fr-FR" sz="2000" dirty="0" smtClean="0">
                <a:latin typeface="Times New Roman" panose="02020603050405020304" pitchFamily="18" charset="0"/>
                <a:cs typeface="Times New Roman" panose="02020603050405020304" pitchFamily="18" charset="0"/>
              </a:rPr>
              <a:t>2. Implémenter </a:t>
            </a:r>
            <a:r>
              <a:rPr lang="fr-FR" sz="2000" dirty="0">
                <a:latin typeface="Times New Roman" panose="02020603050405020304" pitchFamily="18" charset="0"/>
                <a:cs typeface="Times New Roman" panose="02020603050405020304" pitchFamily="18" charset="0"/>
              </a:rPr>
              <a:t>les getters et les setters. </a:t>
            </a:r>
          </a:p>
          <a:p>
            <a:pPr lvl="0"/>
            <a:r>
              <a:rPr lang="fr-FR" sz="2000" dirty="0" smtClean="0">
                <a:latin typeface="Times New Roman" panose="02020603050405020304" pitchFamily="18" charset="0"/>
                <a:cs typeface="Times New Roman" panose="02020603050405020304" pitchFamily="18" charset="0"/>
              </a:rPr>
              <a:t>3. Implémentez </a:t>
            </a:r>
            <a:r>
              <a:rPr lang="fr-FR" sz="2000" dirty="0">
                <a:latin typeface="Times New Roman" panose="02020603050405020304" pitchFamily="18" charset="0"/>
                <a:cs typeface="Times New Roman" panose="02020603050405020304" pitchFamily="18" charset="0"/>
              </a:rPr>
              <a:t>la méthode affichage qui permet d’afficher les informations du salarie.</a:t>
            </a:r>
          </a:p>
          <a:p>
            <a:pPr lvl="0"/>
            <a:r>
              <a:rPr lang="fr-FR" sz="2000" dirty="0" smtClean="0">
                <a:latin typeface="Times New Roman" panose="02020603050405020304" pitchFamily="18" charset="0"/>
                <a:cs typeface="Times New Roman" panose="02020603050405020304" pitchFamily="18" charset="0"/>
              </a:rPr>
              <a:t>4. Implémentez </a:t>
            </a:r>
            <a:r>
              <a:rPr lang="fr-FR" sz="2000" dirty="0">
                <a:latin typeface="Times New Roman" panose="02020603050405020304" pitchFamily="18" charset="0"/>
                <a:cs typeface="Times New Roman" panose="02020603050405020304" pitchFamily="18" charset="0"/>
              </a:rPr>
              <a:t>la méthode </a:t>
            </a:r>
            <a:r>
              <a:rPr lang="fr-FR" sz="2000" dirty="0" err="1">
                <a:latin typeface="Times New Roman" panose="02020603050405020304" pitchFamily="18" charset="0"/>
                <a:cs typeface="Times New Roman" panose="02020603050405020304" pitchFamily="18" charset="0"/>
              </a:rPr>
              <a:t>CalculerSalaireNet</a:t>
            </a:r>
            <a:r>
              <a:rPr lang="fr-FR" sz="2000" dirty="0" smtClean="0">
                <a:latin typeface="Times New Roman" panose="02020603050405020304" pitchFamily="18" charset="0"/>
                <a:cs typeface="Times New Roman" panose="02020603050405020304" pitchFamily="18" charset="0"/>
              </a:rPr>
              <a:t>().</a:t>
            </a:r>
          </a:p>
          <a:p>
            <a:pPr lvl="1"/>
            <a:r>
              <a:rPr lang="fr-FR" sz="2000" dirty="0" smtClean="0">
                <a:latin typeface="Times New Roman" panose="02020603050405020304" pitchFamily="18" charset="0"/>
                <a:cs typeface="Times New Roman" panose="02020603050405020304" pitchFamily="18" charset="0"/>
              </a:rPr>
              <a:t>Elle </a:t>
            </a:r>
            <a:r>
              <a:rPr lang="fr-FR" sz="2000" dirty="0">
                <a:latin typeface="Times New Roman" panose="02020603050405020304" pitchFamily="18" charset="0"/>
                <a:cs typeface="Times New Roman" panose="02020603050405020304" pitchFamily="18" charset="0"/>
              </a:rPr>
              <a:t>doit calculer le salaire net d’un employé qui équivaut à :</a:t>
            </a:r>
          </a:p>
          <a:p>
            <a:pPr lvl="1"/>
            <a:r>
              <a:rPr lang="fr-FR" sz="2000" dirty="0" smtClean="0">
                <a:latin typeface="Times New Roman" panose="02020603050405020304" pitchFamily="18" charset="0"/>
                <a:cs typeface="Times New Roman" panose="02020603050405020304" pitchFamily="18" charset="0"/>
              </a:rPr>
              <a:t>salaire </a:t>
            </a:r>
            <a:r>
              <a:rPr lang="fr-FR" sz="2000" dirty="0">
                <a:latin typeface="Times New Roman" panose="02020603050405020304" pitchFamily="18" charset="0"/>
                <a:cs typeface="Times New Roman" panose="02020603050405020304" pitchFamily="18" charset="0"/>
              </a:rPr>
              <a:t>– (salaire*</a:t>
            </a:r>
            <a:r>
              <a:rPr lang="fr-FR" sz="2000" dirty="0" err="1">
                <a:latin typeface="Times New Roman" panose="02020603050405020304" pitchFamily="18" charset="0"/>
                <a:cs typeface="Times New Roman" panose="02020603050405020304" pitchFamily="18" charset="0"/>
              </a:rPr>
              <a:t>TauxCS</a:t>
            </a:r>
            <a:r>
              <a:rPr lang="fr-FR" sz="2000" dirty="0">
                <a:latin typeface="Times New Roman" panose="02020603050405020304" pitchFamily="18" charset="0"/>
                <a:cs typeface="Times New Roman" panose="02020603050405020304" pitchFamily="18" charset="0"/>
              </a:rPr>
              <a:t>) et retournera la valeur calculée.</a:t>
            </a:r>
          </a:p>
          <a:p>
            <a:pPr lvl="0"/>
            <a:r>
              <a:rPr lang="fr-FR" sz="2000" dirty="0" smtClean="0">
                <a:latin typeface="Times New Roman" panose="02020603050405020304" pitchFamily="18" charset="0"/>
                <a:cs typeface="Times New Roman" panose="02020603050405020304" pitchFamily="18" charset="0"/>
              </a:rPr>
              <a:t>5. Ecrire </a:t>
            </a:r>
            <a:r>
              <a:rPr lang="fr-FR" sz="2000" dirty="0">
                <a:latin typeface="Times New Roman" panose="02020603050405020304" pitchFamily="18" charset="0"/>
                <a:cs typeface="Times New Roman" panose="02020603050405020304" pitchFamily="18" charset="0"/>
              </a:rPr>
              <a:t>un programme pour tester la définition de votre classe et son bon fonctionnement. Pour ce faire : </a:t>
            </a:r>
          </a:p>
          <a:p>
            <a:pPr marL="342900" lvl="0" indent="-342900">
              <a:buFont typeface="Wingdings" panose="05000000000000000000" pitchFamily="2" charset="2"/>
              <a:buChar char="§"/>
            </a:pPr>
            <a:r>
              <a:rPr lang="fr-FR" sz="2000" dirty="0">
                <a:latin typeface="Times New Roman" panose="02020603050405020304" pitchFamily="18" charset="0"/>
                <a:cs typeface="Times New Roman" panose="02020603050405020304" pitchFamily="18" charset="0"/>
              </a:rPr>
              <a:t>Déclarez 2 variables de type Salarie et créez 2 instances de type Salarie.</a:t>
            </a:r>
          </a:p>
          <a:p>
            <a:pPr marL="342900" lvl="0" indent="-342900">
              <a:buFont typeface="Wingdings" panose="05000000000000000000" pitchFamily="2" charset="2"/>
              <a:buChar char="§"/>
            </a:pPr>
            <a:r>
              <a:rPr lang="fr-FR" sz="2000" dirty="0">
                <a:latin typeface="Times New Roman" panose="02020603050405020304" pitchFamily="18" charset="0"/>
                <a:cs typeface="Times New Roman" panose="02020603050405020304" pitchFamily="18" charset="0"/>
              </a:rPr>
              <a:t>Renseignez les propriétés de ces deux salariés. Choisissez des valeurs significatives pour les salaires et le taux de charge sociale afin de tester correctement le calcul réalisé par la méthode </a:t>
            </a:r>
            <a:r>
              <a:rPr lang="fr-FR" sz="2000" dirty="0" err="1">
                <a:latin typeface="Times New Roman" panose="02020603050405020304" pitchFamily="18" charset="0"/>
                <a:cs typeface="Times New Roman" panose="02020603050405020304" pitchFamily="18" charset="0"/>
              </a:rPr>
              <a:t>CalculerSalaireNet</a:t>
            </a:r>
            <a:r>
              <a:rPr lang="fr-FR" sz="2000" dirty="0">
                <a:latin typeface="Times New Roman" panose="02020603050405020304" pitchFamily="18" charset="0"/>
                <a:cs typeface="Times New Roman" panose="02020603050405020304" pitchFamily="18" charset="0"/>
              </a:rPr>
              <a:t>. Pour des salaires respectifs de 5 000 et 10 000 dirhams un taux de charges sociales de 25 % , vous devez trouver 3 750 et 7 500. </a:t>
            </a:r>
          </a:p>
        </p:txBody>
      </p:sp>
    </p:spTree>
    <p:extLst>
      <p:ext uri="{BB962C8B-B14F-4D97-AF65-F5344CB8AC3E}">
        <p14:creationId xmlns:p14="http://schemas.microsoft.com/office/powerpoint/2010/main" val="16506236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err="1"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TPs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19482256"/>
          </a:xfrm>
          <a:prstGeom prst="rect">
            <a:avLst/>
          </a:prstGeom>
          <a:noFill/>
        </p:spPr>
        <p:txBody>
          <a:bodyPr wrap="square" rtlCol="0">
            <a:spAutoFit/>
          </a:bodyPr>
          <a:lstStyle/>
          <a:p>
            <a:r>
              <a:rPr lang="fr-FR" sz="2000" b="1" dirty="0">
                <a:latin typeface="Times New Roman" panose="02020603050405020304" pitchFamily="18" charset="0"/>
                <a:cs typeface="Times New Roman" panose="02020603050405020304" pitchFamily="18" charset="0"/>
              </a:rPr>
              <a:t>Exercice 6</a:t>
            </a:r>
            <a:r>
              <a:rPr lang="fr-FR" sz="2000" b="1" dirty="0" smtClean="0">
                <a:latin typeface="Times New Roman" panose="02020603050405020304" pitchFamily="18" charset="0"/>
                <a:cs typeface="Times New Roman" panose="02020603050405020304" pitchFamily="18" charset="0"/>
              </a:rPr>
              <a:t> :</a:t>
            </a:r>
          </a:p>
          <a:p>
            <a:r>
              <a:rPr lang="fr-FR" sz="2000" dirty="0">
                <a:latin typeface="Times New Roman" panose="02020603050405020304" pitchFamily="18" charset="0"/>
                <a:cs typeface="Times New Roman" panose="02020603050405020304" pitchFamily="18" charset="0"/>
              </a:rPr>
              <a:t>Il s'agit de définir une classe permettant de modéliser des comptes bancaires. </a:t>
            </a:r>
          </a:p>
          <a:p>
            <a:r>
              <a:rPr lang="fr-FR" sz="2000" dirty="0">
                <a:latin typeface="Times New Roman" panose="02020603050405020304" pitchFamily="18" charset="0"/>
                <a:cs typeface="Times New Roman" panose="02020603050405020304" pitchFamily="18" charset="0"/>
              </a:rPr>
              <a:t>Un compte bancaire est identifié par un numéro de compte unique. Ce numéro est attribué par la banque à l'ouverture du compte et ne peut être modifié par la suite. Dans un souci de simplicité, les comptes sont numérotés de 1 à n, n étant le nombre de comptes qui ont été créés. Lorsqu’un nouveau compte est créé, le numéro qui lui est attribué est n+1.</a:t>
            </a:r>
          </a:p>
          <a:p>
            <a:r>
              <a:rPr lang="fr-FR" sz="2000" dirty="0">
                <a:latin typeface="Times New Roman" panose="02020603050405020304" pitchFamily="18" charset="0"/>
                <a:cs typeface="Times New Roman" panose="02020603050405020304" pitchFamily="18" charset="0"/>
              </a:rPr>
              <a:t>Un compte est associé à une personne titulaire du compte, cette personne étant décrite par son nom. Une fois le compte créé, le titulaire du compte ne peut plus être modifié. </a:t>
            </a:r>
          </a:p>
          <a:p>
            <a:r>
              <a:rPr lang="fr-FR" sz="2000" dirty="0">
                <a:latin typeface="Times New Roman" panose="02020603050405020304" pitchFamily="18" charset="0"/>
                <a:cs typeface="Times New Roman" panose="02020603050405020304" pitchFamily="18" charset="0"/>
              </a:rPr>
              <a:t>La somme d'argent disponible sur un compte est désignée sous le terme de solde du compte. Ce solde est un nombre décimal qui peut être positif, nul ou négatif.</a:t>
            </a:r>
          </a:p>
          <a:p>
            <a:r>
              <a:rPr lang="fr-FR" sz="2000" dirty="0">
                <a:latin typeface="Times New Roman" panose="02020603050405020304" pitchFamily="18" charset="0"/>
                <a:cs typeface="Times New Roman" panose="02020603050405020304" pitchFamily="18" charset="0"/>
              </a:rPr>
              <a:t>Le solde d'un compte peut être éventuellement (et temporairement) être négatif. Dans ce cas, on dit que le compte est à découvert. Le découvert d'un compte est nul si le solde du compte est positif ou nul, il est égal à la valeur absolue du solde si ce dernier est négatif.</a:t>
            </a:r>
          </a:p>
          <a:p>
            <a:r>
              <a:rPr lang="fr-FR" sz="2000" dirty="0">
                <a:latin typeface="Times New Roman" panose="02020603050405020304" pitchFamily="18" charset="0"/>
                <a:cs typeface="Times New Roman" panose="02020603050405020304" pitchFamily="18" charset="0"/>
              </a:rPr>
              <a:t>En aucun cas le solde d'un compte ne peut être inférieur à une valeur fixée pour ce compte. Cette valeur est définie comme étant - (moins) le découvert maximal autorisé pour ce compte. Par exemple pour un compte dont le découvert maximal autorisé est 2000 </a:t>
            </a:r>
            <a:r>
              <a:rPr lang="fr-FR" sz="2000" dirty="0" err="1">
                <a:latin typeface="Times New Roman" panose="02020603050405020304" pitchFamily="18" charset="0"/>
                <a:cs typeface="Times New Roman" panose="02020603050405020304" pitchFamily="18" charset="0"/>
              </a:rPr>
              <a:t>dhs</a:t>
            </a:r>
            <a:r>
              <a:rPr lang="fr-FR" sz="2000" dirty="0">
                <a:latin typeface="Times New Roman" panose="02020603050405020304" pitchFamily="18" charset="0"/>
                <a:cs typeface="Times New Roman" panose="02020603050405020304" pitchFamily="18" charset="0"/>
              </a:rPr>
              <a:t>, le solde ne pourra pas être inférieur à -2000 </a:t>
            </a:r>
            <a:r>
              <a:rPr lang="fr-FR" sz="2000" dirty="0" err="1">
                <a:latin typeface="Times New Roman" panose="02020603050405020304" pitchFamily="18" charset="0"/>
                <a:cs typeface="Times New Roman" panose="02020603050405020304" pitchFamily="18" charset="0"/>
              </a:rPr>
              <a:t>dhs</a:t>
            </a:r>
            <a:r>
              <a:rPr lang="fr-FR" sz="2000" dirty="0">
                <a:latin typeface="Times New Roman" panose="02020603050405020304" pitchFamily="18" charset="0"/>
                <a:cs typeface="Times New Roman" panose="02020603050405020304" pitchFamily="18" charset="0"/>
              </a:rPr>
              <a:t>. Le découvert maximal autorisé peut varier d'un compte à un autre, il est fixé arbitrairement par la banque à la création du compte et peut être ensuite révisé selon les modifications des revenus du titulaire du compte.</a:t>
            </a:r>
          </a:p>
          <a:p>
            <a:r>
              <a:rPr lang="fr-FR" sz="2000" dirty="0">
                <a:latin typeface="Times New Roman" panose="02020603050405020304" pitchFamily="18" charset="0"/>
                <a:cs typeface="Times New Roman" panose="02020603050405020304" pitchFamily="18" charset="0"/>
              </a:rPr>
              <a:t>Créditer un compte consiste à ajouter un montant positif au solde du compte.</a:t>
            </a:r>
          </a:p>
          <a:p>
            <a:r>
              <a:rPr lang="fr-FR" sz="2000" dirty="0">
                <a:latin typeface="Times New Roman" panose="02020603050405020304" pitchFamily="18" charset="0"/>
                <a:cs typeface="Times New Roman" panose="02020603050405020304" pitchFamily="18" charset="0"/>
              </a:rPr>
              <a:t>Débiter un compte consiste à retirer un montant positif au solde du compte. Le solde résultant ne doit en aucun cas être inférieur au découvert maximal autorisé pour ce compte.</a:t>
            </a:r>
          </a:p>
          <a:p>
            <a:r>
              <a:rPr lang="fr-FR" sz="2000" dirty="0">
                <a:latin typeface="Times New Roman" panose="02020603050405020304" pitchFamily="18" charset="0"/>
                <a:cs typeface="Times New Roman" panose="02020603050405020304" pitchFamily="18" charset="0"/>
              </a:rPr>
              <a:t>Lors d'une opération de retrait, un compte ne peut être débité d'un montant supérieur à une valeur désignée sous le terme de débit maximal autorisé. Comme le découvert maximal autorisé, le débit maximal autorisé peut varier d'un compte à un autre et est fixé arbitrairement par la banque à la création du compte. Il peut être ensuite révisé selon les modifications des revenus du titulaire du compte.</a:t>
            </a:r>
          </a:p>
          <a:p>
            <a:r>
              <a:rPr lang="fr-FR" sz="2000" dirty="0">
                <a:latin typeface="Times New Roman" panose="02020603050405020304" pitchFamily="18" charset="0"/>
                <a:cs typeface="Times New Roman" panose="02020603050405020304" pitchFamily="18" charset="0"/>
              </a:rPr>
              <a:t>Effectuer un virement consiste à débiter un compte au profit d'un autre compte qui sera crédité du montant du débit.</a:t>
            </a:r>
          </a:p>
          <a:p>
            <a:r>
              <a:rPr lang="fr-FR" sz="2000" dirty="0">
                <a:latin typeface="Times New Roman" panose="02020603050405020304" pitchFamily="18" charset="0"/>
                <a:cs typeface="Times New Roman" panose="02020603050405020304" pitchFamily="18" charset="0"/>
              </a:rPr>
              <a:t>Lors de la création d'un compte seul le nom du titulaire du compte est indispensable. En l'absence de dépôt initial le solde est fixé à 0. Les valeurs par défaut pour le découvert maximal autorisé et le débit maximal autorisé sont respectivement de 800  et 1000. Il est éventuellement possible d'attribuer d'autres valeurs à ces caractéristiques du compte lors de sa création.</a:t>
            </a:r>
          </a:p>
          <a:p>
            <a:r>
              <a:rPr lang="fr-FR" sz="2000" dirty="0">
                <a:latin typeface="Times New Roman" panose="02020603050405020304" pitchFamily="18" charset="0"/>
                <a:cs typeface="Times New Roman" panose="02020603050405020304" pitchFamily="18" charset="0"/>
              </a:rPr>
              <a:t>Toutes les informations concernant un compte peuvent être consultées : numéro du compte, nom du titulaire, montant du découvert maximal autorisé, montant du débit maximal autorisé.</a:t>
            </a:r>
          </a:p>
          <a:p>
            <a:r>
              <a:rPr lang="fr-FR" sz="2000" dirty="0">
                <a:latin typeface="Times New Roman" panose="02020603050405020304" pitchFamily="18" charset="0"/>
                <a:cs typeface="Times New Roman" panose="02020603050405020304" pitchFamily="18" charset="0"/>
              </a:rPr>
              <a:t>Travail demandé </a:t>
            </a:r>
          </a:p>
          <a:p>
            <a:r>
              <a:rPr lang="fr-FR" sz="2000" dirty="0" smtClean="0">
                <a:latin typeface="Times New Roman" panose="02020603050405020304" pitchFamily="18" charset="0"/>
                <a:cs typeface="Times New Roman" panose="02020603050405020304" pitchFamily="18" charset="0"/>
              </a:rPr>
              <a:t>1- A </a:t>
            </a:r>
            <a:r>
              <a:rPr lang="fr-FR" sz="2000" dirty="0">
                <a:latin typeface="Times New Roman" panose="02020603050405020304" pitchFamily="18" charset="0"/>
                <a:cs typeface="Times New Roman" panose="02020603050405020304" pitchFamily="18" charset="0"/>
              </a:rPr>
              <a:t>partir du "cahier des charges" précédent élaborer une spécification d'une classe modélisant un compte bancaire. Il s'agira en analysant le texte ci-dessus de :</a:t>
            </a:r>
          </a:p>
          <a:p>
            <a:r>
              <a:rPr lang="fr-FR" sz="2000" dirty="0" smtClean="0">
                <a:latin typeface="Times New Roman" panose="02020603050405020304" pitchFamily="18" charset="0"/>
                <a:cs typeface="Times New Roman" panose="02020603050405020304" pitchFamily="18" charset="0"/>
              </a:rPr>
              <a:t>• Définir </a:t>
            </a:r>
            <a:r>
              <a:rPr lang="fr-FR" sz="2000" dirty="0">
                <a:latin typeface="Times New Roman" panose="02020603050405020304" pitchFamily="18" charset="0"/>
                <a:cs typeface="Times New Roman" panose="02020603050405020304" pitchFamily="18" charset="0"/>
              </a:rPr>
              <a:t>les attributs de la classe Compte</a:t>
            </a:r>
          </a:p>
          <a:p>
            <a:r>
              <a:rPr lang="fr-FR" sz="2000" dirty="0" smtClean="0">
                <a:latin typeface="Times New Roman" panose="02020603050405020304" pitchFamily="18" charset="0"/>
                <a:cs typeface="Times New Roman" panose="02020603050405020304" pitchFamily="18" charset="0"/>
              </a:rPr>
              <a:t>• Créer </a:t>
            </a:r>
            <a:r>
              <a:rPr lang="fr-FR" sz="2000" dirty="0">
                <a:latin typeface="Times New Roman" panose="02020603050405020304" pitchFamily="18" charset="0"/>
                <a:cs typeface="Times New Roman" panose="02020603050405020304" pitchFamily="18" charset="0"/>
              </a:rPr>
              <a:t>les méthodes d’accès aux attributs accessibles (Modificateurs et Accesseurs)</a:t>
            </a:r>
          </a:p>
          <a:p>
            <a:r>
              <a:rPr lang="fr-FR" sz="2000" dirty="0" smtClean="0">
                <a:latin typeface="Times New Roman" panose="02020603050405020304" pitchFamily="18" charset="0"/>
                <a:cs typeface="Times New Roman" panose="02020603050405020304" pitchFamily="18" charset="0"/>
              </a:rPr>
              <a:t>• Créer </a:t>
            </a:r>
            <a:r>
              <a:rPr lang="fr-FR" sz="2000" dirty="0">
                <a:latin typeface="Times New Roman" panose="02020603050405020304" pitchFamily="18" charset="0"/>
                <a:cs typeface="Times New Roman" panose="02020603050405020304" pitchFamily="18" charset="0"/>
              </a:rPr>
              <a:t>les constructeurs de la classe Compte :</a:t>
            </a:r>
          </a:p>
          <a:p>
            <a:r>
              <a:rPr lang="fr-FR" sz="2000" dirty="0">
                <a:latin typeface="Times New Roman" panose="02020603050405020304" pitchFamily="18" charset="0"/>
                <a:cs typeface="Times New Roman" panose="02020603050405020304" pitchFamily="18" charset="0"/>
              </a:rPr>
              <a:t>Compte (string nom) : qui initialise le nom du titulaire du compte</a:t>
            </a:r>
          </a:p>
          <a:p>
            <a:r>
              <a:rPr lang="fr-FR" sz="2000" dirty="0">
                <a:latin typeface="Times New Roman" panose="02020603050405020304" pitchFamily="18" charset="0"/>
                <a:cs typeface="Times New Roman" panose="02020603050405020304" pitchFamily="18" charset="0"/>
              </a:rPr>
              <a:t>Compte (string nom, double s) : qui crée un compte avec un solde initial</a:t>
            </a:r>
          </a:p>
          <a:p>
            <a:r>
              <a:rPr lang="fr-FR" sz="2000" dirty="0">
                <a:latin typeface="Times New Roman" panose="02020603050405020304" pitchFamily="18" charset="0"/>
                <a:cs typeface="Times New Roman" panose="02020603050405020304" pitchFamily="18" charset="0"/>
              </a:rPr>
              <a:t>Compte (string nom, double s, double deb, double </a:t>
            </a:r>
            <a:r>
              <a:rPr lang="fr-FR" sz="2000" dirty="0" err="1">
                <a:latin typeface="Times New Roman" panose="02020603050405020304" pitchFamily="18" charset="0"/>
                <a:cs typeface="Times New Roman" panose="02020603050405020304" pitchFamily="18" charset="0"/>
              </a:rPr>
              <a:t>dec</a:t>
            </a:r>
            <a:r>
              <a:rPr lang="fr-FR" sz="2000" dirty="0">
                <a:latin typeface="Times New Roman" panose="02020603050405020304" pitchFamily="18" charset="0"/>
                <a:cs typeface="Times New Roman" panose="02020603050405020304" pitchFamily="18" charset="0"/>
              </a:rPr>
              <a:t>) : Constructeur d’initialisation</a:t>
            </a:r>
          </a:p>
          <a:p>
            <a:r>
              <a:rPr lang="fr-FR" sz="2000" dirty="0" smtClean="0">
                <a:latin typeface="Times New Roman" panose="02020603050405020304" pitchFamily="18" charset="0"/>
                <a:cs typeface="Times New Roman" panose="02020603050405020304" pitchFamily="18" charset="0"/>
              </a:rPr>
              <a:t>2- Définir </a:t>
            </a:r>
            <a:r>
              <a:rPr lang="fr-FR" sz="2000" dirty="0">
                <a:latin typeface="Times New Roman" panose="02020603050405020304" pitchFamily="18" charset="0"/>
                <a:cs typeface="Times New Roman" panose="02020603050405020304" pitchFamily="18" charset="0"/>
              </a:rPr>
              <a:t>les méthodes suivantes :</a:t>
            </a:r>
          </a:p>
          <a:p>
            <a:r>
              <a:rPr lang="fr-FR" sz="2000" dirty="0" smtClean="0">
                <a:latin typeface="Times New Roman" panose="02020603050405020304" pitchFamily="18" charset="0"/>
                <a:cs typeface="Times New Roman" panose="02020603050405020304" pitchFamily="18" charset="0"/>
              </a:rPr>
              <a:t>• Créditer </a:t>
            </a:r>
            <a:r>
              <a:rPr lang="fr-FR" sz="2000" dirty="0">
                <a:latin typeface="Times New Roman" panose="02020603050405020304" pitchFamily="18" charset="0"/>
                <a:cs typeface="Times New Roman" panose="02020603050405020304" pitchFamily="18" charset="0"/>
              </a:rPr>
              <a:t>(double montant) qui ajoute montant au solde du compte. Ce montant doit être positif.</a:t>
            </a:r>
          </a:p>
          <a:p>
            <a:r>
              <a:rPr lang="fr-FR" sz="2000" dirty="0" smtClean="0">
                <a:latin typeface="Times New Roman" panose="02020603050405020304" pitchFamily="18" charset="0"/>
                <a:cs typeface="Times New Roman" panose="02020603050405020304" pitchFamily="18" charset="0"/>
              </a:rPr>
              <a:t>• Débiter </a:t>
            </a:r>
            <a:r>
              <a:rPr lang="fr-FR" sz="2000" dirty="0">
                <a:latin typeface="Times New Roman" panose="02020603050405020304" pitchFamily="18" charset="0"/>
                <a:cs typeface="Times New Roman" panose="02020603050405020304" pitchFamily="18" charset="0"/>
              </a:rPr>
              <a:t>(double montant) qui retire un montant du solde. Ce montant doit être inférieur au débit maximal autorisé. Le solde après le retrait doit être supérieur ou égal à –(moins) le découvert maximal autorisé.</a:t>
            </a:r>
          </a:p>
          <a:p>
            <a:r>
              <a:rPr lang="fr-FR" sz="2000" dirty="0" smtClean="0">
                <a:latin typeface="Times New Roman" panose="02020603050405020304" pitchFamily="18" charset="0"/>
                <a:cs typeface="Times New Roman" panose="02020603050405020304" pitchFamily="18" charset="0"/>
              </a:rPr>
              <a:t>• Virer </a:t>
            </a:r>
            <a:r>
              <a:rPr lang="fr-FR" sz="2000" dirty="0">
                <a:latin typeface="Times New Roman" panose="02020603050405020304" pitchFamily="18" charset="0"/>
                <a:cs typeface="Times New Roman" panose="02020603050405020304" pitchFamily="18" charset="0"/>
              </a:rPr>
              <a:t>(double montant, compte c) qui permet d’effectuer le virement d’un montant vers un compte c.</a:t>
            </a:r>
          </a:p>
          <a:p>
            <a:r>
              <a:rPr lang="fr-FR" sz="2000" dirty="0" smtClean="0">
                <a:latin typeface="Times New Roman" panose="02020603050405020304" pitchFamily="18" charset="0"/>
                <a:cs typeface="Times New Roman" panose="02020603050405020304" pitchFamily="18" charset="0"/>
              </a:rPr>
              <a:t>3- Prévoir </a:t>
            </a:r>
            <a:r>
              <a:rPr lang="fr-FR" sz="2000" dirty="0">
                <a:latin typeface="Times New Roman" panose="02020603050405020304" pitchFamily="18" charset="0"/>
                <a:cs typeface="Times New Roman" panose="02020603050405020304" pitchFamily="18" charset="0"/>
              </a:rPr>
              <a:t>une méthode descriptive d’un objet Compte qui affiche le numéro de compte, nom du titulaire, découvert maximal autorisé, débit maximal autorisé, solde du compte, et si le compte est à découvert (un message le signalant explicitement)</a:t>
            </a:r>
          </a:p>
          <a:p>
            <a:r>
              <a:rPr lang="fr-FR" sz="2000" dirty="0" smtClean="0">
                <a:latin typeface="Times New Roman" panose="02020603050405020304" pitchFamily="18" charset="0"/>
                <a:cs typeface="Times New Roman" panose="02020603050405020304" pitchFamily="18" charset="0"/>
              </a:rPr>
              <a:t>4- Ecrire </a:t>
            </a:r>
            <a:r>
              <a:rPr lang="fr-FR" sz="2000" dirty="0">
                <a:latin typeface="Times New Roman" panose="02020603050405020304" pitchFamily="18" charset="0"/>
                <a:cs typeface="Times New Roman" panose="02020603050405020304" pitchFamily="18" charset="0"/>
              </a:rPr>
              <a:t>un programme de test permettant de : </a:t>
            </a:r>
          </a:p>
          <a:p>
            <a:r>
              <a:rPr lang="fr-FR" sz="2000" dirty="0" smtClean="0">
                <a:latin typeface="Times New Roman" panose="02020603050405020304" pitchFamily="18" charset="0"/>
                <a:cs typeface="Times New Roman" panose="02020603050405020304" pitchFamily="18" charset="0"/>
              </a:rPr>
              <a:t>• Créer </a:t>
            </a:r>
            <a:r>
              <a:rPr lang="fr-FR" sz="2000" dirty="0">
                <a:latin typeface="Times New Roman" panose="02020603050405020304" pitchFamily="18" charset="0"/>
                <a:cs typeface="Times New Roman" panose="02020603050405020304" pitchFamily="18" charset="0"/>
              </a:rPr>
              <a:t>un compte c1, au nom de J. Kamal avec un solde initial de 1 000 </a:t>
            </a:r>
          </a:p>
          <a:p>
            <a:r>
              <a:rPr lang="fr-FR" sz="2000" dirty="0" smtClean="0">
                <a:latin typeface="Times New Roman" panose="02020603050405020304" pitchFamily="18" charset="0"/>
                <a:cs typeface="Times New Roman" panose="02020603050405020304" pitchFamily="18" charset="0"/>
              </a:rPr>
              <a:t>• Créer </a:t>
            </a:r>
            <a:r>
              <a:rPr lang="fr-FR" sz="2000" dirty="0">
                <a:latin typeface="Times New Roman" panose="02020603050405020304" pitchFamily="18" charset="0"/>
                <a:cs typeface="Times New Roman" panose="02020603050405020304" pitchFamily="18" charset="0"/>
              </a:rPr>
              <a:t>un compte c2, au nom de C. Jalal avec un solde </a:t>
            </a:r>
            <a:r>
              <a:rPr lang="fr-FR" sz="2000" dirty="0" err="1">
                <a:latin typeface="Times New Roman" panose="02020603050405020304" pitchFamily="18" charset="0"/>
                <a:cs typeface="Times New Roman" panose="02020603050405020304" pitchFamily="18" charset="0"/>
              </a:rPr>
              <a:t>inital</a:t>
            </a:r>
            <a:r>
              <a:rPr lang="fr-FR" sz="2000" dirty="0">
                <a:latin typeface="Times New Roman" panose="02020603050405020304" pitchFamily="18" charset="0"/>
                <a:cs typeface="Times New Roman" panose="02020603050405020304" pitchFamily="18" charset="0"/>
              </a:rPr>
              <a:t> de 50 000, un </a:t>
            </a:r>
            <a:r>
              <a:rPr lang="fr-FR" sz="2000" dirty="0" err="1">
                <a:latin typeface="Times New Roman" panose="02020603050405020304" pitchFamily="18" charset="0"/>
                <a:cs typeface="Times New Roman" panose="02020603050405020304" pitchFamily="18" charset="0"/>
              </a:rPr>
              <a:t>debit</a:t>
            </a:r>
            <a:r>
              <a:rPr lang="fr-FR" sz="2000" dirty="0">
                <a:latin typeface="Times New Roman" panose="02020603050405020304" pitchFamily="18" charset="0"/>
                <a:cs typeface="Times New Roman" panose="02020603050405020304" pitchFamily="18" charset="0"/>
              </a:rPr>
              <a:t> maximal autorisé de 6000  et un découvert maximal autorisé de 5000.</a:t>
            </a:r>
          </a:p>
          <a:p>
            <a:r>
              <a:rPr lang="fr-FR" sz="2000" dirty="0" smtClean="0">
                <a:latin typeface="Times New Roman" panose="02020603050405020304" pitchFamily="18" charset="0"/>
                <a:cs typeface="Times New Roman" panose="02020603050405020304" pitchFamily="18" charset="0"/>
              </a:rPr>
              <a:t>• D'afficher </a:t>
            </a:r>
            <a:r>
              <a:rPr lang="fr-FR" sz="2000" dirty="0">
                <a:latin typeface="Times New Roman" panose="02020603050405020304" pitchFamily="18" charset="0"/>
                <a:cs typeface="Times New Roman" panose="02020603050405020304" pitchFamily="18" charset="0"/>
              </a:rPr>
              <a:t>les caractéristiques des comptes c1 et c2.</a:t>
            </a:r>
          </a:p>
          <a:p>
            <a:r>
              <a:rPr lang="fr-FR" sz="2000" dirty="0" smtClean="0">
                <a:latin typeface="Times New Roman" panose="02020603050405020304" pitchFamily="18" charset="0"/>
                <a:cs typeface="Times New Roman" panose="02020603050405020304" pitchFamily="18" charset="0"/>
              </a:rPr>
              <a:t>• Retirer </a:t>
            </a:r>
            <a:r>
              <a:rPr lang="fr-FR" sz="2000" dirty="0">
                <a:latin typeface="Times New Roman" panose="02020603050405020304" pitchFamily="18" charset="0"/>
                <a:cs typeface="Times New Roman" panose="02020603050405020304" pitchFamily="18" charset="0"/>
              </a:rPr>
              <a:t>300 du compte c1. </a:t>
            </a:r>
          </a:p>
          <a:p>
            <a:r>
              <a:rPr lang="fr-FR" sz="2000" dirty="0" smtClean="0">
                <a:latin typeface="Times New Roman" panose="02020603050405020304" pitchFamily="18" charset="0"/>
                <a:cs typeface="Times New Roman" panose="02020603050405020304" pitchFamily="18" charset="0"/>
              </a:rPr>
              <a:t>• Retirer </a:t>
            </a:r>
            <a:r>
              <a:rPr lang="fr-FR" sz="2000" dirty="0">
                <a:latin typeface="Times New Roman" panose="02020603050405020304" pitchFamily="18" charset="0"/>
                <a:cs typeface="Times New Roman" panose="02020603050405020304" pitchFamily="18" charset="0"/>
              </a:rPr>
              <a:t>600 du compte c2. </a:t>
            </a:r>
          </a:p>
          <a:p>
            <a:r>
              <a:rPr lang="fr-FR" sz="2000" dirty="0" smtClean="0">
                <a:latin typeface="Times New Roman" panose="02020603050405020304" pitchFamily="18" charset="0"/>
                <a:cs typeface="Times New Roman" panose="02020603050405020304" pitchFamily="18" charset="0"/>
              </a:rPr>
              <a:t>• Déposer </a:t>
            </a:r>
            <a:r>
              <a:rPr lang="fr-FR" sz="2000" dirty="0">
                <a:latin typeface="Times New Roman" panose="02020603050405020304" pitchFamily="18" charset="0"/>
                <a:cs typeface="Times New Roman" panose="02020603050405020304" pitchFamily="18" charset="0"/>
              </a:rPr>
              <a:t>500 sur le compte c1. </a:t>
            </a:r>
          </a:p>
          <a:p>
            <a:r>
              <a:rPr lang="fr-FR" sz="2000" dirty="0" smtClean="0">
                <a:latin typeface="Times New Roman" panose="02020603050405020304" pitchFamily="18" charset="0"/>
                <a:cs typeface="Times New Roman" panose="02020603050405020304" pitchFamily="18" charset="0"/>
              </a:rPr>
              <a:t>• D'afficher </a:t>
            </a:r>
            <a:r>
              <a:rPr lang="fr-FR" sz="2000" dirty="0">
                <a:latin typeface="Times New Roman" panose="02020603050405020304" pitchFamily="18" charset="0"/>
                <a:cs typeface="Times New Roman" panose="02020603050405020304" pitchFamily="18" charset="0"/>
              </a:rPr>
              <a:t>les caractéristiques des comptes c1 et c2. </a:t>
            </a:r>
          </a:p>
          <a:p>
            <a:r>
              <a:rPr lang="fr-FR" sz="2000" dirty="0" smtClean="0">
                <a:latin typeface="Times New Roman" panose="02020603050405020304" pitchFamily="18" charset="0"/>
                <a:cs typeface="Times New Roman" panose="02020603050405020304" pitchFamily="18" charset="0"/>
              </a:rPr>
              <a:t>• Virer </a:t>
            </a:r>
            <a:r>
              <a:rPr lang="fr-FR" sz="2000" dirty="0">
                <a:latin typeface="Times New Roman" panose="02020603050405020304" pitchFamily="18" charset="0"/>
                <a:cs typeface="Times New Roman" panose="02020603050405020304" pitchFamily="18" charset="0"/>
              </a:rPr>
              <a:t>1000 du compte c2 vers le compte c1. </a:t>
            </a:r>
          </a:p>
          <a:p>
            <a:r>
              <a:rPr lang="fr-FR" sz="2000" dirty="0" smtClean="0">
                <a:latin typeface="Times New Roman" panose="02020603050405020304" pitchFamily="18" charset="0"/>
                <a:cs typeface="Times New Roman" panose="02020603050405020304" pitchFamily="18" charset="0"/>
              </a:rPr>
              <a:t>• D'afficher </a:t>
            </a:r>
            <a:r>
              <a:rPr lang="fr-FR" sz="2000" dirty="0">
                <a:latin typeface="Times New Roman" panose="02020603050405020304" pitchFamily="18" charset="0"/>
                <a:cs typeface="Times New Roman" panose="02020603050405020304" pitchFamily="18" charset="0"/>
              </a:rPr>
              <a:t>les caractéristiques des comptes c1 et c2. </a:t>
            </a:r>
          </a:p>
        </p:txBody>
      </p:sp>
    </p:spTree>
    <p:extLst>
      <p:ext uri="{BB962C8B-B14F-4D97-AF65-F5344CB8AC3E}">
        <p14:creationId xmlns:p14="http://schemas.microsoft.com/office/powerpoint/2010/main" val="237949419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err="1"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TPs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5632311"/>
          </a:xfrm>
          <a:prstGeom prst="rect">
            <a:avLst/>
          </a:prstGeom>
          <a:noFill/>
        </p:spPr>
        <p:txBody>
          <a:bodyPr wrap="square" rtlCol="0">
            <a:spAutoFit/>
          </a:bodyPr>
          <a:lstStyle/>
          <a:p>
            <a:r>
              <a:rPr lang="fr-FR" sz="2000" b="1" dirty="0">
                <a:latin typeface="Times New Roman" panose="02020603050405020304" pitchFamily="18" charset="0"/>
                <a:cs typeface="Times New Roman" panose="02020603050405020304" pitchFamily="18" charset="0"/>
              </a:rPr>
              <a:t>Exercice </a:t>
            </a:r>
            <a:r>
              <a:rPr lang="fr-FR" sz="2000" b="1" dirty="0" smtClean="0">
                <a:latin typeface="Times New Roman" panose="02020603050405020304" pitchFamily="18" charset="0"/>
                <a:cs typeface="Times New Roman" panose="02020603050405020304" pitchFamily="18" charset="0"/>
              </a:rPr>
              <a:t>7 :</a:t>
            </a:r>
          </a:p>
          <a:p>
            <a:r>
              <a:rPr lang="fr-FR" sz="2000" dirty="0" smtClean="0">
                <a:latin typeface="Times New Roman" panose="02020603050405020304" pitchFamily="18" charset="0"/>
                <a:cs typeface="Times New Roman" panose="02020603050405020304" pitchFamily="18" charset="0"/>
              </a:rPr>
              <a:t>1</a:t>
            </a:r>
            <a:r>
              <a:rPr lang="fr-FR" sz="2000" dirty="0">
                <a:latin typeface="Times New Roman" panose="02020603050405020304" pitchFamily="18" charset="0"/>
                <a:cs typeface="Times New Roman" panose="02020603050405020304" pitchFamily="18" charset="0"/>
              </a:rPr>
              <a:t>. Créez une classe Lapin qui contient les propriétés suivantes: Surnom (String), Age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Position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Vous implémenterez complètement les propriétés Surnom et Age et vous utiliserez une propriété auto-implémentée pour Position.</a:t>
            </a:r>
          </a:p>
          <a:p>
            <a:r>
              <a:rPr lang="fr-FR" sz="2000" dirty="0">
                <a:latin typeface="Times New Roman" panose="02020603050405020304" pitchFamily="18" charset="0"/>
                <a:cs typeface="Times New Roman" panose="02020603050405020304" pitchFamily="18" charset="0"/>
              </a:rPr>
              <a:t>2. Ecrivez un constructeur permettant d’initialiser les propriétés Surnom et Age (Position sera toujours initialisée à 0).</a:t>
            </a:r>
          </a:p>
          <a:p>
            <a:r>
              <a:rPr lang="fr-FR" sz="2000" dirty="0">
                <a:latin typeface="Times New Roman" panose="02020603050405020304" pitchFamily="18" charset="0"/>
                <a:cs typeface="Times New Roman" panose="02020603050405020304" pitchFamily="18" charset="0"/>
              </a:rPr>
              <a:t>3. Ajoutez un champ statique </a:t>
            </a:r>
            <a:r>
              <a:rPr lang="fr-FR" sz="2000" dirty="0" err="1">
                <a:latin typeface="Times New Roman" panose="02020603050405020304" pitchFamily="18" charset="0"/>
                <a:cs typeface="Times New Roman" panose="02020603050405020304" pitchFamily="18" charset="0"/>
              </a:rPr>
              <a:t>nombreDeLapins</a:t>
            </a:r>
            <a:r>
              <a:rPr lang="fr-FR" sz="2000" dirty="0">
                <a:latin typeface="Times New Roman" panose="02020603050405020304" pitchFamily="18" charset="0"/>
                <a:cs typeface="Times New Roman" panose="02020603050405020304" pitchFamily="18" charset="0"/>
              </a:rPr>
              <a:t> qui compte le nombre de lapins créés. Modifiez le constructeur pour que ce champ soit automatiquement incrémenté lors de la création d’un nouveau lapin.</a:t>
            </a:r>
          </a:p>
          <a:p>
            <a:r>
              <a:rPr lang="fr-FR" sz="2000" dirty="0">
                <a:latin typeface="Times New Roman" panose="02020603050405020304" pitchFamily="18" charset="0"/>
                <a:cs typeface="Times New Roman" panose="02020603050405020304" pitchFamily="18" charset="0"/>
              </a:rPr>
              <a:t>4. Ajoutez une méthode statique </a:t>
            </a:r>
            <a:r>
              <a:rPr lang="fr-FR" sz="2000" dirty="0" err="1">
                <a:latin typeface="Times New Roman" panose="02020603050405020304" pitchFamily="18" charset="0"/>
                <a:cs typeface="Times New Roman" panose="02020603050405020304" pitchFamily="18" charset="0"/>
              </a:rPr>
              <a:t>NombreDeLapins</a:t>
            </a:r>
            <a:r>
              <a:rPr lang="fr-FR" sz="2000" dirty="0">
                <a:latin typeface="Times New Roman" panose="02020603050405020304" pitchFamily="18" charset="0"/>
                <a:cs typeface="Times New Roman" panose="02020603050405020304" pitchFamily="18" charset="0"/>
              </a:rPr>
              <a:t>() qui retourne le nombre lapins créé depuis le lancement du programme.</a:t>
            </a:r>
          </a:p>
          <a:p>
            <a:r>
              <a:rPr lang="fr-FR" sz="2000" dirty="0">
                <a:latin typeface="Times New Roman" panose="02020603050405020304" pitchFamily="18" charset="0"/>
                <a:cs typeface="Times New Roman" panose="02020603050405020304" pitchFamily="18" charset="0"/>
              </a:rPr>
              <a:t>5. Ajoutez une méthode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Avancer() à la classe Lapin. Cette méthode ajoute une valeur aléatoire comprise entre 0 et 5 à la position du lapin. La méthode d’instance </a:t>
            </a:r>
            <a:r>
              <a:rPr lang="fr-FR" sz="2000" dirty="0" err="1">
                <a:latin typeface="Times New Roman" panose="02020603050405020304" pitchFamily="18" charset="0"/>
                <a:cs typeface="Times New Roman" panose="02020603050405020304" pitchFamily="18" charset="0"/>
              </a:rPr>
              <a:t>Next</a:t>
            </a:r>
            <a:r>
              <a:rPr lang="fr-FR" sz="2000" dirty="0">
                <a:latin typeface="Times New Roman" panose="02020603050405020304" pitchFamily="18" charset="0"/>
                <a:cs typeface="Times New Roman" panose="02020603050405020304" pitchFamily="18" charset="0"/>
              </a:rPr>
              <a:t> de la classe </a:t>
            </a:r>
            <a:r>
              <a:rPr lang="fr-FR" sz="2000" dirty="0" err="1">
                <a:latin typeface="Times New Roman" panose="02020603050405020304" pitchFamily="18" charset="0"/>
                <a:cs typeface="Times New Roman" panose="02020603050405020304" pitchFamily="18" charset="0"/>
              </a:rPr>
              <a:t>Random</a:t>
            </a:r>
            <a:r>
              <a:rPr lang="fr-FR" sz="2000" dirty="0">
                <a:latin typeface="Times New Roman" panose="02020603050405020304" pitchFamily="18" charset="0"/>
                <a:cs typeface="Times New Roman" panose="02020603050405020304" pitchFamily="18" charset="0"/>
              </a:rPr>
              <a:t> génère un nombre (pseudo) aléatoire.</a:t>
            </a:r>
          </a:p>
          <a:p>
            <a:r>
              <a:rPr lang="fr-FR" sz="2000" dirty="0">
                <a:latin typeface="Times New Roman" panose="02020603050405020304" pitchFamily="18" charset="0"/>
                <a:cs typeface="Times New Roman" panose="02020603050405020304" pitchFamily="18" charset="0"/>
              </a:rPr>
              <a:t>6. Dans la méthode Main de la classe Program, créez trois lapins avec des noms et des </a:t>
            </a:r>
            <a:r>
              <a:rPr lang="fr-FR" sz="2000" dirty="0" err="1">
                <a:latin typeface="Times New Roman" panose="02020603050405020304" pitchFamily="18" charset="0"/>
                <a:cs typeface="Times New Roman" panose="02020603050405020304" pitchFamily="18" charset="0"/>
              </a:rPr>
              <a:t>ages</a:t>
            </a:r>
            <a:r>
              <a:rPr lang="fr-FR" sz="2000" dirty="0">
                <a:latin typeface="Times New Roman" panose="02020603050405020304" pitchFamily="18" charset="0"/>
                <a:cs typeface="Times New Roman" panose="02020603050405020304" pitchFamily="18" charset="0"/>
              </a:rPr>
              <a:t> différents.</a:t>
            </a:r>
          </a:p>
          <a:p>
            <a:r>
              <a:rPr lang="fr-FR" sz="2000" dirty="0">
                <a:latin typeface="Times New Roman" panose="02020603050405020304" pitchFamily="18" charset="0"/>
                <a:cs typeface="Times New Roman" panose="02020603050405020304" pitchFamily="18" charset="0"/>
              </a:rPr>
              <a:t>7. Créez un tableau de lapins et rangez-y les trois lapins créés précédemment.</a:t>
            </a:r>
          </a:p>
          <a:p>
            <a:r>
              <a:rPr lang="fr-FR" sz="2000" dirty="0">
                <a:latin typeface="Times New Roman" panose="02020603050405020304" pitchFamily="18" charset="0"/>
                <a:cs typeface="Times New Roman" panose="02020603050405020304" pitchFamily="18" charset="0"/>
              </a:rPr>
              <a:t>8. Appelez la méthode Avancer() 100 fois sur chacun des 3 lapins.</a:t>
            </a:r>
          </a:p>
          <a:p>
            <a:r>
              <a:rPr lang="fr-FR" sz="2000" dirty="0">
                <a:latin typeface="Times New Roman" panose="02020603050405020304" pitchFamily="18" charset="0"/>
                <a:cs typeface="Times New Roman" panose="02020603050405020304" pitchFamily="18" charset="0"/>
              </a:rPr>
              <a:t>9. Le lapin qui a gagné est celui qui a la position la plus grande à la fin. Affichez le nom du lapin qui a gagné.</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483245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2554545"/>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L’héritage permet de construire une classe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à partir d’une classe existante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Il s’agit d’une sorte d’héritage biologique. La classe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va ainsi hériter des variables, des méthodes, bref de tous les membres de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puis, on va ajouter des éléments supplémentaires propres à la classe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Si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a:t>
            </a:r>
            <a:r>
              <a:rPr lang="fr-FR" sz="2000" b="1" dirty="0">
                <a:latin typeface="Times New Roman" panose="02020603050405020304" pitchFamily="18" charset="0"/>
                <a:cs typeface="Times New Roman" panose="02020603050405020304" pitchFamily="18" charset="0"/>
              </a:rPr>
              <a:t>hérite</a:t>
            </a:r>
            <a:r>
              <a:rPr lang="fr-FR" sz="2000" dirty="0">
                <a:latin typeface="Times New Roman" panose="02020603050405020304" pitchFamily="18" charset="0"/>
                <a:cs typeface="Times New Roman" panose="02020603050405020304" pitchFamily="18" charset="0"/>
              </a:rPr>
              <a:t> de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on dit que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est une </a:t>
            </a:r>
            <a:r>
              <a:rPr lang="fr-FR" sz="2000" b="1" dirty="0">
                <a:latin typeface="Times New Roman" panose="02020603050405020304" pitchFamily="18" charset="0"/>
                <a:cs typeface="Times New Roman" panose="02020603050405020304" pitchFamily="18" charset="0"/>
              </a:rPr>
              <a:t>classe fille</a:t>
            </a:r>
            <a:r>
              <a:rPr lang="fr-FR" sz="2000" dirty="0">
                <a:latin typeface="Times New Roman" panose="02020603050405020304" pitchFamily="18" charset="0"/>
                <a:cs typeface="Times New Roman" panose="02020603050405020304" pitchFamily="18" charset="0"/>
              </a:rPr>
              <a:t>, une </a:t>
            </a:r>
            <a:r>
              <a:rPr lang="fr-FR" sz="2000" b="1" dirty="0">
                <a:latin typeface="Times New Roman" panose="02020603050405020304" pitchFamily="18" charset="0"/>
                <a:cs typeface="Times New Roman" panose="02020603050405020304" pitchFamily="18" charset="0"/>
              </a:rPr>
              <a:t>sous-classe</a:t>
            </a:r>
            <a:r>
              <a:rPr lang="fr-FR" sz="2000" dirty="0">
                <a:latin typeface="Times New Roman" panose="02020603050405020304" pitchFamily="18" charset="0"/>
                <a:cs typeface="Times New Roman" panose="02020603050405020304" pitchFamily="18" charset="0"/>
              </a:rPr>
              <a:t>, une </a:t>
            </a:r>
            <a:r>
              <a:rPr lang="fr-FR" sz="2000" b="1" dirty="0">
                <a:latin typeface="Times New Roman" panose="02020603050405020304" pitchFamily="18" charset="0"/>
                <a:cs typeface="Times New Roman" panose="02020603050405020304" pitchFamily="18" charset="0"/>
              </a:rPr>
              <a:t>classe enfant </a:t>
            </a:r>
            <a:r>
              <a:rPr lang="fr-FR" sz="2000" dirty="0">
                <a:latin typeface="Times New Roman" panose="02020603050405020304" pitchFamily="18" charset="0"/>
                <a:cs typeface="Times New Roman" panose="02020603050405020304" pitchFamily="18" charset="0"/>
              </a:rPr>
              <a:t>ou encore une </a:t>
            </a:r>
            <a:r>
              <a:rPr lang="fr-FR" sz="2000" b="1" dirty="0">
                <a:latin typeface="Times New Roman" panose="02020603050405020304" pitchFamily="18" charset="0"/>
                <a:cs typeface="Times New Roman" panose="02020603050405020304" pitchFamily="18" charset="0"/>
              </a:rPr>
              <a:t>classe dérivée </a:t>
            </a:r>
            <a:r>
              <a:rPr lang="fr-FR" sz="2000" dirty="0">
                <a:latin typeface="Times New Roman" panose="02020603050405020304" pitchFamily="18" charset="0"/>
                <a:cs typeface="Times New Roman" panose="02020603050405020304" pitchFamily="18" charset="0"/>
              </a:rPr>
              <a:t>de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A </a:t>
            </a:r>
            <a:r>
              <a:rPr lang="fr-FR" sz="2000" dirty="0">
                <a:latin typeface="Times New Roman" panose="02020603050405020304" pitchFamily="18" charset="0"/>
                <a:cs typeface="Times New Roman" panose="02020603050405020304" pitchFamily="18" charset="0"/>
              </a:rPr>
              <a:t>l’inverse,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se nomme la </a:t>
            </a:r>
            <a:r>
              <a:rPr lang="fr-FR" sz="2000" b="1" dirty="0">
                <a:latin typeface="Times New Roman" panose="02020603050405020304" pitchFamily="18" charset="0"/>
                <a:cs typeface="Times New Roman" panose="02020603050405020304" pitchFamily="18" charset="0"/>
              </a:rPr>
              <a:t>classe mère</a:t>
            </a:r>
            <a:r>
              <a:rPr lang="fr-FR" sz="2000" dirty="0">
                <a:latin typeface="Times New Roman" panose="02020603050405020304" pitchFamily="18" charset="0"/>
                <a:cs typeface="Times New Roman" panose="02020603050405020304" pitchFamily="18" charset="0"/>
              </a:rPr>
              <a:t>, la </a:t>
            </a:r>
            <a:r>
              <a:rPr lang="fr-FR" sz="2000" b="1" dirty="0">
                <a:latin typeface="Times New Roman" panose="02020603050405020304" pitchFamily="18" charset="0"/>
                <a:cs typeface="Times New Roman" panose="02020603050405020304" pitchFamily="18" charset="0"/>
              </a:rPr>
              <a:t>classe de base</a:t>
            </a:r>
            <a:r>
              <a:rPr lang="fr-FR" sz="2000" dirty="0">
                <a:latin typeface="Times New Roman" panose="02020603050405020304" pitchFamily="18" charset="0"/>
                <a:cs typeface="Times New Roman" panose="02020603050405020304" pitchFamily="18" charset="0"/>
              </a:rPr>
              <a:t>, la </a:t>
            </a:r>
            <a:r>
              <a:rPr lang="fr-FR" sz="2000" b="1" dirty="0">
                <a:latin typeface="Times New Roman" panose="02020603050405020304" pitchFamily="18" charset="0"/>
                <a:cs typeface="Times New Roman" panose="02020603050405020304" pitchFamily="18" charset="0"/>
              </a:rPr>
              <a:t>classe parent </a:t>
            </a:r>
            <a:r>
              <a:rPr lang="fr-FR" sz="2000" dirty="0">
                <a:latin typeface="Times New Roman" panose="02020603050405020304" pitchFamily="18" charset="0"/>
                <a:cs typeface="Times New Roman" panose="02020603050405020304" pitchFamily="18" charset="0"/>
              </a:rPr>
              <a:t>ou encore la </a:t>
            </a:r>
            <a:r>
              <a:rPr lang="fr-FR" sz="2000" b="1" dirty="0">
                <a:latin typeface="Times New Roman" panose="02020603050405020304" pitchFamily="18" charset="0"/>
                <a:cs typeface="Times New Roman" panose="02020603050405020304" pitchFamily="18" charset="0"/>
              </a:rPr>
              <a:t>super classe </a:t>
            </a:r>
            <a:r>
              <a:rPr lang="fr-FR" sz="2000" dirty="0">
                <a:latin typeface="Times New Roman" panose="02020603050405020304" pitchFamily="18" charset="0"/>
                <a:cs typeface="Times New Roman" panose="02020603050405020304" pitchFamily="18" charset="0"/>
              </a:rPr>
              <a:t>de </a:t>
            </a:r>
            <a:r>
              <a:rPr lang="fr-FR" sz="2000" b="1" dirty="0">
                <a:latin typeface="Times New Roman" panose="02020603050405020304" pitchFamily="18" charset="0"/>
                <a:cs typeface="Times New Roman" panose="02020603050405020304" pitchFamily="18" charset="0"/>
              </a:rPr>
              <a:t>B</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914519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2862322"/>
          </a:xfrm>
          <a:prstGeom prst="rect">
            <a:avLst/>
          </a:prstGeom>
          <a:noFill/>
        </p:spPr>
        <p:txBody>
          <a:bodyPr wrap="square" rtlCol="0">
            <a:spAutoFit/>
          </a:bodyPr>
          <a:lstStyle/>
          <a:p>
            <a:pPr algn="just"/>
            <a:r>
              <a:rPr lang="fr-FR" sz="2000" dirty="0" smtClean="0">
                <a:latin typeface="Times New Roman" panose="02020603050405020304" pitchFamily="18" charset="0"/>
                <a:cs typeface="Times New Roman" panose="02020603050405020304" pitchFamily="18" charset="0"/>
              </a:rPr>
              <a:t>On </a:t>
            </a:r>
            <a:r>
              <a:rPr lang="fr-FR" sz="2000" dirty="0">
                <a:latin typeface="Times New Roman" panose="02020603050405020304" pitchFamily="18" charset="0"/>
                <a:cs typeface="Times New Roman" panose="02020603050405020304" pitchFamily="18" charset="0"/>
              </a:rPr>
              <a:t>peut examiner l’héritage de deux façons différentes </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Dans </a:t>
            </a:r>
            <a:r>
              <a:rPr lang="fr-FR" sz="2000" dirty="0">
                <a:latin typeface="Times New Roman" panose="02020603050405020304" pitchFamily="18" charset="0"/>
                <a:cs typeface="Times New Roman" panose="02020603050405020304" pitchFamily="18" charset="0"/>
              </a:rPr>
              <a:t>la vision par </a:t>
            </a:r>
            <a:r>
              <a:rPr lang="fr-FR" sz="2000" b="1" dirty="0">
                <a:latin typeface="Times New Roman" panose="02020603050405020304" pitchFamily="18" charset="0"/>
                <a:cs typeface="Times New Roman" panose="02020603050405020304" pitchFamily="18" charset="0"/>
              </a:rPr>
              <a:t>spécialisation/redéfinition</a:t>
            </a:r>
            <a:r>
              <a:rPr lang="fr-FR" sz="2000" dirty="0">
                <a:latin typeface="Times New Roman" panose="02020603050405020304" pitchFamily="18" charset="0"/>
                <a:cs typeface="Times New Roman" panose="02020603050405020304" pitchFamily="18" charset="0"/>
              </a:rPr>
              <a:t>, la classe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est vue comme un cas particulier de la classe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Par exemple, un 4x4 est un cas particulier d’une Voiture. Dans cette vision, l’ensemble des Voitures est l’ensemble englobant et les 4x4 représentent un sous-ensemble des Voitures</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Dans </a:t>
            </a:r>
            <a:r>
              <a:rPr lang="fr-FR" sz="2000" dirty="0">
                <a:latin typeface="Times New Roman" panose="02020603050405020304" pitchFamily="18" charset="0"/>
                <a:cs typeface="Times New Roman" panose="02020603050405020304" pitchFamily="18" charset="0"/>
              </a:rPr>
              <a:t>la vision par </a:t>
            </a:r>
            <a:r>
              <a:rPr lang="fr-FR" sz="2000" b="1" dirty="0">
                <a:latin typeface="Times New Roman" panose="02020603050405020304" pitchFamily="18" charset="0"/>
                <a:cs typeface="Times New Roman" panose="02020603050405020304" pitchFamily="18" charset="0"/>
              </a:rPr>
              <a:t>extension</a:t>
            </a:r>
            <a:r>
              <a:rPr lang="fr-FR" sz="2000" dirty="0">
                <a:latin typeface="Times New Roman" panose="02020603050405020304" pitchFamily="18" charset="0"/>
                <a:cs typeface="Times New Roman" panose="02020603050405020304" pitchFamily="18" charset="0"/>
              </a:rPr>
              <a:t>, la classe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est vue comme une version étendue de la classe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Par exemple, un 4x4 est une voiture disposant de 2 roues motrices supplémentaires. Du point de vue des fonctionnalités, la classe 4x4 englobe les fonctionnalités de la classe Voiture, la classe Voiture a moins de paramètres internes que la classe 4x4</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pic>
        <p:nvPicPr>
          <p:cNvPr id="4" name="Image 3"/>
          <p:cNvPicPr>
            <a:picLocks noChangeAspect="1"/>
          </p:cNvPicPr>
          <p:nvPr/>
        </p:nvPicPr>
        <p:blipFill>
          <a:blip r:embed="rId2"/>
          <a:stretch>
            <a:fillRect/>
          </a:stretch>
        </p:blipFill>
        <p:spPr>
          <a:xfrm>
            <a:off x="2510772" y="3858286"/>
            <a:ext cx="6685714" cy="2314286"/>
          </a:xfrm>
          <a:prstGeom prst="rect">
            <a:avLst/>
          </a:prstGeom>
        </p:spPr>
      </p:pic>
    </p:spTree>
    <p:extLst>
      <p:ext uri="{BB962C8B-B14F-4D97-AF65-F5344CB8AC3E}">
        <p14:creationId xmlns:p14="http://schemas.microsoft.com/office/powerpoint/2010/main" val="406711182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5324535"/>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Un héritage entre plusieurs classes donne naissance à une hiérarchie dans laquelle une classe peut avoir</a:t>
            </a:r>
          </a:p>
          <a:p>
            <a:pPr algn="just"/>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des </a:t>
            </a:r>
            <a:r>
              <a:rPr lang="fr-FR" sz="2000" dirty="0">
                <a:latin typeface="Times New Roman" panose="02020603050405020304" pitchFamily="18" charset="0"/>
                <a:cs typeface="Times New Roman" panose="02020603050405020304" pitchFamily="18" charset="0"/>
              </a:rPr>
              <a:t>ancêtres : sa classe mère, la classe mère de sa classe mère, et ainsi de suite</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des </a:t>
            </a:r>
            <a:r>
              <a:rPr lang="fr-FR" sz="2000" dirty="0">
                <a:latin typeface="Times New Roman" panose="02020603050405020304" pitchFamily="18" charset="0"/>
                <a:cs typeface="Times New Roman" panose="02020603050405020304" pitchFamily="18" charset="0"/>
              </a:rPr>
              <a:t>descendants : ses classes filles, les classes filles de ses classes filles, et ainsi de suite…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L’héritage est une approche puissante pour la structuration des programmes et la réutilisation du code. Comme toute technique de réutilisation, elle facilite la maintenance et améliore la productivité. De plus, la structuration du programme induite par l’utilisation du mécanisme d’héritage facilite grandement la compréhension. Nous pouvons ainsi rencontrer une méthode Dessiner(…) recevant en paramètre un objet de type Crayon. En examinant la classe Crayon, nous remarquons que diverses classes en hérite : </a:t>
            </a:r>
            <a:r>
              <a:rPr lang="fr-FR" sz="2000" dirty="0" err="1">
                <a:latin typeface="Times New Roman" panose="02020603050405020304" pitchFamily="18" charset="0"/>
                <a:cs typeface="Times New Roman" panose="02020603050405020304" pitchFamily="18" charset="0"/>
              </a:rPr>
              <a:t>CrayonGras</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CrayonFeutre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CrayonUni</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CrayonDégradé</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CrayonFluo</a:t>
            </a:r>
            <a:r>
              <a:rPr lang="fr-FR" sz="2000" dirty="0">
                <a:latin typeface="Times New Roman" panose="02020603050405020304" pitchFamily="18" charset="0"/>
                <a:cs typeface="Times New Roman" panose="02020603050405020304" pitchFamily="18" charset="0"/>
              </a:rPr>
              <a:t>… Intuitivement, on comprend que pour dessiner, on peut utiliser différents types de crayons et le tour est joué. Si nous n’avions pas utilisé un mécanisme d’héritage, nous aurions dû créer une méthode Dessiner pour chaque type d’objets Crayon. Si de plus, votre fonction Dessiner requiert un objet Pinceau pour colorier l’intérieur de l’objet, le nombre de fonctions à créer devient conséquent ! Pour une dizaine de crayons et de pinceaux différents, cela donne une centaine de fonctions Dessiner(</a:t>
            </a:r>
            <a:r>
              <a:rPr lang="fr-FR" sz="2000" dirty="0" err="1">
                <a:latin typeface="Times New Roman" panose="02020603050405020304" pitchFamily="18" charset="0"/>
                <a:cs typeface="Times New Roman" panose="02020603050405020304" pitchFamily="18" charset="0"/>
              </a:rPr>
              <a:t>Crayon,Pinceau</a:t>
            </a:r>
            <a:r>
              <a:rPr lang="fr-FR" sz="2000" dirty="0">
                <a:latin typeface="Times New Roman" panose="02020603050405020304" pitchFamily="18" charset="0"/>
                <a:cs typeface="Times New Roman" panose="02020603050405020304" pitchFamily="18" charset="0"/>
              </a:rPr>
              <a:t>,…) à créer pour couvrir chaque scénario. Beaucoup de travail inutile en vue et une documentation illisible en perspective !</a:t>
            </a:r>
          </a:p>
        </p:txBody>
      </p:sp>
    </p:spTree>
    <p:extLst>
      <p:ext uri="{BB962C8B-B14F-4D97-AF65-F5344CB8AC3E}">
        <p14:creationId xmlns:p14="http://schemas.microsoft.com/office/powerpoint/2010/main" val="66593789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5324535"/>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La documentation MSDN permet de voir la hiérarchie de classe pour chaque classe du </a:t>
            </a:r>
            <a:r>
              <a:rPr lang="fr-FR" sz="2000" dirty="0" err="1">
                <a:latin typeface="Times New Roman" panose="02020603050405020304" pitchFamily="18" charset="0"/>
                <a:cs typeface="Times New Roman" panose="02020603050405020304" pitchFamily="18" charset="0"/>
              </a:rPr>
              <a:t>framework</a:t>
            </a:r>
            <a:r>
              <a:rPr lang="fr-FR" sz="2000" dirty="0">
                <a:latin typeface="Times New Roman" panose="02020603050405020304" pitchFamily="18" charset="0"/>
                <a:cs typeface="Times New Roman" panose="02020603050405020304" pitchFamily="18" charset="0"/>
              </a:rPr>
              <a:t> .net : par exemple pour la classe </a:t>
            </a:r>
            <a:r>
              <a:rPr lang="fr-FR" sz="2000" dirty="0" err="1">
                <a:latin typeface="Times New Roman" panose="02020603050405020304" pitchFamily="18" charset="0"/>
                <a:cs typeface="Times New Roman" panose="02020603050405020304" pitchFamily="18" charset="0"/>
                <a:hlinkClick r:id="rId2"/>
              </a:rPr>
              <a:t>System.Windows.Shapes.Rectangle</a:t>
            </a:r>
            <a:r>
              <a:rPr lang="fr-FR" sz="2000" dirty="0">
                <a:latin typeface="Times New Roman" panose="02020603050405020304" pitchFamily="18" charset="0"/>
                <a:cs typeface="Times New Roman" panose="02020603050405020304" pitchFamily="18" charset="0"/>
              </a:rPr>
              <a:t> on obtient </a:t>
            </a:r>
            <a:r>
              <a:rPr lang="fr-FR" sz="2000" dirty="0" smtClean="0">
                <a:latin typeface="Times New Roman" panose="02020603050405020304" pitchFamily="18" charset="0"/>
                <a:cs typeface="Times New Roman" panose="02020603050405020304" pitchFamily="18" charset="0"/>
              </a:rPr>
              <a:t>:</a:t>
            </a:r>
          </a:p>
          <a:p>
            <a:pPr algn="just"/>
            <a:endParaRPr lang="fr-FR" sz="2000" dirty="0" smtClean="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Ce qui signifie que la classe Rectangle hérite de Shape, qui elle-même hérite de </a:t>
            </a:r>
            <a:r>
              <a:rPr lang="fr-FR" sz="2000" dirty="0" err="1">
                <a:latin typeface="Times New Roman" panose="02020603050405020304" pitchFamily="18" charset="0"/>
                <a:cs typeface="Times New Roman" panose="02020603050405020304" pitchFamily="18" charset="0"/>
              </a:rPr>
              <a:t>FrameworkElement</a:t>
            </a:r>
            <a:r>
              <a:rPr lang="fr-FR" sz="2000" dirty="0">
                <a:latin typeface="Times New Roman" panose="02020603050405020304" pitchFamily="18" charset="0"/>
                <a:cs typeface="Times New Roman" panose="02020603050405020304" pitchFamily="18" charset="0"/>
              </a:rPr>
              <a:t> et ainsi de suite</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On dit souvent que la relation d’héritage doit être compatible avec la relation </a:t>
            </a:r>
            <a:r>
              <a:rPr lang="fr-FR" sz="2000" b="1" dirty="0">
                <a:latin typeface="Times New Roman" panose="02020603050405020304" pitchFamily="18" charset="0"/>
                <a:cs typeface="Times New Roman" panose="02020603050405020304" pitchFamily="18" charset="0"/>
              </a:rPr>
              <a:t>… est une sorte de …</a:t>
            </a:r>
            <a:r>
              <a:rPr lang="fr-FR" sz="2000" dirty="0">
                <a:latin typeface="Times New Roman" panose="02020603050405020304" pitchFamily="18" charset="0"/>
                <a:cs typeface="Times New Roman" panose="02020603050405020304" pitchFamily="18" charset="0"/>
              </a:rPr>
              <a:t>. Cela signifie que si la classe B </a:t>
            </a:r>
            <a:r>
              <a:rPr lang="fr-FR" sz="2000" b="1" dirty="0">
                <a:latin typeface="Times New Roman" panose="02020603050405020304" pitchFamily="18" charset="0"/>
                <a:cs typeface="Times New Roman" panose="02020603050405020304" pitchFamily="18" charset="0"/>
              </a:rPr>
              <a:t>hérite de la classe</a:t>
            </a:r>
            <a:r>
              <a:rPr lang="fr-FR" sz="2000" dirty="0">
                <a:latin typeface="Times New Roman" panose="02020603050405020304" pitchFamily="18" charset="0"/>
                <a:cs typeface="Times New Roman" panose="02020603050405020304" pitchFamily="18" charset="0"/>
              </a:rPr>
              <a:t> A alors je dois pouvoir dire que B </a:t>
            </a:r>
            <a:r>
              <a:rPr lang="fr-FR" sz="2000" b="1" dirty="0">
                <a:latin typeface="Times New Roman" panose="02020603050405020304" pitchFamily="18" charset="0"/>
                <a:cs typeface="Times New Roman" panose="02020603050405020304" pitchFamily="18" charset="0"/>
              </a:rPr>
              <a:t>est une sorte de</a:t>
            </a:r>
            <a:r>
              <a:rPr lang="fr-FR" sz="2000" dirty="0">
                <a:latin typeface="Times New Roman" panose="02020603050405020304" pitchFamily="18" charset="0"/>
                <a:cs typeface="Times New Roman" panose="02020603050405020304" pitchFamily="18" charset="0"/>
              </a:rPr>
              <a:t> A. Par exemple un Lapin est une sorte d’Animal, un 4x4 est une sorte de Voiture. Par contre je ne peux pas dire qu’une Voiture est une sorte de Roue: il n’est donc pas possible que Voiture hérite de Roue. L’inverse n’est par contre pas vrai: ce n’est pas par ce que B est une sorte de A que B </a:t>
            </a:r>
            <a:r>
              <a:rPr lang="fr-FR" sz="2000" b="1" dirty="0">
                <a:latin typeface="Times New Roman" panose="02020603050405020304" pitchFamily="18" charset="0"/>
                <a:cs typeface="Times New Roman" panose="02020603050405020304" pitchFamily="18" charset="0"/>
              </a:rPr>
              <a:t>doit</a:t>
            </a:r>
            <a:r>
              <a:rPr lang="fr-FR" sz="2000" dirty="0">
                <a:latin typeface="Times New Roman" panose="02020603050405020304" pitchFamily="18" charset="0"/>
                <a:cs typeface="Times New Roman" panose="02020603050405020304" pitchFamily="18" charset="0"/>
              </a:rPr>
              <a:t> hériter de A</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8465" y="1559138"/>
            <a:ext cx="4463395" cy="2520000"/>
          </a:xfrm>
          <a:prstGeom prst="rect">
            <a:avLst/>
          </a:prstGeom>
        </p:spPr>
      </p:pic>
    </p:spTree>
    <p:extLst>
      <p:ext uri="{BB962C8B-B14F-4D97-AF65-F5344CB8AC3E}">
        <p14:creationId xmlns:p14="http://schemas.microsoft.com/office/powerpoint/2010/main" val="371153743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3170099"/>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Principe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L’héritage </a:t>
            </a:r>
            <a:r>
              <a:rPr lang="fr-FR" sz="2000" dirty="0">
                <a:latin typeface="Times New Roman" panose="02020603050405020304" pitchFamily="18" charset="0"/>
                <a:cs typeface="Times New Roman" panose="02020603050405020304" pitchFamily="18" charset="0"/>
              </a:rPr>
              <a:t>est déclaré lors de la déclaration de la classe avec la notation </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a:latin typeface="Times New Roman" panose="02020603050405020304" pitchFamily="18" charset="0"/>
                <a:cs typeface="Times New Roman" panose="02020603050405020304" pitchFamily="18" charset="0"/>
              </a:rPr>
              <a:t>Syntaxe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class </a:t>
            </a:r>
            <a:r>
              <a:rPr lang="fr-FR" sz="2000" dirty="0" err="1">
                <a:latin typeface="Times New Roman" panose="02020603050405020304" pitchFamily="18" charset="0"/>
                <a:cs typeface="Times New Roman" panose="02020603050405020304" pitchFamily="18" charset="0"/>
              </a:rPr>
              <a:t>IdentificateurClasse</a:t>
            </a:r>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IdentificateurClasseParent</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1531801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10248960"/>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Principe</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Exemple :</a:t>
            </a:r>
            <a:endParaRPr lang="fr-FR" sz="2000" b="1" dirty="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class </a:t>
            </a:r>
            <a:r>
              <a:rPr lang="fr-FR" sz="2000" dirty="0" err="1">
                <a:latin typeface="Times New Roman" panose="02020603050405020304" pitchFamily="18" charset="0"/>
                <a:cs typeface="Times New Roman" panose="02020603050405020304" pitchFamily="18" charset="0"/>
              </a:rPr>
              <a:t>Vehicule</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public string nom;</a:t>
            </a:r>
          </a:p>
          <a:p>
            <a:pPr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AfficheNom</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WriteLine</a:t>
            </a:r>
            <a:r>
              <a:rPr lang="fr-FR" sz="2000" dirty="0">
                <a:latin typeface="Times New Roman" panose="02020603050405020304" pitchFamily="18" charset="0"/>
                <a:cs typeface="Times New Roman" panose="02020603050405020304" pitchFamily="18" charset="0"/>
              </a:rPr>
              <a:t>(nom);</a:t>
            </a:r>
          </a:p>
          <a:p>
            <a:pPr algn="just"/>
            <a:r>
              <a:rPr lang="fr-FR" sz="2000" dirty="0">
                <a:latin typeface="Times New Roman" panose="02020603050405020304" pitchFamily="18" charset="0"/>
                <a:cs typeface="Times New Roman" panose="02020603050405020304" pitchFamily="18" charset="0"/>
              </a:rPr>
              <a:t>	}</a:t>
            </a:r>
          </a:p>
          <a:p>
            <a:pPr algn="just"/>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class Voiture : </a:t>
            </a:r>
            <a:r>
              <a:rPr lang="fr-FR" sz="2000" dirty="0" err="1">
                <a:latin typeface="Times New Roman" panose="02020603050405020304" pitchFamily="18" charset="0"/>
                <a:cs typeface="Times New Roman" panose="02020603050405020304" pitchFamily="18" charset="0"/>
              </a:rPr>
              <a:t>Vehicule</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puissance;</a:t>
            </a:r>
          </a:p>
          <a:p>
            <a:pPr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Info() {</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AfficheNom</a:t>
            </a:r>
            <a:r>
              <a:rPr lang="fr-FR" sz="2000" dirty="0">
                <a:latin typeface="Times New Roman" panose="02020603050405020304" pitchFamily="18" charset="0"/>
                <a:cs typeface="Times New Roman" panose="02020603050405020304" pitchFamily="18" charset="0"/>
              </a:rPr>
              <a:t>();  // on hérite des méthodes de </a:t>
            </a:r>
            <a:r>
              <a:rPr lang="fr-FR" sz="2000" dirty="0" err="1">
                <a:latin typeface="Times New Roman" panose="02020603050405020304" pitchFamily="18" charset="0"/>
                <a:cs typeface="Times New Roman" panose="02020603050405020304" pitchFamily="18" charset="0"/>
              </a:rPr>
              <a:t>Vehicule</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WriteLine</a:t>
            </a:r>
            <a:r>
              <a:rPr lang="fr-FR" sz="2000" dirty="0">
                <a:latin typeface="Times New Roman" panose="02020603050405020304" pitchFamily="18" charset="0"/>
                <a:cs typeface="Times New Roman" panose="02020603050405020304" pitchFamily="18" charset="0"/>
              </a:rPr>
              <a:t>(puissance);  // on hérite des champs de </a:t>
            </a:r>
            <a:r>
              <a:rPr lang="fr-FR" sz="2000" dirty="0" err="1">
                <a:latin typeface="Times New Roman" panose="02020603050405020304" pitchFamily="18" charset="0"/>
                <a:cs typeface="Times New Roman" panose="02020603050405020304" pitchFamily="18" charset="0"/>
              </a:rPr>
              <a:t>Vehicule</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a:t>
            </a:r>
          </a:p>
          <a:p>
            <a:pPr algn="just"/>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Vehicule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vehicule</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Vehicule</a:t>
            </a:r>
            <a:r>
              <a:rPr lang="fr-FR" sz="2000" dirty="0">
                <a:latin typeface="Times New Roman" panose="02020603050405020304" pitchFamily="18" charset="0"/>
                <a:cs typeface="Times New Roman" panose="02020603050405020304" pitchFamily="18" charset="0"/>
              </a:rPr>
              <a:t>();</a:t>
            </a:r>
          </a:p>
          <a:p>
            <a:pPr algn="just"/>
            <a:r>
              <a:rPr lang="fr-FR" sz="2000" dirty="0" err="1">
                <a:latin typeface="Times New Roman" panose="02020603050405020304" pitchFamily="18" charset="0"/>
                <a:cs typeface="Times New Roman" panose="02020603050405020304" pitchFamily="18" charset="0"/>
              </a:rPr>
              <a:t>vehicule.nom</a:t>
            </a:r>
            <a:r>
              <a:rPr lang="fr-FR" sz="2000" dirty="0">
                <a:latin typeface="Times New Roman" panose="02020603050405020304" pitchFamily="18" charset="0"/>
                <a:cs typeface="Times New Roman" panose="02020603050405020304" pitchFamily="18" charset="0"/>
              </a:rPr>
              <a:t> = "Proto2";</a:t>
            </a:r>
          </a:p>
          <a:p>
            <a:pPr algn="just"/>
            <a:r>
              <a:rPr lang="fr-FR" sz="2000" dirty="0" err="1">
                <a:latin typeface="Times New Roman" panose="02020603050405020304" pitchFamily="18" charset="0"/>
                <a:cs typeface="Times New Roman" panose="02020603050405020304" pitchFamily="18" charset="0"/>
              </a:rPr>
              <a:t>vehicule.AfficheNom</a:t>
            </a:r>
            <a:r>
              <a:rPr lang="fr-FR" sz="2000" dirty="0">
                <a:latin typeface="Times New Roman" panose="02020603050405020304" pitchFamily="18" charset="0"/>
                <a:cs typeface="Times New Roman" panose="02020603050405020304" pitchFamily="18" charset="0"/>
              </a:rPr>
              <a:t>();  // Proto2</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vehicule.puissance</a:t>
            </a:r>
            <a:r>
              <a:rPr lang="fr-FR" sz="2000" dirty="0">
                <a:latin typeface="Times New Roman" panose="02020603050405020304" pitchFamily="18" charset="0"/>
                <a:cs typeface="Times New Roman" panose="02020603050405020304" pitchFamily="18" charset="0"/>
              </a:rPr>
              <a:t> = 4; ERREUR</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vehicule.Info</a:t>
            </a:r>
            <a:r>
              <a:rPr lang="fr-FR" sz="2000" dirty="0">
                <a:latin typeface="Times New Roman" panose="02020603050405020304" pitchFamily="18" charset="0"/>
                <a:cs typeface="Times New Roman" panose="02020603050405020304" pitchFamily="18" charset="0"/>
              </a:rPr>
              <a:t>();     ERREUR</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Voiture </a:t>
            </a:r>
            <a:r>
              <a:rPr lang="fr-FR" sz="2000" dirty="0" err="1">
                <a:latin typeface="Times New Roman" panose="02020603050405020304" pitchFamily="18" charset="0"/>
                <a:cs typeface="Times New Roman" panose="02020603050405020304" pitchFamily="18" charset="0"/>
              </a:rPr>
              <a:t>voiture</a:t>
            </a:r>
            <a:r>
              <a:rPr lang="fr-FR" sz="2000" dirty="0">
                <a:latin typeface="Times New Roman" panose="02020603050405020304" pitchFamily="18" charset="0"/>
                <a:cs typeface="Times New Roman" panose="02020603050405020304" pitchFamily="18" charset="0"/>
              </a:rPr>
              <a:t> = new Voiture();</a:t>
            </a:r>
          </a:p>
          <a:p>
            <a:pPr algn="just"/>
            <a:r>
              <a:rPr lang="fr-FR" sz="2000" dirty="0" err="1">
                <a:latin typeface="Times New Roman" panose="02020603050405020304" pitchFamily="18" charset="0"/>
                <a:cs typeface="Times New Roman" panose="02020603050405020304" pitchFamily="18" charset="0"/>
              </a:rPr>
              <a:t>voiture.nom</a:t>
            </a:r>
            <a:r>
              <a:rPr lang="fr-FR" sz="2000" dirty="0">
                <a:latin typeface="Times New Roman" panose="02020603050405020304" pitchFamily="18" charset="0"/>
                <a:cs typeface="Times New Roman" panose="02020603050405020304" pitchFamily="18" charset="0"/>
              </a:rPr>
              <a:t> = "Buggy";</a:t>
            </a:r>
          </a:p>
          <a:p>
            <a:pPr algn="just"/>
            <a:r>
              <a:rPr lang="fr-FR" sz="2000" dirty="0" err="1">
                <a:latin typeface="Times New Roman" panose="02020603050405020304" pitchFamily="18" charset="0"/>
                <a:cs typeface="Times New Roman" panose="02020603050405020304" pitchFamily="18" charset="0"/>
              </a:rPr>
              <a:t>voiture.puissance</a:t>
            </a:r>
            <a:r>
              <a:rPr lang="fr-FR" sz="2000" dirty="0">
                <a:latin typeface="Times New Roman" panose="02020603050405020304" pitchFamily="18" charset="0"/>
                <a:cs typeface="Times New Roman" panose="02020603050405020304" pitchFamily="18" charset="0"/>
              </a:rPr>
              <a:t> = 4;</a:t>
            </a:r>
          </a:p>
          <a:p>
            <a:pPr algn="just"/>
            <a:r>
              <a:rPr lang="fr-FR" sz="2000" dirty="0" err="1">
                <a:latin typeface="Times New Roman" panose="02020603050405020304" pitchFamily="18" charset="0"/>
                <a:cs typeface="Times New Roman" panose="02020603050405020304" pitchFamily="18" charset="0"/>
              </a:rPr>
              <a:t>voiture.Info</a:t>
            </a:r>
            <a:r>
              <a:rPr lang="fr-FR" sz="2000" dirty="0">
                <a:latin typeface="Times New Roman" panose="02020603050405020304" pitchFamily="18" charset="0"/>
                <a:cs typeface="Times New Roman" panose="02020603050405020304" pitchFamily="18" charset="0"/>
              </a:rPr>
              <a:t>(); // Buggy 4</a:t>
            </a:r>
          </a:p>
          <a:p>
            <a:pPr algn="just"/>
            <a:r>
              <a:rPr lang="fr-FR" sz="2000" dirty="0" err="1">
                <a:latin typeface="Times New Roman" panose="02020603050405020304" pitchFamily="18" charset="0"/>
                <a:cs typeface="Times New Roman" panose="02020603050405020304" pitchFamily="18" charset="0"/>
              </a:rPr>
              <a:t>voiture.AfficheNom</a:t>
            </a:r>
            <a:r>
              <a:rPr lang="fr-FR" sz="2000" dirty="0">
                <a:latin typeface="Times New Roman" panose="02020603050405020304" pitchFamily="18" charset="0"/>
                <a:cs typeface="Times New Roman" panose="02020603050405020304" pitchFamily="18" charset="0"/>
              </a:rPr>
              <a:t>(); // Buggy</a:t>
            </a:r>
          </a:p>
        </p:txBody>
      </p:sp>
    </p:spTree>
    <p:extLst>
      <p:ext uri="{BB962C8B-B14F-4D97-AF65-F5344CB8AC3E}">
        <p14:creationId xmlns:p14="http://schemas.microsoft.com/office/powerpoint/2010/main" val="339883445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4708981"/>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Principe</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a:latin typeface="Times New Roman" panose="02020603050405020304" pitchFamily="18" charset="0"/>
                <a:cs typeface="Times New Roman" panose="02020603050405020304" pitchFamily="18" charset="0"/>
              </a:rPr>
              <a:t>Règles :</a:t>
            </a:r>
          </a:p>
          <a:p>
            <a:pPr algn="just"/>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fr-FR" sz="2000" dirty="0">
                <a:latin typeface="Times New Roman" panose="02020603050405020304" pitchFamily="18" charset="0"/>
                <a:cs typeface="Times New Roman" panose="02020603050405020304" pitchFamily="18" charset="0"/>
              </a:rPr>
              <a:t>Une classe ne peut avoir qu’une seule classe parent. L’héritage multiple est interdit.</a:t>
            </a:r>
          </a:p>
          <a:p>
            <a:pPr marL="342900" indent="-342900" algn="just">
              <a:buFont typeface="Wingdings" panose="05000000000000000000" pitchFamily="2" charset="2"/>
              <a:buChar char="Ø"/>
            </a:pPr>
            <a:r>
              <a:rPr lang="fr-FR" sz="2000" dirty="0">
                <a:latin typeface="Times New Roman" panose="02020603050405020304" pitchFamily="18" charset="0"/>
                <a:cs typeface="Times New Roman" panose="02020603050405020304" pitchFamily="18" charset="0"/>
              </a:rPr>
              <a:t>Les cycles sont interdits :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ne peut hériter de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si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est un descendant de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Considérons les 2 classes A et B ci dessous.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class A {</a:t>
            </a:r>
          </a:p>
          <a:p>
            <a:pPr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MethodeA</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class B : A {</a:t>
            </a:r>
          </a:p>
          <a:p>
            <a:pPr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MethodeB</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9610846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4401205"/>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Principe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Un aspect fondamental de l’héritage est que si une classe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hérite d’une classe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alors les objets de type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peuvent aussi être vus comme des objets de type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On dit que le type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englobe/est plus grand que le type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ce qui peut se représenter par un diagramme de </a:t>
            </a:r>
            <a:r>
              <a:rPr lang="fr-FR" sz="2000" dirty="0" err="1">
                <a:latin typeface="Times New Roman" panose="02020603050405020304" pitchFamily="18" charset="0"/>
                <a:cs typeface="Times New Roman" panose="02020603050405020304" pitchFamily="18" charset="0"/>
              </a:rPr>
              <a:t>Venn</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Si la classe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hérite de la classe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alors, du point de vue du typage, les objets de type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forment un sous ensemble des objets de type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a:t>
            </a:r>
            <a:endParaRPr lang="fr-FR" sz="2000" dirty="0" smtClean="0">
              <a:latin typeface="Times New Roman" panose="02020603050405020304" pitchFamily="18" charset="0"/>
              <a:cs typeface="Times New Roman" panose="02020603050405020304" pitchFamily="18" charset="0"/>
            </a:endParaRPr>
          </a:p>
        </p:txBody>
      </p:sp>
      <p:pic>
        <p:nvPicPr>
          <p:cNvPr id="4" name="Image 3"/>
          <p:cNvPicPr>
            <a:picLocks noChangeAspect="1"/>
          </p:cNvPicPr>
          <p:nvPr/>
        </p:nvPicPr>
        <p:blipFill>
          <a:blip r:embed="rId2"/>
          <a:stretch>
            <a:fillRect/>
          </a:stretch>
        </p:blipFill>
        <p:spPr>
          <a:xfrm>
            <a:off x="4550639" y="2533841"/>
            <a:ext cx="3019048" cy="2142857"/>
          </a:xfrm>
          <a:prstGeom prst="rect">
            <a:avLst/>
          </a:prstGeom>
        </p:spPr>
      </p:pic>
    </p:spTree>
    <p:extLst>
      <p:ext uri="{BB962C8B-B14F-4D97-AF65-F5344CB8AC3E}">
        <p14:creationId xmlns:p14="http://schemas.microsoft.com/office/powerpoint/2010/main" val="163842038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4093428"/>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Principe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Je peux créer des variables et des objets de type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et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et comme les objets de type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peuvent également être vus comme étant du type parent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je peux les référencer par des variables de type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 a1 = new A();</a:t>
            </a:r>
          </a:p>
          <a:p>
            <a:pPr algn="just"/>
            <a:r>
              <a:rPr lang="fr-FR" sz="2000" dirty="0">
                <a:latin typeface="Times New Roman" panose="02020603050405020304" pitchFamily="18" charset="0"/>
                <a:cs typeface="Times New Roman" panose="02020603050405020304" pitchFamily="18" charset="0"/>
              </a:rPr>
              <a:t>B b1 = new B();</a:t>
            </a:r>
          </a:p>
          <a:p>
            <a:pPr algn="just"/>
            <a:r>
              <a:rPr lang="fr-FR" sz="2000" dirty="0">
                <a:latin typeface="Times New Roman" panose="02020603050405020304" pitchFamily="18" charset="0"/>
                <a:cs typeface="Times New Roman" panose="02020603050405020304" pitchFamily="18" charset="0"/>
              </a:rPr>
              <a:t>A a2 = new B(); // a2 est de type A mais référence un objet de type B</a:t>
            </a:r>
          </a:p>
          <a:p>
            <a:pPr algn="just"/>
            <a:r>
              <a:rPr lang="fr-FR" sz="2000" dirty="0">
                <a:latin typeface="Times New Roman" panose="02020603050405020304" pitchFamily="18" charset="0"/>
                <a:cs typeface="Times New Roman" panose="02020603050405020304" pitchFamily="18" charset="0"/>
              </a:rPr>
              <a:t>A a3 = b1;      // idem pour a3</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On est alors dans la situation où la variable a2 a pour type déclaré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(le type de la variable tel qu’on l’a écrit dans le code) et pour type constaté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(le type de l’objet qui est référencé par la variable au moment de l’exécution).</a:t>
            </a:r>
            <a:endParaRPr lang="fr-FR" sz="2000" dirty="0" smtClean="0">
              <a:latin typeface="Times New Roman" panose="02020603050405020304" pitchFamily="18" charset="0"/>
              <a:cs typeface="Times New Roman" panose="02020603050405020304" pitchFamily="18" charset="0"/>
            </a:endParaRPr>
          </a:p>
        </p:txBody>
      </p:sp>
      <p:pic>
        <p:nvPicPr>
          <p:cNvPr id="5" name="Image 4"/>
          <p:cNvPicPr>
            <a:picLocks noChangeAspect="1"/>
          </p:cNvPicPr>
          <p:nvPr/>
        </p:nvPicPr>
        <p:blipFill>
          <a:blip r:embed="rId2"/>
          <a:stretch>
            <a:fillRect/>
          </a:stretch>
        </p:blipFill>
        <p:spPr>
          <a:xfrm>
            <a:off x="3630164" y="5108201"/>
            <a:ext cx="4859998" cy="1080000"/>
          </a:xfrm>
          <a:prstGeom prst="rect">
            <a:avLst/>
          </a:prstGeom>
        </p:spPr>
      </p:pic>
    </p:spTree>
    <p:extLst>
      <p:ext uri="{BB962C8B-B14F-4D97-AF65-F5344CB8AC3E}">
        <p14:creationId xmlns:p14="http://schemas.microsoft.com/office/powerpoint/2010/main" val="179860333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5324535"/>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Principe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Lorsqu’on utilise l’opérateur d’accès ., c’est le type déclaré qui est utilisé par le compilateur pour déterminer si on accède à un membre valide: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b1.MethodeA(); // OK car b1 est de type déclaré B qui hérite de A</a:t>
            </a:r>
          </a:p>
          <a:p>
            <a:pPr algn="just"/>
            <a:r>
              <a:rPr lang="fr-FR" sz="2000" dirty="0">
                <a:latin typeface="Times New Roman" panose="02020603050405020304" pitchFamily="18" charset="0"/>
                <a:cs typeface="Times New Roman" panose="02020603050405020304" pitchFamily="18" charset="0"/>
              </a:rPr>
              <a:t>b1.MethodeB(); // OK car b1 est de type déclaré B</a:t>
            </a:r>
          </a:p>
          <a:p>
            <a:pPr algn="just"/>
            <a:r>
              <a:rPr lang="fr-FR" sz="2000" dirty="0">
                <a:latin typeface="Times New Roman" panose="02020603050405020304" pitchFamily="18" charset="0"/>
                <a:cs typeface="Times New Roman" panose="02020603050405020304" pitchFamily="18" charset="0"/>
              </a:rPr>
              <a:t>a2.MethodeA(); // OK car a2 est de type déclaré A</a:t>
            </a:r>
          </a:p>
          <a:p>
            <a:pPr algn="just"/>
            <a:r>
              <a:rPr lang="fr-FR" sz="2000" dirty="0">
                <a:latin typeface="Times New Roman" panose="02020603050405020304" pitchFamily="18" charset="0"/>
                <a:cs typeface="Times New Roman" panose="02020603050405020304" pitchFamily="18" charset="0"/>
              </a:rPr>
              <a:t>// a2.MethodeB(); ERREUR de compilation  car a2 est de type déclaré A (même si le type constaté est B)</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Lorsque qu’une classe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hérite d’une classe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n’a pas accès aux membres privés de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Afin d’avoir un contrôle plus fin sur la visibilité, l’héritage introduit le nouveau niveau de visibilité </a:t>
            </a:r>
            <a:r>
              <a:rPr lang="fr-FR" sz="2000" b="1" dirty="0" err="1">
                <a:latin typeface="Times New Roman" panose="02020603050405020304" pitchFamily="18" charset="0"/>
                <a:cs typeface="Times New Roman" panose="02020603050405020304" pitchFamily="18" charset="0"/>
              </a:rPr>
              <a:t>protected</a:t>
            </a:r>
            <a:r>
              <a:rPr lang="fr-FR" sz="2000" dirty="0">
                <a:latin typeface="Times New Roman" panose="02020603050405020304" pitchFamily="18" charset="0"/>
                <a:cs typeface="Times New Roman" panose="02020603050405020304" pitchFamily="18" charset="0"/>
              </a:rPr>
              <a:t> qui ouvre l’accès aux enfants mais pas à l’extérieur. On se </a:t>
            </a:r>
            <a:r>
              <a:rPr lang="fr-FR" sz="2000" dirty="0" smtClean="0">
                <a:latin typeface="Times New Roman" panose="02020603050405020304" pitchFamily="18" charset="0"/>
                <a:cs typeface="Times New Roman" panose="02020603050405020304" pitchFamily="18" charset="0"/>
              </a:rPr>
              <a:t>retrouve </a:t>
            </a:r>
            <a:r>
              <a:rPr lang="fr-FR" sz="2000" dirty="0">
                <a:latin typeface="Times New Roman" panose="02020603050405020304" pitchFamily="18" charset="0"/>
                <a:cs typeface="Times New Roman" panose="02020603050405020304" pitchFamily="18" charset="0"/>
              </a:rPr>
              <a:t>ainsi avec 3 niveaux de visibilités possibles pour les membres de la classe </a:t>
            </a:r>
            <a:r>
              <a:rPr lang="fr-FR" sz="2000" b="1" dirty="0">
                <a:latin typeface="Times New Roman" panose="02020603050405020304" pitchFamily="18" charset="0"/>
                <a:cs typeface="Times New Roman" panose="02020603050405020304" pitchFamily="18" charset="0"/>
              </a:rPr>
              <a:t>A</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fr-FR" sz="2000" b="1" dirty="0">
                <a:latin typeface="Times New Roman" panose="02020603050405020304" pitchFamily="18" charset="0"/>
                <a:cs typeface="Times New Roman" panose="02020603050405020304" pitchFamily="18" charset="0"/>
              </a:rPr>
              <a:t>public</a:t>
            </a:r>
            <a:r>
              <a:rPr lang="fr-FR" sz="2000" dirty="0">
                <a:latin typeface="Times New Roman" panose="02020603050405020304" pitchFamily="18" charset="0"/>
                <a:cs typeface="Times New Roman" panose="02020603050405020304" pitchFamily="18" charset="0"/>
              </a:rPr>
              <a:t> : accès ouvert pour l’extérieur et pour les classes dérivées</a:t>
            </a:r>
          </a:p>
          <a:p>
            <a:pPr marL="342900" indent="-342900" algn="just">
              <a:buFont typeface="Wingdings" panose="05000000000000000000" pitchFamily="2" charset="2"/>
              <a:buChar char="Ø"/>
            </a:pPr>
            <a:r>
              <a:rPr lang="fr-FR" sz="2000" b="1" dirty="0" err="1">
                <a:latin typeface="Times New Roman" panose="02020603050405020304" pitchFamily="18" charset="0"/>
                <a:cs typeface="Times New Roman" panose="02020603050405020304" pitchFamily="18" charset="0"/>
              </a:rPr>
              <a:t>protected</a:t>
            </a:r>
            <a:r>
              <a:rPr lang="fr-FR" sz="2000" dirty="0">
                <a:latin typeface="Times New Roman" panose="02020603050405020304" pitchFamily="18" charset="0"/>
                <a:cs typeface="Times New Roman" panose="02020603050405020304" pitchFamily="18" charset="0"/>
              </a:rPr>
              <a:t> : accès fermé pour l’extérieur mais ouvert pour les classes dérivées</a:t>
            </a:r>
          </a:p>
          <a:p>
            <a:pPr marL="342900" indent="-342900" algn="just">
              <a:buFont typeface="Wingdings" panose="05000000000000000000" pitchFamily="2" charset="2"/>
              <a:buChar char="Ø"/>
            </a:pPr>
            <a:r>
              <a:rPr lang="fr-FR" sz="2000" b="1" dirty="0" err="1">
                <a:latin typeface="Times New Roman" panose="02020603050405020304" pitchFamily="18" charset="0"/>
                <a:cs typeface="Times New Roman" panose="02020603050405020304" pitchFamily="18" charset="0"/>
              </a:rPr>
              <a:t>private</a:t>
            </a:r>
            <a:r>
              <a:rPr lang="fr-FR" sz="2000" dirty="0">
                <a:latin typeface="Times New Roman" panose="02020603050405020304" pitchFamily="18" charset="0"/>
                <a:cs typeface="Times New Roman" panose="02020603050405020304" pitchFamily="18" charset="0"/>
              </a:rPr>
              <a:t> : accès fermé pour l’extérieur et fermé pour les classes dérivées</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988621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4401205"/>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Fonctions Polymorphes</a:t>
            </a:r>
            <a:endParaRPr lang="fr-FR" sz="2000" b="1" dirty="0" smtClean="0">
              <a:solidFill>
                <a:srgbClr val="C00000"/>
              </a:solidFill>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 terme polymorphisme désigne la capacité d’une méthode à pouvoir prendre un comportement différent suivant le contexte: types des paramètres et type de l’objet courant.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Par exemple, si l’on veut créer une fonction calculant le maximum de deux nombres, il serait pratique qu’elle puisse porter le même nom quels que soient les paramètres utilisés. On voudrait créer ces fonctions de la manière suivante :</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smtClean="0">
                <a:latin typeface="Times New Roman" panose="02020603050405020304" pitchFamily="18" charset="0"/>
                <a:cs typeface="Times New Roman" panose="02020603050405020304" pitchFamily="18" charset="0"/>
              </a:rPr>
              <a:t>int</a:t>
            </a:r>
            <a:r>
              <a:rPr lang="fr-FR" sz="20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Max(</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a,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b)               { ... }</a:t>
            </a:r>
          </a:p>
          <a:p>
            <a:pPr algn="just"/>
            <a:r>
              <a:rPr lang="fr-FR" sz="2000" dirty="0" err="1">
                <a:latin typeface="Times New Roman" panose="02020603050405020304" pitchFamily="18" charset="0"/>
                <a:cs typeface="Times New Roman" panose="02020603050405020304" pitchFamily="18" charset="0"/>
              </a:rPr>
              <a:t>float</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Max(</a:t>
            </a:r>
            <a:r>
              <a:rPr lang="fr-FR" sz="2000" dirty="0" err="1" smtClean="0">
                <a:latin typeface="Times New Roman" panose="02020603050405020304" pitchFamily="18" charset="0"/>
                <a:cs typeface="Times New Roman" panose="02020603050405020304" pitchFamily="18" charset="0"/>
              </a:rPr>
              <a:t>float</a:t>
            </a:r>
            <a:r>
              <a:rPr lang="fr-FR" sz="20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a, </a:t>
            </a:r>
            <a:r>
              <a:rPr lang="fr-FR" sz="2000" dirty="0" err="1">
                <a:latin typeface="Times New Roman" panose="02020603050405020304" pitchFamily="18" charset="0"/>
                <a:cs typeface="Times New Roman" panose="02020603050405020304" pitchFamily="18" charset="0"/>
              </a:rPr>
              <a:t>float</a:t>
            </a:r>
            <a:r>
              <a:rPr lang="fr-FR" sz="2000" dirty="0">
                <a:latin typeface="Times New Roman" panose="02020603050405020304" pitchFamily="18" charset="0"/>
                <a:cs typeface="Times New Roman" panose="02020603050405020304" pitchFamily="18" charset="0"/>
              </a:rPr>
              <a:t> b)           { ... }</a:t>
            </a:r>
          </a:p>
          <a:p>
            <a:pPr algn="just"/>
            <a:r>
              <a:rPr lang="fr-FR" sz="2000" dirty="0">
                <a:latin typeface="Times New Roman" panose="02020603050405020304" pitchFamily="18" charset="0"/>
                <a:cs typeface="Times New Roman" panose="02020603050405020304" pitchFamily="18" charset="0"/>
              </a:rPr>
              <a:t>double </a:t>
            </a:r>
            <a:r>
              <a:rPr lang="fr-FR" sz="2000" dirty="0" smtClean="0">
                <a:latin typeface="Times New Roman" panose="02020603050405020304" pitchFamily="18" charset="0"/>
                <a:cs typeface="Times New Roman" panose="02020603050405020304" pitchFamily="18" charset="0"/>
              </a:rPr>
              <a:t>Max(double </a:t>
            </a:r>
            <a:r>
              <a:rPr lang="fr-FR" sz="2000" dirty="0">
                <a:latin typeface="Times New Roman" panose="02020603050405020304" pitchFamily="18" charset="0"/>
                <a:cs typeface="Times New Roman" panose="02020603050405020304" pitchFamily="18" charset="0"/>
              </a:rPr>
              <a:t>a, double b)         { ... }</a:t>
            </a:r>
          </a:p>
          <a:p>
            <a:pPr algn="just"/>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k = Max(</a:t>
            </a:r>
            <a:r>
              <a:rPr lang="fr-FR" sz="2000" dirty="0" err="1">
                <a:latin typeface="Times New Roman" panose="02020603050405020304" pitchFamily="18" charset="0"/>
                <a:cs typeface="Times New Roman" panose="02020603050405020304" pitchFamily="18" charset="0"/>
              </a:rPr>
              <a:t>u,v</a:t>
            </a:r>
            <a:r>
              <a:rPr lang="fr-FR"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91187150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5324535"/>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Fonctions Polymorphes</a:t>
            </a:r>
            <a:endParaRPr lang="fr-FR" sz="2000" b="1" dirty="0" smtClean="0">
              <a:solidFill>
                <a:srgbClr val="C00000"/>
              </a:solidFill>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 compilateur connaît les types des variables </a:t>
            </a:r>
            <a:r>
              <a:rPr lang="fr-FR" sz="2000" b="1" dirty="0">
                <a:latin typeface="Times New Roman" panose="02020603050405020304" pitchFamily="18" charset="0"/>
                <a:cs typeface="Times New Roman" panose="02020603050405020304" pitchFamily="18" charset="0"/>
              </a:rPr>
              <a:t>u</a:t>
            </a:r>
            <a:r>
              <a:rPr lang="fr-FR" sz="2000" dirty="0">
                <a:latin typeface="Times New Roman" panose="02020603050405020304" pitchFamily="18" charset="0"/>
                <a:cs typeface="Times New Roman" panose="02020603050405020304" pitchFamily="18" charset="0"/>
              </a:rPr>
              <a:t> et </a:t>
            </a:r>
            <a:r>
              <a:rPr lang="fr-FR" sz="2000" b="1" dirty="0">
                <a:latin typeface="Times New Roman" panose="02020603050405020304" pitchFamily="18" charset="0"/>
                <a:cs typeface="Times New Roman" panose="02020603050405020304" pitchFamily="18" charset="0"/>
              </a:rPr>
              <a:t>v</a:t>
            </a:r>
            <a:r>
              <a:rPr lang="fr-FR" sz="2000" dirty="0">
                <a:latin typeface="Times New Roman" panose="02020603050405020304" pitchFamily="18" charset="0"/>
                <a:cs typeface="Times New Roman" panose="02020603050405020304" pitchFamily="18" charset="0"/>
              </a:rPr>
              <a:t>, il va donc chercher la fonction </a:t>
            </a:r>
            <a:r>
              <a:rPr lang="fr-FR" sz="2000" b="1" dirty="0">
                <a:latin typeface="Times New Roman" panose="02020603050405020304" pitchFamily="18" charset="0"/>
                <a:cs typeface="Times New Roman" panose="02020603050405020304" pitchFamily="18" charset="0"/>
              </a:rPr>
              <a:t>Max</a:t>
            </a:r>
            <a:r>
              <a:rPr lang="fr-FR" sz="2000" dirty="0">
                <a:latin typeface="Times New Roman" panose="02020603050405020304" pitchFamily="18" charset="0"/>
                <a:cs typeface="Times New Roman" panose="02020603050405020304" pitchFamily="18" charset="0"/>
              </a:rPr>
              <a:t> prenant ces types là en arguments. Les différentes fonctions </a:t>
            </a:r>
            <a:r>
              <a:rPr lang="fr-FR" sz="2000" b="1" dirty="0">
                <a:latin typeface="Times New Roman" panose="02020603050405020304" pitchFamily="18" charset="0"/>
                <a:cs typeface="Times New Roman" panose="02020603050405020304" pitchFamily="18" charset="0"/>
              </a:rPr>
              <a:t>Max</a:t>
            </a:r>
            <a:r>
              <a:rPr lang="fr-FR" sz="2000" dirty="0">
                <a:latin typeface="Times New Roman" panose="02020603050405020304" pitchFamily="18" charset="0"/>
                <a:cs typeface="Times New Roman" panose="02020603050405020304" pitchFamily="18" charset="0"/>
              </a:rPr>
              <a:t> ne traitent pas les mêmes éléments, pourtant conceptuellement, elles effectuent le même calcul. C’est un des aspects du polymorphisme, on parle dans ce cas de </a:t>
            </a:r>
            <a:r>
              <a:rPr lang="fr-FR" sz="2000" b="1" dirty="0">
                <a:latin typeface="Times New Roman" panose="02020603050405020304" pitchFamily="18" charset="0"/>
                <a:cs typeface="Times New Roman" panose="02020603050405020304" pitchFamily="18" charset="0"/>
              </a:rPr>
              <a:t>polymorphisme ad hoc</a:t>
            </a:r>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Ce concept de polymorphisme s’étend à l’héritage. Par exemple si vous faîtes un jeu de simulation affichant plusieurs types de véhicules à l’écran, il serait agréable d’avoir une unique fonction </a:t>
            </a:r>
            <a:r>
              <a:rPr lang="fr-FR" sz="2000" dirty="0" err="1">
                <a:latin typeface="Times New Roman" panose="02020603050405020304" pitchFamily="18" charset="0"/>
                <a:cs typeface="Times New Roman" panose="02020603050405020304" pitchFamily="18" charset="0"/>
              </a:rPr>
              <a:t>AfficheToi</a:t>
            </a:r>
            <a:r>
              <a:rPr lang="fr-FR" sz="2000" dirty="0">
                <a:latin typeface="Times New Roman" panose="02020603050405020304" pitchFamily="18" charset="0"/>
                <a:cs typeface="Times New Roman" panose="02020603050405020304" pitchFamily="18" charset="0"/>
              </a:rPr>
              <a:t>(). Ainsi pour dessiner l’écran du jeu, je demande à chaque objet de s’afficher en utilisant le même nom de fonction. Cette action est similaire pour une voiture, un avion, un vélo, chacun va s’afficher à l’écran, mais avec un comportement différent. Un objet A320 dessinera spécifiquement un Airbus A320, chaque voiture Peugeot 205 dessinera une Peugeot 205… Il est possible, mais plus lourd à gérer, de créer des fonctions différentes comme AfficheA320(), AfficheC3(), AffichePeugeot205()…</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Ainsi une fonction peut exister sous le même nom dans une hiérarchie mais avoir un comportement différent suivant le type de l’objet instancié. On parle alors de </a:t>
            </a:r>
            <a:r>
              <a:rPr lang="fr-FR" sz="2000" b="1" dirty="0">
                <a:latin typeface="Times New Roman" panose="02020603050405020304" pitchFamily="18" charset="0"/>
                <a:cs typeface="Times New Roman" panose="02020603050405020304" pitchFamily="18" charset="0"/>
              </a:rPr>
              <a:t>polymorphisme d’héritage</a:t>
            </a:r>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8844275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5632311"/>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Fonctions Polymorphes</a:t>
            </a:r>
            <a:endParaRPr lang="fr-FR" sz="2000" b="1" dirty="0" smtClean="0">
              <a:solidFill>
                <a:srgbClr val="C00000"/>
              </a:solidFill>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b="1" dirty="0">
                <a:solidFill>
                  <a:srgbClr val="C00000"/>
                </a:solidFill>
                <a:latin typeface="Times New Roman" panose="02020603050405020304" pitchFamily="18" charset="0"/>
                <a:cs typeface="Times New Roman" panose="02020603050405020304" pitchFamily="18" charset="0"/>
              </a:rPr>
              <a:t>Polymorphisme ad hoc</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 </a:t>
            </a:r>
            <a:r>
              <a:rPr lang="fr-FR" sz="2000" b="1" dirty="0">
                <a:latin typeface="Times New Roman" panose="02020603050405020304" pitchFamily="18" charset="0"/>
                <a:cs typeface="Times New Roman" panose="02020603050405020304" pitchFamily="18" charset="0"/>
              </a:rPr>
              <a:t>polymorphisme ad hoc </a:t>
            </a:r>
            <a:r>
              <a:rPr lang="fr-FR" sz="2000" dirty="0">
                <a:latin typeface="Times New Roman" panose="02020603050405020304" pitchFamily="18" charset="0"/>
                <a:cs typeface="Times New Roman" panose="02020603050405020304" pitchFamily="18" charset="0"/>
              </a:rPr>
              <a:t>(ou </a:t>
            </a:r>
            <a:r>
              <a:rPr lang="fr-FR" sz="2000" b="1" dirty="0">
                <a:latin typeface="Times New Roman" panose="02020603050405020304" pitchFamily="18" charset="0"/>
                <a:cs typeface="Times New Roman" panose="02020603050405020304" pitchFamily="18" charset="0"/>
              </a:rPr>
              <a:t>surcharge</a:t>
            </a:r>
            <a:r>
              <a:rPr lang="fr-FR" sz="2000" dirty="0">
                <a:latin typeface="Times New Roman" panose="02020603050405020304" pitchFamily="18" charset="0"/>
                <a:cs typeface="Times New Roman" panose="02020603050405020304" pitchFamily="18" charset="0"/>
              </a:rPr>
              <a:t>, ou </a:t>
            </a:r>
            <a:r>
              <a:rPr lang="fr-FR" sz="2000" b="1" dirty="0" err="1">
                <a:latin typeface="Times New Roman" panose="02020603050405020304" pitchFamily="18" charset="0"/>
                <a:cs typeface="Times New Roman" panose="02020603050405020304" pitchFamily="18" charset="0"/>
              </a:rPr>
              <a:t>overload</a:t>
            </a:r>
            <a:r>
              <a:rPr lang="fr-FR" sz="2000" dirty="0">
                <a:latin typeface="Times New Roman" panose="02020603050405020304" pitchFamily="18" charset="0"/>
                <a:cs typeface="Times New Roman" panose="02020603050405020304" pitchFamily="18" charset="0"/>
              </a:rPr>
              <a:t>) consiste à définir plusieurs fonctions avec le même nom au sein de la même classe.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On appelle </a:t>
            </a:r>
            <a:r>
              <a:rPr lang="fr-FR" sz="2000" b="1" dirty="0">
                <a:latin typeface="Times New Roman" panose="02020603050405020304" pitchFamily="18" charset="0"/>
                <a:cs typeface="Times New Roman" panose="02020603050405020304" pitchFamily="18" charset="0"/>
              </a:rPr>
              <a:t>signature</a:t>
            </a:r>
            <a:r>
              <a:rPr lang="fr-FR" sz="2000" dirty="0">
                <a:latin typeface="Times New Roman" panose="02020603050405020304" pitchFamily="18" charset="0"/>
                <a:cs typeface="Times New Roman" panose="02020603050405020304" pitchFamily="18" charset="0"/>
              </a:rPr>
              <a:t> d’une fonction le n-</a:t>
            </a:r>
            <a:r>
              <a:rPr lang="fr-FR" sz="2000" dirty="0" err="1">
                <a:latin typeface="Times New Roman" panose="02020603050405020304" pitchFamily="18" charset="0"/>
                <a:cs typeface="Times New Roman" panose="02020603050405020304" pitchFamily="18" charset="0"/>
              </a:rPr>
              <a:t>uplet</a:t>
            </a:r>
            <a:r>
              <a:rPr lang="fr-FR" sz="2000" dirty="0">
                <a:latin typeface="Times New Roman" panose="02020603050405020304" pitchFamily="18" charset="0"/>
                <a:cs typeface="Times New Roman" panose="02020603050405020304" pitchFamily="18" charset="0"/>
              </a:rPr>
              <a:t> formé de son nom et de l’ensemble des types de ses arguments (l’ordre est important). Par exemple, la </a:t>
            </a:r>
            <a:r>
              <a:rPr lang="fr-FR" sz="2000" dirty="0" smtClean="0">
                <a:latin typeface="Times New Roman" panose="02020603050405020304" pitchFamily="18" charset="0"/>
                <a:cs typeface="Times New Roman" panose="02020603050405020304" pitchFamily="18" charset="0"/>
              </a:rPr>
              <a:t>méthode :</a:t>
            </a:r>
            <a:endParaRPr lang="fr-FR" sz="2000" dirty="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double </a:t>
            </a:r>
            <a:r>
              <a:rPr lang="fr-FR" sz="2000" dirty="0" err="1">
                <a:latin typeface="Times New Roman" panose="02020603050405020304" pitchFamily="18" charset="0"/>
                <a:cs typeface="Times New Roman" panose="02020603050405020304" pitchFamily="18" charset="0"/>
              </a:rPr>
              <a:t>Foo</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a, string b, </a:t>
            </a:r>
            <a:r>
              <a:rPr lang="fr-FR" sz="2000" dirty="0" err="1">
                <a:latin typeface="Times New Roman" panose="02020603050405020304" pitchFamily="18" charset="0"/>
                <a:cs typeface="Times New Roman" panose="02020603050405020304" pitchFamily="18" charset="0"/>
              </a:rPr>
              <a:t>float</a:t>
            </a:r>
            <a:r>
              <a:rPr lang="fr-FR" sz="2000" dirty="0">
                <a:latin typeface="Times New Roman" panose="02020603050405020304" pitchFamily="18" charset="0"/>
                <a:cs typeface="Times New Roman" panose="02020603050405020304" pitchFamily="18" charset="0"/>
              </a:rPr>
              <a:t> [] c){}</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 pour </a:t>
            </a:r>
            <a:r>
              <a:rPr lang="fr-FR" sz="2000" b="1" dirty="0">
                <a:latin typeface="Times New Roman" panose="02020603050405020304" pitchFamily="18" charset="0"/>
                <a:cs typeface="Times New Roman" panose="02020603050405020304" pitchFamily="18" charset="0"/>
              </a:rPr>
              <a:t>signature </a:t>
            </a:r>
            <a:r>
              <a:rPr lang="fr-FR" sz="2000" b="1" dirty="0" smtClean="0">
                <a:latin typeface="Times New Roman" panose="02020603050405020304" pitchFamily="18" charset="0"/>
                <a:cs typeface="Times New Roman" panose="02020603050405020304" pitchFamily="18" charset="0"/>
              </a:rPr>
              <a:t>(</a:t>
            </a:r>
            <a:r>
              <a:rPr lang="fr-FR" sz="2000" b="1" dirty="0" err="1" smtClean="0">
                <a:latin typeface="Times New Roman" panose="02020603050405020304" pitchFamily="18" charset="0"/>
                <a:cs typeface="Times New Roman" panose="02020603050405020304" pitchFamily="18" charset="0"/>
              </a:rPr>
              <a:t>Foo</a:t>
            </a:r>
            <a:r>
              <a:rPr lang="fr-FR" sz="2000" b="1" dirty="0">
                <a:latin typeface="Times New Roman" panose="02020603050405020304" pitchFamily="18" charset="0"/>
                <a:cs typeface="Times New Roman" panose="02020603050405020304" pitchFamily="18" charset="0"/>
              </a:rPr>
              <a:t>, </a:t>
            </a:r>
            <a:r>
              <a:rPr lang="fr-FR" sz="2000" b="1" dirty="0" err="1">
                <a:latin typeface="Times New Roman" panose="02020603050405020304" pitchFamily="18" charset="0"/>
                <a:cs typeface="Times New Roman" panose="02020603050405020304" pitchFamily="18" charset="0"/>
              </a:rPr>
              <a:t>int</a:t>
            </a:r>
            <a:r>
              <a:rPr lang="fr-FR" sz="2000" b="1" dirty="0">
                <a:latin typeface="Times New Roman" panose="02020603050405020304" pitchFamily="18" charset="0"/>
                <a:cs typeface="Times New Roman" panose="02020603050405020304" pitchFamily="18" charset="0"/>
              </a:rPr>
              <a:t>, string, </a:t>
            </a:r>
            <a:r>
              <a:rPr lang="fr-FR" sz="2000" b="1" dirty="0" err="1">
                <a:latin typeface="Times New Roman" panose="02020603050405020304" pitchFamily="18" charset="0"/>
                <a:cs typeface="Times New Roman" panose="02020603050405020304" pitchFamily="18" charset="0"/>
              </a:rPr>
              <a:t>float</a:t>
            </a:r>
            <a:r>
              <a:rPr lang="fr-FR" sz="2000" b="1" dirty="0">
                <a:latin typeface="Times New Roman" panose="02020603050405020304" pitchFamily="18" charset="0"/>
                <a:cs typeface="Times New Roman" panose="02020603050405020304" pitchFamily="18" charset="0"/>
              </a:rPr>
              <a:t> []).</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 C# autorise la définition d’une méthode si sa signature est différente de celles des autres méthodes de la classe. Il est important de noter que le type de retour ne fait pas parti de la signature, on ne peut donc pas avoir deux méthodes portant le même nom, prenant le même type d’argument mais avec un type de retour différent.</a:t>
            </a:r>
          </a:p>
        </p:txBody>
      </p:sp>
    </p:spTree>
    <p:extLst>
      <p:ext uri="{BB962C8B-B14F-4D97-AF65-F5344CB8AC3E}">
        <p14:creationId xmlns:p14="http://schemas.microsoft.com/office/powerpoint/2010/main" val="206976888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5940088"/>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Fonctions Polymorphes</a:t>
            </a:r>
            <a:endParaRPr lang="fr-FR" sz="2000" b="1" dirty="0" smtClean="0">
              <a:solidFill>
                <a:srgbClr val="C00000"/>
              </a:solidFill>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b="1" dirty="0">
                <a:solidFill>
                  <a:srgbClr val="C00000"/>
                </a:solidFill>
                <a:latin typeface="Times New Roman" panose="02020603050405020304" pitchFamily="18" charset="0"/>
                <a:cs typeface="Times New Roman" panose="02020603050405020304" pitchFamily="18" charset="0"/>
              </a:rPr>
              <a:t>Polymorphisme ad hoc</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Exemples :</a:t>
            </a:r>
            <a:endParaRPr lang="fr-FR" sz="2000" b="1" dirty="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F(</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a, double b) {} // définition de </a:t>
            </a:r>
            <a:r>
              <a:rPr lang="fr-FR" sz="2000" dirty="0" smtClean="0">
                <a:latin typeface="Times New Roman" panose="02020603050405020304" pitchFamily="18" charset="0"/>
                <a:cs typeface="Times New Roman" panose="02020603050405020304" pitchFamily="18" charset="0"/>
              </a:rPr>
              <a:t>F </a:t>
            </a:r>
            <a:r>
              <a:rPr lang="fr-FR" sz="2000" dirty="0">
                <a:latin typeface="Times New Roman" panose="02020603050405020304" pitchFamily="18" charset="0"/>
                <a:cs typeface="Times New Roman" panose="02020603050405020304" pitchFamily="18" charset="0"/>
              </a:rPr>
              <a:t>avec 2 arguments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et double</a:t>
            </a:r>
          </a:p>
          <a:p>
            <a:pPr algn="just"/>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F() {} // redéfinition de </a:t>
            </a:r>
            <a:r>
              <a:rPr lang="fr-FR" sz="2000" dirty="0" smtClean="0">
                <a:latin typeface="Times New Roman" panose="02020603050405020304" pitchFamily="18" charset="0"/>
                <a:cs typeface="Times New Roman" panose="02020603050405020304" pitchFamily="18" charset="0"/>
              </a:rPr>
              <a:t>F </a:t>
            </a:r>
            <a:r>
              <a:rPr lang="fr-FR" sz="2000" dirty="0">
                <a:latin typeface="Times New Roman" panose="02020603050405020304" pitchFamily="18" charset="0"/>
                <a:cs typeface="Times New Roman" panose="02020603050405020304" pitchFamily="18" charset="0"/>
              </a:rPr>
              <a:t>sans argument</a:t>
            </a:r>
          </a:p>
          <a:p>
            <a:pPr algn="just"/>
            <a:r>
              <a:rPr lang="fr-FR" sz="2000" dirty="0">
                <a:latin typeface="Times New Roman" panose="02020603050405020304" pitchFamily="18" charset="0"/>
                <a:cs typeface="Times New Roman" panose="02020603050405020304" pitchFamily="18" charset="0"/>
              </a:rPr>
              <a:t>double F(double a) {} // redéfinition de </a:t>
            </a:r>
            <a:r>
              <a:rPr lang="fr-FR" sz="2000" dirty="0" smtClean="0">
                <a:latin typeface="Times New Roman" panose="02020603050405020304" pitchFamily="18" charset="0"/>
                <a:cs typeface="Times New Roman" panose="02020603050405020304" pitchFamily="18" charset="0"/>
              </a:rPr>
              <a:t>F </a:t>
            </a:r>
            <a:r>
              <a:rPr lang="fr-FR" sz="2000" dirty="0">
                <a:latin typeface="Times New Roman" panose="02020603050405020304" pitchFamily="18" charset="0"/>
                <a:cs typeface="Times New Roman" panose="02020603050405020304" pitchFamily="18" charset="0"/>
              </a:rPr>
              <a:t>avec un argument double</a:t>
            </a:r>
          </a:p>
          <a:p>
            <a:pPr algn="just"/>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F(double a,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b) {} // redéfinition de </a:t>
            </a:r>
            <a:r>
              <a:rPr lang="fr-FR" sz="2000" dirty="0" err="1" smtClean="0">
                <a:latin typeface="Times New Roman" panose="02020603050405020304" pitchFamily="18" charset="0"/>
                <a:cs typeface="Times New Roman" panose="02020603050405020304" pitchFamily="18" charset="0"/>
              </a:rPr>
              <a:t>Favec</a:t>
            </a:r>
            <a:r>
              <a:rPr lang="fr-FR" sz="20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2 arguments double et </a:t>
            </a:r>
            <a:r>
              <a:rPr lang="fr-FR" sz="2000" dirty="0" err="1">
                <a:latin typeface="Times New Roman" panose="02020603050405020304" pitchFamily="18" charset="0"/>
                <a:cs typeface="Times New Roman" panose="02020603050405020304" pitchFamily="18" charset="0"/>
              </a:rPr>
              <a:t>int</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double F() {} ERREUR : la signature de cette fonction est la même que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F()"</a:t>
            </a:r>
            <a:endParaRPr lang="fr-FR" sz="2000" dirty="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Lors de l’appel à la fonction F polymorphe, le compilateur détermine quelle version doit être utilisée en suivant son algorithme de résolution de nom.</a:t>
            </a:r>
          </a:p>
          <a:p>
            <a:pPr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F(1, 3.0);      // 1ere </a:t>
            </a:r>
            <a:r>
              <a:rPr lang="fr-FR" sz="2000" dirty="0" err="1">
                <a:latin typeface="Times New Roman" panose="02020603050405020304" pitchFamily="18" charset="0"/>
                <a:cs typeface="Times New Roman" panose="02020603050405020304" pitchFamily="18" charset="0"/>
              </a:rPr>
              <a:t>definition</a:t>
            </a:r>
            <a:r>
              <a:rPr lang="fr-FR" sz="2000" dirty="0">
                <a:latin typeface="Times New Roman" panose="02020603050405020304" pitchFamily="18" charset="0"/>
                <a:cs typeface="Times New Roman" panose="02020603050405020304" pitchFamily="18" charset="0"/>
              </a:rPr>
              <a:t> utilisée, signature (F,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double)</a:t>
            </a:r>
          </a:p>
          <a:p>
            <a:pPr lvl="2" algn="just"/>
            <a:r>
              <a:rPr lang="fr-FR" sz="2000" dirty="0">
                <a:latin typeface="Times New Roman" panose="02020603050405020304" pitchFamily="18" charset="0"/>
                <a:cs typeface="Times New Roman" panose="02020603050405020304" pitchFamily="18" charset="0"/>
              </a:rPr>
              <a:t>F();            // 2e </a:t>
            </a:r>
            <a:r>
              <a:rPr lang="fr-FR" sz="2000" dirty="0" err="1">
                <a:latin typeface="Times New Roman" panose="02020603050405020304" pitchFamily="18" charset="0"/>
                <a:cs typeface="Times New Roman" panose="02020603050405020304" pitchFamily="18" charset="0"/>
              </a:rPr>
              <a:t>definition</a:t>
            </a:r>
            <a:r>
              <a:rPr lang="fr-FR" sz="2000" dirty="0">
                <a:latin typeface="Times New Roman" panose="02020603050405020304" pitchFamily="18" charset="0"/>
                <a:cs typeface="Times New Roman" panose="02020603050405020304" pitchFamily="18" charset="0"/>
              </a:rPr>
              <a:t> utilisée, signature (F)</a:t>
            </a:r>
          </a:p>
          <a:p>
            <a:pPr lvl="2" algn="just"/>
            <a:r>
              <a:rPr lang="fr-FR" sz="2000" dirty="0">
                <a:latin typeface="Times New Roman" panose="02020603050405020304" pitchFamily="18" charset="0"/>
                <a:cs typeface="Times New Roman" panose="02020603050405020304" pitchFamily="18" charset="0"/>
              </a:rPr>
              <a:t>F(2.0);         // 3e </a:t>
            </a:r>
            <a:r>
              <a:rPr lang="fr-FR" sz="2000" dirty="0" err="1">
                <a:latin typeface="Times New Roman" panose="02020603050405020304" pitchFamily="18" charset="0"/>
                <a:cs typeface="Times New Roman" panose="02020603050405020304" pitchFamily="18" charset="0"/>
              </a:rPr>
              <a:t>definition</a:t>
            </a:r>
            <a:r>
              <a:rPr lang="fr-FR" sz="2000" dirty="0">
                <a:latin typeface="Times New Roman" panose="02020603050405020304" pitchFamily="18" charset="0"/>
                <a:cs typeface="Times New Roman" panose="02020603050405020304" pitchFamily="18" charset="0"/>
              </a:rPr>
              <a:t> utilisée, signature (F, double)</a:t>
            </a:r>
          </a:p>
          <a:p>
            <a:pPr lvl="2" algn="just"/>
            <a:r>
              <a:rPr lang="fr-FR" sz="2000" dirty="0">
                <a:latin typeface="Times New Roman" panose="02020603050405020304" pitchFamily="18" charset="0"/>
                <a:cs typeface="Times New Roman" panose="02020603050405020304" pitchFamily="18" charset="0"/>
              </a:rPr>
              <a:t>F(3.0, 1);      // 4e </a:t>
            </a:r>
            <a:r>
              <a:rPr lang="fr-FR" sz="2000" dirty="0" err="1">
                <a:latin typeface="Times New Roman" panose="02020603050405020304" pitchFamily="18" charset="0"/>
                <a:cs typeface="Times New Roman" panose="02020603050405020304" pitchFamily="18" charset="0"/>
              </a:rPr>
              <a:t>definition</a:t>
            </a:r>
            <a:r>
              <a:rPr lang="fr-FR" sz="2000" dirty="0">
                <a:latin typeface="Times New Roman" panose="02020603050405020304" pitchFamily="18" charset="0"/>
                <a:cs typeface="Times New Roman" panose="02020603050405020304" pitchFamily="18" charset="0"/>
              </a:rPr>
              <a:t> utilisée, signature (F, double, </a:t>
            </a:r>
            <a:r>
              <a:rPr lang="fr-FR" sz="2000" dirty="0" err="1">
                <a:latin typeface="Times New Roman" panose="02020603050405020304" pitchFamily="18" charset="0"/>
                <a:cs typeface="Times New Roman" panose="02020603050405020304" pitchFamily="18" charset="0"/>
              </a:rPr>
              <a:t>int</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944267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5324535"/>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Fonctions Polymorphes</a:t>
            </a:r>
            <a:endParaRPr lang="fr-FR" sz="2000" b="1" dirty="0" smtClean="0">
              <a:solidFill>
                <a:srgbClr val="C00000"/>
              </a:solidFill>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b="1" dirty="0">
                <a:solidFill>
                  <a:srgbClr val="C00000"/>
                </a:solidFill>
                <a:latin typeface="Times New Roman" panose="02020603050405020304" pitchFamily="18" charset="0"/>
                <a:cs typeface="Times New Roman" panose="02020603050405020304" pitchFamily="18" charset="0"/>
              </a:rPr>
              <a:t>Polymorphisme ad hoc</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Exemples :</a:t>
            </a:r>
            <a:endParaRPr lang="fr-FR" sz="2000" b="1" dirty="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Si aucune signature ne correspond exactement aux arguments passés à la fonction le compilateur essaye de trouver la solution la plus proche à partir des règles de conversion implicites autorisées.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F(2); // appel équivalent à F(2.0) par promotion de 2 en double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Si le compilateur ne peut pas trouver de version de F correspondant à l’appel ou si la version à utiliser est ambigüe il indique une erreur.</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F("toto"); // ERREUR : aucune définition ne correspond</a:t>
            </a:r>
          </a:p>
          <a:p>
            <a:pPr algn="just"/>
            <a:r>
              <a:rPr lang="fr-FR" sz="2000" dirty="0">
                <a:latin typeface="Times New Roman" panose="02020603050405020304" pitchFamily="18" charset="0"/>
                <a:cs typeface="Times New Roman" panose="02020603050405020304" pitchFamily="18" charset="0"/>
              </a:rPr>
              <a:t>F(1,1); // ERREUR : le compilateur ne sait pas si il faut utiliser F(</a:t>
            </a:r>
            <a:r>
              <a:rPr lang="fr-FR" sz="2000" dirty="0" err="1">
                <a:latin typeface="Times New Roman" panose="02020603050405020304" pitchFamily="18" charset="0"/>
                <a:cs typeface="Times New Roman" panose="02020603050405020304" pitchFamily="18" charset="0"/>
              </a:rPr>
              <a:t>int,double</a:t>
            </a:r>
            <a:r>
              <a:rPr lang="fr-FR" sz="2000" dirty="0">
                <a:latin typeface="Times New Roman" panose="02020603050405020304" pitchFamily="18" charset="0"/>
                <a:cs typeface="Times New Roman" panose="02020603050405020304" pitchFamily="18" charset="0"/>
              </a:rPr>
              <a:t>) ou F(</a:t>
            </a:r>
            <a:r>
              <a:rPr lang="fr-FR" sz="2000" dirty="0" err="1">
                <a:latin typeface="Times New Roman" panose="02020603050405020304" pitchFamily="18" charset="0"/>
                <a:cs typeface="Times New Roman" panose="02020603050405020304" pitchFamily="18" charset="0"/>
              </a:rPr>
              <a:t>double,int</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F((double)1,1); // on peut lever l'ambigüité avec un </a:t>
            </a:r>
            <a:r>
              <a:rPr lang="fr-FR" sz="2000" dirty="0" err="1">
                <a:latin typeface="Times New Roman" panose="02020603050405020304" pitchFamily="18" charset="0"/>
                <a:cs typeface="Times New Roman" panose="02020603050405020304" pitchFamily="18" charset="0"/>
              </a:rPr>
              <a:t>cast</a:t>
            </a:r>
            <a:r>
              <a:rPr lang="fr-FR" sz="2000" dirty="0">
                <a:latin typeface="Times New Roman" panose="02020603050405020304" pitchFamily="18" charset="0"/>
                <a:cs typeface="Times New Roman" panose="02020603050405020304" pitchFamily="18" charset="0"/>
              </a:rPr>
              <a:t> explicite.</a:t>
            </a:r>
          </a:p>
        </p:txBody>
      </p:sp>
    </p:spTree>
    <p:extLst>
      <p:ext uri="{BB962C8B-B14F-4D97-AF65-F5344CB8AC3E}">
        <p14:creationId xmlns:p14="http://schemas.microsoft.com/office/powerpoint/2010/main" val="395486229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10556736"/>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Fonctions Polymorphes</a:t>
            </a:r>
            <a:endParaRPr lang="fr-FR" sz="2000" b="1" dirty="0" smtClean="0">
              <a:solidFill>
                <a:srgbClr val="C00000"/>
              </a:solidFill>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a:solidFill>
                  <a:srgbClr val="C00000"/>
                </a:solidFill>
                <a:latin typeface="Times New Roman" panose="02020603050405020304" pitchFamily="18" charset="0"/>
                <a:cs typeface="Times New Roman" panose="02020603050405020304" pitchFamily="18" charset="0"/>
              </a:rPr>
              <a:t>Polymorphisme d’héritage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 polymorphisme d’héritage va consister à </a:t>
            </a:r>
            <a:r>
              <a:rPr lang="fr-FR" sz="2000" dirty="0" err="1">
                <a:latin typeface="Times New Roman" panose="02020603050405020304" pitchFamily="18" charset="0"/>
                <a:cs typeface="Times New Roman" panose="02020603050405020304" pitchFamily="18" charset="0"/>
              </a:rPr>
              <a:t>redéclarer</a:t>
            </a:r>
            <a:r>
              <a:rPr lang="fr-FR" sz="2000" dirty="0">
                <a:latin typeface="Times New Roman" panose="02020603050405020304" pitchFamily="18" charset="0"/>
                <a:cs typeface="Times New Roman" panose="02020603050405020304" pitchFamily="18" charset="0"/>
              </a:rPr>
              <a:t> dans une classe fille, une méthode déjà déclarée dans une classe parent</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Contrairement au polymorphisme ad hoc qui n’utilise pas de mot clé particulier, on utilisera ici le couple </a:t>
            </a:r>
            <a:r>
              <a:rPr lang="fr-FR" sz="2000" b="1" dirty="0" err="1">
                <a:latin typeface="Times New Roman" panose="02020603050405020304" pitchFamily="18" charset="0"/>
                <a:cs typeface="Times New Roman" panose="02020603050405020304" pitchFamily="18" charset="0"/>
              </a:rPr>
              <a:t>virtual</a:t>
            </a:r>
            <a:r>
              <a:rPr lang="fr-FR" sz="2000" b="1" dirty="0">
                <a:latin typeface="Times New Roman" panose="02020603050405020304" pitchFamily="18" charset="0"/>
                <a:cs typeface="Times New Roman" panose="02020603050405020304" pitchFamily="18" charset="0"/>
              </a:rPr>
              <a:t>/</a:t>
            </a:r>
            <a:r>
              <a:rPr lang="fr-FR" sz="2000" b="1" dirty="0" err="1">
                <a:latin typeface="Times New Roman" panose="02020603050405020304" pitchFamily="18" charset="0"/>
                <a:cs typeface="Times New Roman" panose="02020603050405020304" pitchFamily="18" charset="0"/>
              </a:rPr>
              <a:t>override</a:t>
            </a:r>
            <a:r>
              <a:rPr lang="fr-FR" sz="2000" dirty="0">
                <a:latin typeface="Times New Roman" panose="02020603050405020304" pitchFamily="18" charset="0"/>
                <a:cs typeface="Times New Roman" panose="02020603050405020304" pitchFamily="18" charset="0"/>
              </a:rPr>
              <a:t>. La première déclaration de la méthode doit porter le qualificatif </a:t>
            </a:r>
            <a:r>
              <a:rPr lang="fr-FR" sz="2000" b="1" dirty="0" err="1">
                <a:latin typeface="Times New Roman" panose="02020603050405020304" pitchFamily="18" charset="0"/>
                <a:cs typeface="Times New Roman" panose="02020603050405020304" pitchFamily="18" charset="0"/>
              </a:rPr>
              <a:t>virtual</a:t>
            </a:r>
            <a:r>
              <a:rPr lang="fr-FR" sz="2000" dirty="0">
                <a:latin typeface="Times New Roman" panose="02020603050405020304" pitchFamily="18" charset="0"/>
                <a:cs typeface="Times New Roman" panose="02020603050405020304" pitchFamily="18" charset="0"/>
              </a:rPr>
              <a:t> et toutes les classes enfants modifiant son comportement doivent précéder sa déclaration par le qualificatif </a:t>
            </a:r>
            <a:r>
              <a:rPr lang="fr-FR" sz="2000" b="1" dirty="0" err="1">
                <a:latin typeface="Times New Roman" panose="02020603050405020304" pitchFamily="18" charset="0"/>
                <a:cs typeface="Times New Roman" panose="02020603050405020304" pitchFamily="18" charset="0"/>
              </a:rPr>
              <a:t>override</a:t>
            </a:r>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class A {</a:t>
            </a:r>
          </a:p>
          <a:p>
            <a:pPr lvl="2"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virtual</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Afficher(){</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WriteLine</a:t>
            </a:r>
            <a:r>
              <a:rPr lang="fr-FR" sz="2000" dirty="0">
                <a:latin typeface="Times New Roman" panose="02020603050405020304" pitchFamily="18" charset="0"/>
                <a:cs typeface="Times New Roman" panose="02020603050405020304" pitchFamily="18" charset="0"/>
              </a:rPr>
              <a:t>("Bonjour");</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class B : A</a:t>
            </a:r>
          </a:p>
          <a:p>
            <a:pPr lvl="2" algn="just"/>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class C : B {</a:t>
            </a:r>
          </a:p>
          <a:p>
            <a:pPr lvl="2"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override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Afficher() {</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WriteLine</a:t>
            </a:r>
            <a:r>
              <a:rPr lang="fr-FR" sz="2000" dirty="0">
                <a:latin typeface="Times New Roman" panose="02020603050405020304" pitchFamily="18" charset="0"/>
                <a:cs typeface="Times New Roman" panose="02020603050405020304" pitchFamily="18" charset="0"/>
              </a:rPr>
              <a:t>("Coucou");</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class D : C</a:t>
            </a: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override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Afficher(){</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WriteLine</a:t>
            </a:r>
            <a:r>
              <a:rPr lang="fr-FR" sz="2000" dirty="0">
                <a:latin typeface="Times New Roman" panose="02020603050405020304" pitchFamily="18" charset="0"/>
                <a:cs typeface="Times New Roman" panose="02020603050405020304" pitchFamily="18" charset="0"/>
              </a:rPr>
              <a:t>("Hello");</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A obj1 = new A();</a:t>
            </a:r>
          </a:p>
          <a:p>
            <a:pPr lvl="2" algn="just"/>
            <a:r>
              <a:rPr lang="fr-FR" sz="2000" dirty="0">
                <a:latin typeface="Times New Roman" panose="02020603050405020304" pitchFamily="18" charset="0"/>
                <a:cs typeface="Times New Roman" panose="02020603050405020304" pitchFamily="18" charset="0"/>
              </a:rPr>
              <a:t>C obj2 = new C();</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obj1.Afficher();                // résultat =&gt; Bonjour</a:t>
            </a:r>
          </a:p>
          <a:p>
            <a:pPr lvl="2" algn="just"/>
            <a:r>
              <a:rPr lang="fr-FR" sz="2000" dirty="0">
                <a:latin typeface="Times New Roman" panose="02020603050405020304" pitchFamily="18" charset="0"/>
                <a:cs typeface="Times New Roman" panose="02020603050405020304" pitchFamily="18" charset="0"/>
              </a:rPr>
              <a:t>obj2.Afficher();                // résultat =&gt; Coucou</a:t>
            </a:r>
          </a:p>
        </p:txBody>
      </p:sp>
    </p:spTree>
    <p:extLst>
      <p:ext uri="{BB962C8B-B14F-4D97-AF65-F5344CB8AC3E}">
        <p14:creationId xmlns:p14="http://schemas.microsoft.com/office/powerpoint/2010/main" val="98435454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5324535"/>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Fonctions Polymorphes</a:t>
            </a:r>
            <a:endParaRPr lang="fr-FR" sz="2000" b="1" dirty="0" smtClean="0">
              <a:solidFill>
                <a:srgbClr val="C00000"/>
              </a:solidFill>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a:solidFill>
                  <a:srgbClr val="C00000"/>
                </a:solidFill>
                <a:latin typeface="Times New Roman" panose="02020603050405020304" pitchFamily="18" charset="0"/>
                <a:cs typeface="Times New Roman" panose="02020603050405020304" pitchFamily="18" charset="0"/>
              </a:rPr>
              <a:t>Polymorphisme d’héritage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Jusqu’ici, tout va bien. Il est facile de lever l’ambiguïté de l’appel de la méthode Afficher car le type de l’objet est connu lors de la création de obj1 et obj2: les types déclarés et constatés sont identiques.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Cependant, pour créer une liste d’objets cela devient plus difficile. Pour fonctionner, la liste stocke des références vers les objets concernés. En créant cette liste, la syntaxe va imposer de choisir un type unique pour toutes les références stockées. Par bon sens, nous choisissons comme type celui de l’ancêtre de la hiérarchie :</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 Liste = new A[4] ;</a:t>
            </a:r>
          </a:p>
          <a:p>
            <a:pPr algn="just"/>
            <a:r>
              <a:rPr lang="fr-FR" sz="2000" dirty="0">
                <a:latin typeface="Times New Roman" panose="02020603050405020304" pitchFamily="18" charset="0"/>
                <a:cs typeface="Times New Roman" panose="02020603050405020304" pitchFamily="18" charset="0"/>
              </a:rPr>
              <a:t>Liste[0] = new A();</a:t>
            </a:r>
          </a:p>
          <a:p>
            <a:pPr algn="just"/>
            <a:r>
              <a:rPr lang="fr-FR" sz="2000" dirty="0">
                <a:latin typeface="Times New Roman" panose="02020603050405020304" pitchFamily="18" charset="0"/>
                <a:cs typeface="Times New Roman" panose="02020603050405020304" pitchFamily="18" charset="0"/>
              </a:rPr>
              <a:t>Liste[1] = new B();</a:t>
            </a:r>
          </a:p>
          <a:p>
            <a:pPr algn="just"/>
            <a:r>
              <a:rPr lang="fr-FR" sz="2000" dirty="0">
                <a:latin typeface="Times New Roman" panose="02020603050405020304" pitchFamily="18" charset="0"/>
                <a:cs typeface="Times New Roman" panose="02020603050405020304" pitchFamily="18" charset="0"/>
              </a:rPr>
              <a:t>Liste[2] = new C();</a:t>
            </a:r>
          </a:p>
          <a:p>
            <a:pPr algn="just"/>
            <a:r>
              <a:rPr lang="fr-FR" sz="2000" dirty="0">
                <a:latin typeface="Times New Roman" panose="02020603050405020304" pitchFamily="18" charset="0"/>
                <a:cs typeface="Times New Roman" panose="02020603050405020304" pitchFamily="18" charset="0"/>
              </a:rPr>
              <a:t>Liste[3] = new D</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964715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4093428"/>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Fonctions Polymorphes</a:t>
            </a:r>
            <a:endParaRPr lang="fr-FR" sz="2000" b="1" dirty="0" smtClean="0">
              <a:solidFill>
                <a:srgbClr val="C00000"/>
              </a:solidFill>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a:solidFill>
                  <a:srgbClr val="C00000"/>
                </a:solidFill>
                <a:latin typeface="Times New Roman" panose="02020603050405020304" pitchFamily="18" charset="0"/>
                <a:cs typeface="Times New Roman" panose="02020603050405020304" pitchFamily="18" charset="0"/>
              </a:rPr>
              <a:t>Polymorphisme d’héritage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On peut alors parcourir la liste et appeler la méthode Afficher sur chacun de ses éléments: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foreach</a:t>
            </a:r>
            <a:r>
              <a:rPr lang="fr-FR" sz="2000" dirty="0">
                <a:latin typeface="Times New Roman" panose="02020603050405020304" pitchFamily="18" charset="0"/>
                <a:cs typeface="Times New Roman" panose="02020603050405020304" pitchFamily="18" charset="0"/>
              </a:rPr>
              <a:t>(A m in Liste)</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m.Afficher</a:t>
            </a:r>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Résultats : Bonjour </a:t>
            </a:r>
            <a:r>
              <a:rPr lang="fr-FR" sz="2000" dirty="0" err="1">
                <a:latin typeface="Times New Roman" panose="02020603050405020304" pitchFamily="18" charset="0"/>
                <a:cs typeface="Times New Roman" panose="02020603050405020304" pitchFamily="18" charset="0"/>
              </a:rPr>
              <a:t>Bonjour</a:t>
            </a:r>
            <a:r>
              <a:rPr lang="fr-FR" sz="2000" dirty="0">
                <a:latin typeface="Times New Roman" panose="02020603050405020304" pitchFamily="18" charset="0"/>
                <a:cs typeface="Times New Roman" panose="02020603050405020304" pitchFamily="18" charset="0"/>
              </a:rPr>
              <a:t> Coucou Hello</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Dans ce contexte, les éléments de la liste sont de type A. Néanmoins lors de l’exécution, le CLR va regarder le type constaté de chaque élément pour déterminer quelle méthode Afficher doit être exécutée.</a:t>
            </a:r>
          </a:p>
        </p:txBody>
      </p:sp>
    </p:spTree>
    <p:extLst>
      <p:ext uri="{BB962C8B-B14F-4D97-AF65-F5344CB8AC3E}">
        <p14:creationId xmlns:p14="http://schemas.microsoft.com/office/powerpoint/2010/main" val="284878772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5632311"/>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Constructeurs et chaînage</a:t>
            </a:r>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Prenons une classe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enfant d’une classe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Lors de l’écriture des constructeurs de la classe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on doit se poser la question de l’initialisation des éléments provenant de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Pour cela nous allons chainer les constructeurs de la classe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avec les constructeurs de la classe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 contrairement au chainage d’un constructeur d’une même classe qui est optionnel, le chainage des constructeurs avec les constructeurs de la classe mère est une obligation</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 chainage d’un constructeur avec un constructeur de la classe mère utilise une syntaxe similaire au chainage dans la même classe mais avec le mot clé </a:t>
            </a:r>
            <a:r>
              <a:rPr lang="fr-FR" sz="2000" b="1" dirty="0" smtClean="0">
                <a:latin typeface="Times New Roman" panose="02020603050405020304" pitchFamily="18" charset="0"/>
                <a:cs typeface="Times New Roman" panose="02020603050405020304" pitchFamily="18" charset="0"/>
              </a:rPr>
              <a:t>base</a:t>
            </a:r>
            <a:r>
              <a:rPr lang="fr-FR" sz="2000" dirty="0" smtClean="0">
                <a:latin typeface="Times New Roman" panose="02020603050405020304" pitchFamily="18" charset="0"/>
                <a:cs typeface="Times New Roman" panose="02020603050405020304" pitchFamily="18" charset="0"/>
              </a:rPr>
              <a:t> :</a:t>
            </a:r>
            <a:endParaRPr lang="fr-FR" sz="2000" dirty="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class A{</a:t>
            </a:r>
          </a:p>
          <a:p>
            <a:pPr algn="just"/>
            <a:r>
              <a:rPr lang="fr-FR" sz="2000" dirty="0">
                <a:latin typeface="Times New Roman" panose="02020603050405020304" pitchFamily="18" charset="0"/>
                <a:cs typeface="Times New Roman" panose="02020603050405020304" pitchFamily="18" charset="0"/>
              </a:rPr>
              <a:t>       public A(){}:</a:t>
            </a:r>
          </a:p>
          <a:p>
            <a:pPr algn="just"/>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class B : A{</a:t>
            </a:r>
          </a:p>
          <a:p>
            <a:pPr algn="just"/>
            <a:r>
              <a:rPr lang="fr-FR" sz="2000" dirty="0" smtClean="0">
                <a:latin typeface="Times New Roman" panose="02020603050405020304" pitchFamily="18" charset="0"/>
                <a:cs typeface="Times New Roman" panose="02020603050405020304" pitchFamily="18" charset="0"/>
              </a:rPr>
              <a:t>       public </a:t>
            </a:r>
            <a:r>
              <a:rPr lang="fr-FR" sz="2000" dirty="0">
                <a:latin typeface="Times New Roman" panose="02020603050405020304" pitchFamily="18" charset="0"/>
                <a:cs typeface="Times New Roman" panose="02020603050405020304" pitchFamily="18" charset="0"/>
              </a:rPr>
              <a:t>B() : base() // chainage avec le constructeur sans argument de A</a:t>
            </a:r>
          </a:p>
          <a:p>
            <a:pPr algn="just"/>
            <a:r>
              <a:rPr lang="fr-FR" sz="2000" dirty="0" smtClean="0">
                <a:latin typeface="Times New Roman" panose="02020603050405020304" pitchFamily="18" charset="0"/>
                <a:cs typeface="Times New Roman" panose="02020603050405020304" pitchFamily="18" charset="0"/>
              </a:rPr>
              <a:t>       {}</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226452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7786747"/>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Constructeurs et chaînage</a:t>
            </a:r>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Lors de la construction de l’objet de type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le fait que le constructeur de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soit appelé ne veut pas dire qu’un objet de type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soit créé ! Il s’agit uniquement de l’initialisation des membres hérités de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au travers du constructeur de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Au final, il n’y a qu’un seul objet de type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créé.</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Les constructeurs d’une même classe peuvent toujours être chainés entre eux mais chaque chaine doit se terminer par un constructeur chainé sur un constructeur de la classe mère.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Lorsque l’on construit un objet d’une classe fille, le constructeur chainé (donc celui de la classe mère) est exécuté en premier:</a:t>
            </a:r>
          </a:p>
          <a:p>
            <a:pPr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class A</a:t>
            </a: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public A()</a:t>
            </a:r>
          </a:p>
          <a:p>
            <a:pPr lvl="2" algn="just"/>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WriteLine</a:t>
            </a:r>
            <a:r>
              <a:rPr lang="fr-FR" sz="2000" dirty="0">
                <a:latin typeface="Times New Roman" panose="02020603050405020304" pitchFamily="18" charset="0"/>
                <a:cs typeface="Times New Roman" panose="02020603050405020304" pitchFamily="18" charset="0"/>
              </a:rPr>
              <a:t>("construction de A"); }</a:t>
            </a:r>
          </a:p>
          <a:p>
            <a:pPr lvl="2" algn="just"/>
            <a:r>
              <a:rPr lang="fr-FR" sz="2000" dirty="0">
                <a:latin typeface="Times New Roman" panose="02020603050405020304" pitchFamily="18" charset="0"/>
                <a:cs typeface="Times New Roman" panose="02020603050405020304" pitchFamily="18" charset="0"/>
              </a:rPr>
              <a:t>}</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class B : A</a:t>
            </a: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public B() : base()</a:t>
            </a:r>
          </a:p>
          <a:p>
            <a:pPr lvl="2" algn="just"/>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WriteLine</a:t>
            </a:r>
            <a:r>
              <a:rPr lang="fr-FR" sz="2000" dirty="0">
                <a:latin typeface="Times New Roman" panose="02020603050405020304" pitchFamily="18" charset="0"/>
                <a:cs typeface="Times New Roman" panose="02020603050405020304" pitchFamily="18" charset="0"/>
              </a:rPr>
              <a:t>("construction de B"); }</a:t>
            </a:r>
          </a:p>
          <a:p>
            <a:pPr lvl="2" algn="just"/>
            <a:r>
              <a:rPr lang="fr-FR" sz="2000" dirty="0">
                <a:latin typeface="Times New Roman" panose="02020603050405020304" pitchFamily="18" charset="0"/>
                <a:cs typeface="Times New Roman" panose="02020603050405020304" pitchFamily="18" charset="0"/>
              </a:rPr>
              <a:t>}</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B toto = new B() ;      //  construction de A  construction de B</a:t>
            </a:r>
          </a:p>
        </p:txBody>
      </p:sp>
    </p:spTree>
    <p:extLst>
      <p:ext uri="{BB962C8B-B14F-4D97-AF65-F5344CB8AC3E}">
        <p14:creationId xmlns:p14="http://schemas.microsoft.com/office/powerpoint/2010/main" val="344206263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3477875"/>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Constructeurs et chaînage</a:t>
            </a:r>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 constructeur de la classe parent est lancé AVANT les instructions du constructeur de la classe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Si la classe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possède un parent, son constructeur sera appelé avant que celui de </a:t>
            </a:r>
            <a:r>
              <a:rPr lang="fr-FR" sz="2000" b="1" dirty="0">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soit exécuté et ainsi de suite. Au final, c’est le constructeur du parent initial dans la hiérarchie qui sera le premier lancé, puis ceux de ses enfants successivement. Ce comportement logique provient du fait que pour fonctionner, la classe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peut nécessiter des ressources venant de sa classe mère, le parent doit donc être créé avant.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Si vous ne chaînez pas explicitement un constructeur de </a:t>
            </a:r>
            <a:r>
              <a:rPr lang="fr-FR" sz="2000" b="1"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le compilateur génèrera automatiquement un </a:t>
            </a:r>
            <a:r>
              <a:rPr lang="fr-FR" sz="2000" b="1" dirty="0">
                <a:latin typeface="Times New Roman" panose="02020603050405020304" pitchFamily="18" charset="0"/>
                <a:cs typeface="Times New Roman" panose="02020603050405020304" pitchFamily="18" charset="0"/>
              </a:rPr>
              <a:t>chainage implicite </a:t>
            </a:r>
            <a:r>
              <a:rPr lang="fr-FR" sz="2000" dirty="0">
                <a:latin typeface="Times New Roman" panose="02020603050405020304" pitchFamily="18" charset="0"/>
                <a:cs typeface="Times New Roman" panose="02020603050405020304" pitchFamily="18" charset="0"/>
              </a:rPr>
              <a:t>avec le constructeur sans argument de la classe parent. Si la classe parent ne possède pas de constructeur sans argument cela génèrera une erreur de compilation.</a:t>
            </a:r>
          </a:p>
        </p:txBody>
      </p:sp>
    </p:spTree>
    <p:extLst>
      <p:ext uri="{BB962C8B-B14F-4D97-AF65-F5344CB8AC3E}">
        <p14:creationId xmlns:p14="http://schemas.microsoft.com/office/powerpoint/2010/main" val="27763138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5940088"/>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Chaînage des méthodes</a:t>
            </a:r>
            <a:endParaRPr lang="fr-FR" sz="2000" dirty="0" smtClean="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Il est toujours possible d’appeler la fonction qui a été redéfinie à partir de la redéfinition. Pour cela on utilise le mot clé </a:t>
            </a:r>
            <a:r>
              <a:rPr lang="fr-FR" sz="2000" b="1" dirty="0">
                <a:latin typeface="Times New Roman" panose="02020603050405020304" pitchFamily="18" charset="0"/>
                <a:cs typeface="Times New Roman" panose="02020603050405020304" pitchFamily="18" charset="0"/>
              </a:rPr>
              <a:t>base</a:t>
            </a:r>
            <a:r>
              <a:rPr lang="fr-FR" sz="2000" dirty="0">
                <a:latin typeface="Times New Roman" panose="02020603050405020304" pitchFamily="18" charset="0"/>
                <a:cs typeface="Times New Roman" panose="02020603050405020304" pitchFamily="18" charset="0"/>
              </a:rPr>
              <a:t>. Cela permet de construire des chaînages de fonctions dans le même principe que le chaînage des constructeurs. Par exemple, supposons que la classe Voiture dispose d’une fonction </a:t>
            </a:r>
            <a:r>
              <a:rPr lang="fr-FR" sz="2000" dirty="0" err="1">
                <a:latin typeface="Times New Roman" panose="02020603050405020304" pitchFamily="18" charset="0"/>
                <a:cs typeface="Times New Roman" panose="02020603050405020304" pitchFamily="18" charset="0"/>
              </a:rPr>
              <a:t>TestAllumage</a:t>
            </a:r>
            <a:r>
              <a:rPr lang="fr-FR" sz="2000" dirty="0">
                <a:latin typeface="Times New Roman" panose="02020603050405020304" pitchFamily="18" charset="0"/>
                <a:cs typeface="Times New Roman" panose="02020603050405020304" pitchFamily="18" charset="0"/>
              </a:rPr>
              <a:t>() qui vérifie que tous les composants électriques (ordinateur de bord, ABS, ESP, air bag, …) de la voiture fonctionnent bien. Dans le cas d’un Cabriolet qui ajoute un toit amovible, il faudra contrôler l’ensemble des systèmes d’une voiture simple et le système qui rentre/sort le toit amovible.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class Cabriolet : Voiture</a:t>
            </a:r>
          </a:p>
          <a:p>
            <a:pPr algn="just"/>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override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TestAllumage</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base.TestAllumage</a:t>
            </a:r>
            <a:r>
              <a:rPr lang="fr-FR" sz="2000" dirty="0">
                <a:latin typeface="Times New Roman" panose="02020603050405020304" pitchFamily="18" charset="0"/>
                <a:cs typeface="Times New Roman" panose="02020603050405020304" pitchFamily="18" charset="0"/>
              </a:rPr>
              <a:t>();  // test des éléments de la classe Voiture</a:t>
            </a:r>
          </a:p>
          <a:p>
            <a:pPr algn="just"/>
            <a:r>
              <a:rPr lang="fr-FR" sz="2000" dirty="0">
                <a:latin typeface="Times New Roman" panose="02020603050405020304" pitchFamily="18" charset="0"/>
                <a:cs typeface="Times New Roman" panose="02020603050405020304" pitchFamily="18" charset="0"/>
              </a:rPr>
              <a:t>							  // par appel a </a:t>
            </a:r>
            <a:r>
              <a:rPr lang="fr-FR" sz="2000" dirty="0" err="1">
                <a:latin typeface="Times New Roman" panose="02020603050405020304" pitchFamily="18" charset="0"/>
                <a:cs typeface="Times New Roman" panose="02020603050405020304" pitchFamily="18" charset="0"/>
              </a:rPr>
              <a:t>TestAllumage</a:t>
            </a:r>
            <a:r>
              <a:rPr lang="fr-FR" sz="2000" dirty="0">
                <a:latin typeface="Times New Roman" panose="02020603050405020304" pitchFamily="18" charset="0"/>
                <a:cs typeface="Times New Roman" panose="02020603050405020304" pitchFamily="18" charset="0"/>
              </a:rPr>
              <a:t>() de Voiture</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TestToitAmovible</a:t>
            </a:r>
            <a:r>
              <a:rPr lang="fr-FR" sz="2000" dirty="0">
                <a:latin typeface="Times New Roman" panose="02020603050405020304" pitchFamily="18" charset="0"/>
                <a:cs typeface="Times New Roman" panose="02020603050405020304" pitchFamily="18" charset="0"/>
              </a:rPr>
              <a:t>();   // test des éléments spécifiques au Cabriolet</a:t>
            </a:r>
          </a:p>
          <a:p>
            <a:pPr algn="just"/>
            <a:r>
              <a:rPr lang="fr-FR" sz="2000" dirty="0">
                <a:latin typeface="Times New Roman" panose="02020603050405020304" pitchFamily="18" charset="0"/>
                <a:cs typeface="Times New Roman" panose="02020603050405020304" pitchFamily="18" charset="0"/>
              </a:rPr>
              <a:t>	}</a:t>
            </a:r>
          </a:p>
          <a:p>
            <a:pPr algn="just"/>
            <a:r>
              <a:rPr lang="fr-FR" sz="2000" dirty="0">
                <a:latin typeface="Times New Roman" panose="02020603050405020304" pitchFamily="18" charset="0"/>
                <a:cs typeface="Times New Roman" panose="02020603050405020304" pitchFamily="18" charset="0"/>
              </a:rPr>
              <a:t>	...</a:t>
            </a:r>
          </a:p>
          <a:p>
            <a:pPr algn="just"/>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7911885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8402300"/>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Classes et méthodes abstraites</a:t>
            </a:r>
            <a:endParaRPr lang="fr-FR" sz="2000" dirty="0" smtClean="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Il peut arriver qu’une classe de base contienne des méthodes impossibles à implémenter car à son niveau dans la hiérarchie elle ne dispose pas des informations nécessaires.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Par exemple, une classe de base </a:t>
            </a:r>
            <a:r>
              <a:rPr lang="fr-FR" sz="2000" dirty="0" err="1">
                <a:latin typeface="Times New Roman" panose="02020603050405020304" pitchFamily="18" charset="0"/>
                <a:cs typeface="Times New Roman" panose="02020603050405020304" pitchFamily="18" charset="0"/>
              </a:rPr>
              <a:t>FormeGeometrique</a:t>
            </a:r>
            <a:r>
              <a:rPr lang="fr-FR" sz="2000" dirty="0">
                <a:latin typeface="Times New Roman" panose="02020603050405020304" pitchFamily="18" charset="0"/>
                <a:cs typeface="Times New Roman" panose="02020603050405020304" pitchFamily="18" charset="0"/>
              </a:rPr>
              <a:t> propose une méthode virtuelle Dessiner. Cette classe est ensuite héritée par les classes Triangle, Rectangle et Cercle qui vont implémenter chacune leur propre méthode Dessiner.</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L’implémentation de la méthode Dessiner dans la classe de base </a:t>
            </a:r>
            <a:r>
              <a:rPr lang="fr-FR" sz="2000" dirty="0" err="1">
                <a:latin typeface="Times New Roman" panose="02020603050405020304" pitchFamily="18" charset="0"/>
                <a:cs typeface="Times New Roman" panose="02020603050405020304" pitchFamily="18" charset="0"/>
              </a:rPr>
              <a:t>FormeGeometrique</a:t>
            </a:r>
            <a:r>
              <a:rPr lang="fr-FR" sz="2000" dirty="0">
                <a:latin typeface="Times New Roman" panose="02020603050405020304" pitchFamily="18" charset="0"/>
                <a:cs typeface="Times New Roman" panose="02020603050405020304" pitchFamily="18" charset="0"/>
              </a:rPr>
              <a:t> n’a donc aucun sens car chaque forme est spécifique et, au niveau de </a:t>
            </a:r>
            <a:r>
              <a:rPr lang="fr-FR" sz="2000" dirty="0" err="1">
                <a:latin typeface="Times New Roman" panose="02020603050405020304" pitchFamily="18" charset="0"/>
                <a:cs typeface="Times New Roman" panose="02020603050405020304" pitchFamily="18" charset="0"/>
              </a:rPr>
              <a:t>FormeGeometrique</a:t>
            </a:r>
            <a:r>
              <a:rPr lang="fr-FR" sz="2000" dirty="0">
                <a:latin typeface="Times New Roman" panose="02020603050405020304" pitchFamily="18" charset="0"/>
                <a:cs typeface="Times New Roman" panose="02020603050405020304" pitchFamily="18" charset="0"/>
              </a:rPr>
              <a:t>, cette forme est tout à fait abstraite </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Lorsque l’on a identifié un cas tel que la classe </a:t>
            </a:r>
            <a:r>
              <a:rPr lang="fr-FR" sz="2000" dirty="0" err="1">
                <a:latin typeface="Times New Roman" panose="02020603050405020304" pitchFamily="18" charset="0"/>
                <a:cs typeface="Times New Roman" panose="02020603050405020304" pitchFamily="18" charset="0"/>
              </a:rPr>
              <a:t>FormeGeometrique</a:t>
            </a:r>
            <a:r>
              <a:rPr lang="fr-FR" sz="2000" dirty="0">
                <a:latin typeface="Times New Roman" panose="02020603050405020304" pitchFamily="18" charset="0"/>
                <a:cs typeface="Times New Roman" panose="02020603050405020304" pitchFamily="18" charset="0"/>
              </a:rPr>
              <a:t> qui doit posséder une méthode dont on ne peut déterminer le contenu mais qui devra être définie dans les classes filles, il s’agit d’une </a:t>
            </a:r>
            <a:r>
              <a:rPr lang="fr-FR" sz="2000" b="1" dirty="0">
                <a:latin typeface="Times New Roman" panose="02020603050405020304" pitchFamily="18" charset="0"/>
                <a:cs typeface="Times New Roman" panose="02020603050405020304" pitchFamily="18" charset="0"/>
              </a:rPr>
              <a:t>classe abstraite</a:t>
            </a:r>
            <a:r>
              <a:rPr lang="fr-FR" sz="2000" dirty="0">
                <a:latin typeface="Times New Roman" panose="02020603050405020304" pitchFamily="18" charset="0"/>
                <a:cs typeface="Times New Roman" panose="02020603050405020304" pitchFamily="18" charset="0"/>
              </a:rPr>
              <a:t> et d’une </a:t>
            </a:r>
            <a:r>
              <a:rPr lang="fr-FR" sz="2000" b="1" dirty="0">
                <a:latin typeface="Times New Roman" panose="02020603050405020304" pitchFamily="18" charset="0"/>
                <a:cs typeface="Times New Roman" panose="02020603050405020304" pitchFamily="18" charset="0"/>
              </a:rPr>
              <a:t>méthode abstraite</a:t>
            </a:r>
            <a:r>
              <a:rPr lang="fr-FR" sz="2000" dirty="0">
                <a:latin typeface="Times New Roman" panose="02020603050405020304" pitchFamily="18" charset="0"/>
                <a:cs typeface="Times New Roman" panose="02020603050405020304" pitchFamily="18" charset="0"/>
              </a:rPr>
              <a:t>. On ajoute alors le qualificatif </a:t>
            </a:r>
            <a:r>
              <a:rPr lang="fr-FR" sz="2000" b="1" dirty="0" err="1">
                <a:latin typeface="Times New Roman" panose="02020603050405020304" pitchFamily="18" charset="0"/>
                <a:cs typeface="Times New Roman" panose="02020603050405020304" pitchFamily="18" charset="0"/>
              </a:rPr>
              <a:t>absract</a:t>
            </a:r>
            <a:r>
              <a:rPr lang="fr-FR" sz="2000" dirty="0">
                <a:latin typeface="Times New Roman" panose="02020603050405020304" pitchFamily="18" charset="0"/>
                <a:cs typeface="Times New Roman" panose="02020603050405020304" pitchFamily="18" charset="0"/>
              </a:rPr>
              <a:t> à la classe et à la méthode:</a:t>
            </a:r>
          </a:p>
          <a:p>
            <a:pPr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abstract class </a:t>
            </a:r>
            <a:r>
              <a:rPr lang="fr-FR" sz="2000" dirty="0" err="1">
                <a:latin typeface="Times New Roman" panose="02020603050405020304" pitchFamily="18" charset="0"/>
                <a:cs typeface="Times New Roman" panose="02020603050405020304" pitchFamily="18" charset="0"/>
              </a:rPr>
              <a:t>FormeGeometrique</a:t>
            </a:r>
            <a:r>
              <a:rPr lang="fr-FR" sz="2000" dirty="0">
                <a:latin typeface="Times New Roman" panose="02020603050405020304" pitchFamily="18" charset="0"/>
                <a:cs typeface="Times New Roman" panose="02020603050405020304" pitchFamily="18" charset="0"/>
              </a:rPr>
              <a:t> </a:t>
            </a:r>
            <a:endParaRPr lang="fr-FR" sz="2000" dirty="0" smtClean="0">
              <a:latin typeface="Times New Roman" panose="02020603050405020304" pitchFamily="18" charset="0"/>
              <a:cs typeface="Times New Roman" panose="02020603050405020304" pitchFamily="18" charset="0"/>
            </a:endParaRPr>
          </a:p>
          <a:p>
            <a:pPr lvl="2" algn="just"/>
            <a:r>
              <a:rPr lang="fr-FR" sz="2000" dirty="0" smtClean="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protected</a:t>
            </a:r>
            <a:r>
              <a:rPr lang="fr-FR" sz="2000" dirty="0">
                <a:latin typeface="Times New Roman" panose="02020603050405020304" pitchFamily="18" charset="0"/>
                <a:cs typeface="Times New Roman" panose="02020603050405020304" pitchFamily="18" charset="0"/>
              </a:rPr>
              <a:t> string nom ;</a:t>
            </a:r>
          </a:p>
          <a:p>
            <a:pPr lvl="2" algn="just"/>
            <a:r>
              <a:rPr lang="fr-FR" sz="2000" dirty="0">
                <a:latin typeface="Times New Roman" panose="02020603050405020304" pitchFamily="18" charset="0"/>
                <a:cs typeface="Times New Roman" panose="02020603050405020304" pitchFamily="18" charset="0"/>
              </a:rPr>
              <a:t>	public abstract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Dessiner() </a:t>
            </a:r>
            <a:r>
              <a:rPr lang="fr-FR" sz="2000" dirty="0">
                <a:latin typeface="Times New Roman" panose="02020603050405020304" pitchFamily="18" charset="0"/>
                <a:cs typeface="Times New Roman" panose="02020603050405020304" pitchFamily="18" charset="0"/>
              </a:rPr>
              <a:t>;   // méthode abstraite : pas de block {}</a:t>
            </a:r>
          </a:p>
          <a:p>
            <a:pPr lvl="2" algn="just"/>
            <a:r>
              <a:rPr lang="fr-FR" sz="2000" dirty="0">
                <a:latin typeface="Times New Roman" panose="02020603050405020304" pitchFamily="18" charset="0"/>
                <a:cs typeface="Times New Roman" panose="02020603050405020304" pitchFamily="18" charset="0"/>
              </a:rPr>
              <a:t>}</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class Triangle : </a:t>
            </a:r>
            <a:r>
              <a:rPr lang="fr-FR" sz="2000" dirty="0" err="1" smtClean="0">
                <a:latin typeface="Times New Roman" panose="02020603050405020304" pitchFamily="18" charset="0"/>
                <a:cs typeface="Times New Roman" panose="02020603050405020304" pitchFamily="18" charset="0"/>
              </a:rPr>
              <a:t>FormeGeometrique</a:t>
            </a:r>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protected</a:t>
            </a:r>
            <a:r>
              <a:rPr lang="fr-FR" sz="2000" dirty="0">
                <a:latin typeface="Times New Roman" panose="02020603050405020304" pitchFamily="18" charset="0"/>
                <a:cs typeface="Times New Roman" panose="02020603050405020304" pitchFamily="18" charset="0"/>
              </a:rPr>
              <a:t> Point p1, p2, p3 ;</a:t>
            </a:r>
          </a:p>
          <a:p>
            <a:pPr lvl="2"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override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Dessiner()     { ... } // (</a:t>
            </a:r>
            <a:r>
              <a:rPr lang="fr-FR" sz="2000" dirty="0" err="1">
                <a:latin typeface="Times New Roman" panose="02020603050405020304" pitchFamily="18" charset="0"/>
                <a:cs typeface="Times New Roman" panose="02020603050405020304" pitchFamily="18" charset="0"/>
              </a:rPr>
              <a:t>re</a:t>
            </a:r>
            <a:r>
              <a:rPr lang="fr-FR" sz="2000" dirty="0">
                <a:latin typeface="Times New Roman" panose="02020603050405020304" pitchFamily="18" charset="0"/>
                <a:cs typeface="Times New Roman" panose="02020603050405020304" pitchFamily="18" charset="0"/>
              </a:rPr>
              <a:t>)définition de la méthode </a:t>
            </a:r>
            <a:r>
              <a:rPr lang="fr-FR" sz="2000" dirty="0" err="1">
                <a:latin typeface="Times New Roman" panose="02020603050405020304" pitchFamily="18" charset="0"/>
                <a:cs typeface="Times New Roman" panose="02020603050405020304" pitchFamily="18" charset="0"/>
              </a:rPr>
              <a:t>Draw</a:t>
            </a:r>
            <a:endParaRPr lang="fr-FR" sz="2000" dirty="0">
              <a:latin typeface="Times New Roman" panose="02020603050405020304" pitchFamily="18" charset="0"/>
              <a:cs typeface="Times New Roman" panose="02020603050405020304" pitchFamily="18" charset="0"/>
            </a:endParaRPr>
          </a:p>
          <a:p>
            <a:pPr lvl="2" algn="just"/>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832271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4401205"/>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Classes et méthodes abstraites</a:t>
            </a:r>
            <a:endParaRPr lang="fr-FR" sz="2000" dirty="0" smtClean="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On remarque qu’une méthode abstraite est automatiquement virtuelle. Par contre, il faut utiliser le qualificatif </a:t>
            </a:r>
            <a:r>
              <a:rPr lang="fr-FR" sz="2000" dirty="0" err="1">
                <a:latin typeface="Times New Roman" panose="02020603050405020304" pitchFamily="18" charset="0"/>
                <a:cs typeface="Times New Roman" panose="02020603050405020304" pitchFamily="18" charset="0"/>
              </a:rPr>
              <a:t>override</a:t>
            </a:r>
            <a:r>
              <a:rPr lang="fr-FR" sz="2000" dirty="0">
                <a:latin typeface="Times New Roman" panose="02020603050405020304" pitchFamily="18" charset="0"/>
                <a:cs typeface="Times New Roman" panose="02020603050405020304" pitchFamily="18" charset="0"/>
              </a:rPr>
              <a:t> lors de sa définition dans les sous-classes.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Une classe abstraite ne peut pas être instanciée (elle est incomplète car les méthodes abstraites n’ont pas de corps), ce qui ne l’empêche pas de posséder un ou plusieurs constructeurs appelés par le mécanisme de chaînage des constructeurs</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Une classe non abstraite fille d’une classe abstraite doit implémenter toutes les méthodes abstraites de sa classe mère</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Si une classe contient au moins une méthode abstract, elle doit impérativement être déclarée en classe abstract elle-même.</a:t>
            </a:r>
          </a:p>
        </p:txBody>
      </p:sp>
    </p:spTree>
    <p:extLst>
      <p:ext uri="{BB962C8B-B14F-4D97-AF65-F5344CB8AC3E}">
        <p14:creationId xmlns:p14="http://schemas.microsoft.com/office/powerpoint/2010/main" val="47492563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8402300"/>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Les interfaces</a:t>
            </a:r>
            <a:endParaRPr lang="fr-FR" sz="2000" dirty="0" smtClean="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Les interfaces sont utilisées avec des classes pour définir ce que l’on appelle un contrat. Un contrat est un accord sur ce que la classe fournira à une application.</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Une interface déclare les propriétés et les méthodes. Ensuite la classe définit exactement ce que fera la méthode.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En C#, une interface peut être définie à l’aide du mot clé </a:t>
            </a:r>
            <a:r>
              <a:rPr lang="fr-FR" sz="2000" b="1" dirty="0">
                <a:latin typeface="Times New Roman" panose="02020603050405020304" pitchFamily="18" charset="0"/>
                <a:cs typeface="Times New Roman" panose="02020603050405020304" pitchFamily="18" charset="0"/>
              </a:rPr>
              <a:t>interface</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interface Volant</a:t>
            </a: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Décoller();</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Atterrir();</a:t>
            </a:r>
          </a:p>
          <a:p>
            <a:pPr lvl="2" algn="just"/>
            <a:r>
              <a:rPr lang="fr-FR" sz="2000" dirty="0">
                <a:latin typeface="Times New Roman" panose="02020603050405020304" pitchFamily="18" charset="0"/>
                <a:cs typeface="Times New Roman" panose="02020603050405020304" pitchFamily="18" charset="0"/>
              </a:rPr>
              <a:t>}</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class Oiseau : Volant</a:t>
            </a: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Décoller()</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Pit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pit</a:t>
            </a:r>
            <a:r>
              <a:rPr lang="fr-FR" sz="2000" dirty="0">
                <a:latin typeface="Times New Roman" panose="02020603050405020304" pitchFamily="18" charset="0"/>
                <a:cs typeface="Times New Roman" panose="02020603050405020304" pitchFamily="18" charset="0"/>
              </a:rPr>
              <a:t>, je décolle");</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Atterrir()</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Pit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pit</a:t>
            </a:r>
            <a:r>
              <a:rPr lang="fr-FR" sz="2000" dirty="0">
                <a:latin typeface="Times New Roman" panose="02020603050405020304" pitchFamily="18" charset="0"/>
                <a:cs typeface="Times New Roman" panose="02020603050405020304" pitchFamily="18" charset="0"/>
              </a:rPr>
              <a:t>, j'atterris!");</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2039983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5324535"/>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Les interfaces</a:t>
            </a:r>
            <a:endParaRPr lang="fr-FR" sz="2000" dirty="0" smtClean="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Les interfaces ressemblent aux classes abstraites sur un seul point : elles contiennent des membres expliquant certains comportements sans les implémenter.</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Les classes abstraites et les interfaces se différencient principalement par le fait qu'une classe peut implémenter un nombre quelconque d'interfaces, alors qu'une classe abstraite ne peut hériter que d'une seule classe abstraite ou non.</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Une interface est un contrat, elle peut contenir des propriétés, des méthodes </a:t>
            </a:r>
            <a:r>
              <a:rPr lang="fr-FR" sz="2000" dirty="0" smtClean="0">
                <a:latin typeface="Times New Roman" panose="02020603050405020304" pitchFamily="18" charset="0"/>
                <a:cs typeface="Times New Roman" panose="02020603050405020304" pitchFamily="18" charset="0"/>
              </a:rPr>
              <a:t>mais </a:t>
            </a:r>
            <a:r>
              <a:rPr lang="fr-FR" sz="2000" dirty="0">
                <a:latin typeface="Times New Roman" panose="02020603050405020304" pitchFamily="18" charset="0"/>
                <a:cs typeface="Times New Roman" panose="02020603050405020304" pitchFamily="18" charset="0"/>
              </a:rPr>
              <a:t>ne doit contenir aucun champ ou attribut. </a:t>
            </a:r>
          </a:p>
          <a:p>
            <a:pPr algn="just"/>
            <a:r>
              <a:rPr lang="fr-FR" sz="2000" dirty="0">
                <a:latin typeface="Times New Roman" panose="02020603050405020304" pitchFamily="18" charset="0"/>
                <a:cs typeface="Times New Roman" panose="02020603050405020304" pitchFamily="18" charset="0"/>
              </a:rPr>
              <a:t>Une interface ne peut pas contenir des méthodes déjà implémentées.</a:t>
            </a:r>
          </a:p>
          <a:p>
            <a:pPr algn="just"/>
            <a:r>
              <a:rPr lang="fr-FR" sz="2000" dirty="0">
                <a:latin typeface="Times New Roman" panose="02020603050405020304" pitchFamily="18" charset="0"/>
                <a:cs typeface="Times New Roman" panose="02020603050405020304" pitchFamily="18" charset="0"/>
              </a:rPr>
              <a:t>Une interface doit contenir des méthodes non implémentées.</a:t>
            </a:r>
          </a:p>
          <a:p>
            <a:pPr algn="just"/>
            <a:r>
              <a:rPr lang="fr-FR" sz="2000" dirty="0">
                <a:latin typeface="Times New Roman" panose="02020603050405020304" pitchFamily="18" charset="0"/>
                <a:cs typeface="Times New Roman" panose="02020603050405020304" pitchFamily="18" charset="0"/>
              </a:rPr>
              <a:t>Une interface est héritable.</a:t>
            </a:r>
          </a:p>
          <a:p>
            <a:pPr algn="just"/>
            <a:r>
              <a:rPr lang="fr-FR" sz="2000" dirty="0">
                <a:latin typeface="Times New Roman" panose="02020603050405020304" pitchFamily="18" charset="0"/>
                <a:cs typeface="Times New Roman" panose="02020603050405020304" pitchFamily="18" charset="0"/>
              </a:rPr>
              <a:t>On peut </a:t>
            </a:r>
            <a:r>
              <a:rPr lang="fr-FR" sz="2000" dirty="0" smtClean="0">
                <a:latin typeface="Times New Roman" panose="02020603050405020304" pitchFamily="18" charset="0"/>
                <a:cs typeface="Times New Roman" panose="02020603050405020304" pitchFamily="18" charset="0"/>
              </a:rPr>
              <a:t>construire </a:t>
            </a:r>
            <a:r>
              <a:rPr lang="fr-FR" sz="2000" dirty="0">
                <a:latin typeface="Times New Roman" panose="02020603050405020304" pitchFamily="18" charset="0"/>
                <a:cs typeface="Times New Roman" panose="02020603050405020304" pitchFamily="18" charset="0"/>
              </a:rPr>
              <a:t>une hiérarchie d'interfaces.</a:t>
            </a:r>
          </a:p>
          <a:p>
            <a:pPr algn="just"/>
            <a:r>
              <a:rPr lang="fr-FR" sz="2000" dirty="0">
                <a:latin typeface="Times New Roman" panose="02020603050405020304" pitchFamily="18" charset="0"/>
                <a:cs typeface="Times New Roman" panose="02020603050405020304" pitchFamily="18" charset="0"/>
              </a:rPr>
              <a:t>Pour pouvoir construire un objet à partir d'une interface, il faut définir une classe non abstraite implémentant toutes les méthodes de l'interface</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533548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3477875"/>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Les interfaces</a:t>
            </a:r>
            <a:endParaRPr lang="fr-FR" sz="2000" dirty="0" smtClean="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Une classe peut implémenter plusieurs interfaces. Dans ce cas nous avons une excellente alternative à l'héritage multiple.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Lorsque l'on crée une interface, on fournit un ensemble de définitions et de comportements qui ne devraient plus être modifiés. Cette attitude de constance dans les définitions, protège les applications écrites pour utiliser cette interface.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Les variables de types interface respectent les mêmes règles de transtypage que les variables de types classe.</a:t>
            </a:r>
          </a:p>
        </p:txBody>
      </p:sp>
    </p:spTree>
    <p:extLst>
      <p:ext uri="{BB962C8B-B14F-4D97-AF65-F5344CB8AC3E}">
        <p14:creationId xmlns:p14="http://schemas.microsoft.com/office/powerpoint/2010/main" val="38168409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4401205"/>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Classes et méthodes </a:t>
            </a:r>
            <a:r>
              <a:rPr lang="fr-FR" sz="2000" b="1" dirty="0" err="1">
                <a:solidFill>
                  <a:srgbClr val="C00000"/>
                </a:solidFill>
                <a:latin typeface="Times New Roman" panose="02020603050405020304" pitchFamily="18" charset="0"/>
                <a:cs typeface="Times New Roman" panose="02020603050405020304" pitchFamily="18" charset="0"/>
              </a:rPr>
              <a:t>sealed</a:t>
            </a:r>
            <a:endParaRPr lang="fr-FR" sz="2000" dirty="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Lorsqu’il est appliqué à une classe, le modificateur </a:t>
            </a:r>
            <a:r>
              <a:rPr lang="fr-FR" sz="2000" b="1" dirty="0" err="1">
                <a:latin typeface="Times New Roman" panose="02020603050405020304" pitchFamily="18" charset="0"/>
                <a:cs typeface="Times New Roman" panose="02020603050405020304" pitchFamily="18" charset="0"/>
              </a:rPr>
              <a:t>sealed</a:t>
            </a:r>
            <a:r>
              <a:rPr lang="fr-FR" sz="2000" dirty="0">
                <a:latin typeface="Times New Roman" panose="02020603050405020304" pitchFamily="18" charset="0"/>
                <a:cs typeface="Times New Roman" panose="02020603050405020304" pitchFamily="18" charset="0"/>
              </a:rPr>
              <a:t> empêche les autres classes d’en hériter. Dans l’exemple suivant, la classe B hérite de la classe A, mais aucune classe ne peut hériter de la classe B.</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class A {}</a:t>
            </a:r>
          </a:p>
          <a:p>
            <a:pPr algn="just"/>
            <a:r>
              <a:rPr lang="fr-FR" sz="2000" dirty="0" err="1">
                <a:latin typeface="Times New Roman" panose="02020603050405020304" pitchFamily="18" charset="0"/>
                <a:cs typeface="Times New Roman" panose="02020603050405020304" pitchFamily="18" charset="0"/>
              </a:rPr>
              <a:t>sealed</a:t>
            </a:r>
            <a:r>
              <a:rPr lang="fr-FR" sz="2000" dirty="0">
                <a:latin typeface="Times New Roman" panose="02020603050405020304" pitchFamily="18" charset="0"/>
                <a:cs typeface="Times New Roman" panose="02020603050405020304" pitchFamily="18" charset="0"/>
              </a:rPr>
              <a:t> class B : A {}</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Vous pouvez également utiliser le modificateur </a:t>
            </a:r>
            <a:r>
              <a:rPr lang="fr-FR" sz="2000" dirty="0" err="1">
                <a:latin typeface="Times New Roman" panose="02020603050405020304" pitchFamily="18" charset="0"/>
                <a:cs typeface="Times New Roman" panose="02020603050405020304" pitchFamily="18" charset="0"/>
              </a:rPr>
              <a:t>sealed</a:t>
            </a:r>
            <a:r>
              <a:rPr lang="fr-FR" sz="2000" dirty="0">
                <a:latin typeface="Times New Roman" panose="02020603050405020304" pitchFamily="18" charset="0"/>
                <a:cs typeface="Times New Roman" panose="02020603050405020304" pitchFamily="18" charset="0"/>
              </a:rPr>
              <a:t> sur une méthode ou une propriété qui substitue une méthode ou une propriété virtuelle dans une classe de base. Ainsi, vous pouvez autoriser les classes à dériver de votre classe et les empêcher de substituer des méthodes ou des propriétés virtuelles spécifiques</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Dans l’exemple suivant, Z hérite de Y mais Z ne peut pas substituer la fonction virtuelle F qui est déclarée dans X et scellée (</a:t>
            </a:r>
            <a:r>
              <a:rPr lang="fr-FR" sz="2000" dirty="0" err="1">
                <a:latin typeface="Times New Roman" panose="02020603050405020304" pitchFamily="18" charset="0"/>
                <a:cs typeface="Times New Roman" panose="02020603050405020304" pitchFamily="18" charset="0"/>
              </a:rPr>
              <a:t>sealed</a:t>
            </a:r>
            <a:r>
              <a:rPr lang="fr-FR" sz="2000" dirty="0">
                <a:latin typeface="Times New Roman" panose="02020603050405020304" pitchFamily="18" charset="0"/>
                <a:cs typeface="Times New Roman" panose="02020603050405020304" pitchFamily="18" charset="0"/>
              </a:rPr>
              <a:t>) dans Y.</a:t>
            </a:r>
          </a:p>
        </p:txBody>
      </p:sp>
    </p:spTree>
    <p:extLst>
      <p:ext uri="{BB962C8B-B14F-4D97-AF65-F5344CB8AC3E}">
        <p14:creationId xmlns:p14="http://schemas.microsoft.com/office/powerpoint/2010/main" val="66891770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6247864"/>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Classes et méthodes </a:t>
            </a:r>
            <a:r>
              <a:rPr lang="fr-FR" sz="2000" b="1" dirty="0" err="1">
                <a:solidFill>
                  <a:srgbClr val="C00000"/>
                </a:solidFill>
                <a:latin typeface="Times New Roman" panose="02020603050405020304" pitchFamily="18" charset="0"/>
                <a:cs typeface="Times New Roman" panose="02020603050405020304" pitchFamily="18" charset="0"/>
              </a:rPr>
              <a:t>sealed</a:t>
            </a:r>
            <a:endParaRPr lang="fr-FR" sz="2000" dirty="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class X</a:t>
            </a: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protected</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virtual</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F() {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("X.F"); }</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protected</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virtual</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F2() {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("X.F2"); }</a:t>
            </a:r>
          </a:p>
          <a:p>
            <a:pPr lvl="2" algn="just"/>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class Y : X</a:t>
            </a: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sealed</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protected</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override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F() {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("Y.F"); }</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protected</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override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F2() {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("Y.F2"); }</a:t>
            </a:r>
          </a:p>
          <a:p>
            <a:pPr lvl="2" algn="just"/>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class Z : Y</a:t>
            </a: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 Tenter de </a:t>
            </a:r>
            <a:r>
              <a:rPr lang="fr-FR" sz="2000" dirty="0" err="1">
                <a:latin typeface="Times New Roman" panose="02020603050405020304" pitchFamily="18" charset="0"/>
                <a:cs typeface="Times New Roman" panose="02020603050405020304" pitchFamily="18" charset="0"/>
              </a:rPr>
              <a:t>redefinir</a:t>
            </a:r>
            <a:r>
              <a:rPr lang="fr-FR" sz="2000" dirty="0">
                <a:latin typeface="Times New Roman" panose="02020603050405020304" pitchFamily="18" charset="0"/>
                <a:cs typeface="Times New Roman" panose="02020603050405020304" pitchFamily="18" charset="0"/>
              </a:rPr>
              <a:t> F provoque une erreur du compilation.</a:t>
            </a:r>
          </a:p>
          <a:p>
            <a:pPr lvl="2" algn="just"/>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protected</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override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F() {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("Z.F"); }</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redefinir</a:t>
            </a:r>
            <a:r>
              <a:rPr lang="fr-FR" sz="2000" dirty="0">
                <a:latin typeface="Times New Roman" panose="02020603050405020304" pitchFamily="18" charset="0"/>
                <a:cs typeface="Times New Roman" panose="02020603050405020304" pitchFamily="18" charset="0"/>
              </a:rPr>
              <a:t> F2 est autorisée.</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protected</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override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F2() {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("Z.F2"); }</a:t>
            </a:r>
          </a:p>
          <a:p>
            <a:pPr lvl="2" algn="just"/>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3720026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1631216"/>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Une classe mère commune</a:t>
            </a:r>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En C#, toute classe sans parent explicite hérite implicitement de la classe mère </a:t>
            </a:r>
            <a:r>
              <a:rPr lang="fr-FR" sz="2000" b="1" dirty="0">
                <a:latin typeface="Times New Roman" panose="02020603050405020304" pitchFamily="18" charset="0"/>
                <a:cs typeface="Times New Roman" panose="02020603050405020304" pitchFamily="18" charset="0"/>
              </a:rPr>
              <a:t>Object</a:t>
            </a:r>
            <a:r>
              <a:rPr lang="fr-FR" sz="2000" dirty="0">
                <a:latin typeface="Times New Roman" panose="02020603050405020304" pitchFamily="18" charset="0"/>
                <a:cs typeface="Times New Roman" panose="02020603050405020304" pitchFamily="18" charset="0"/>
              </a:rPr>
              <a:t>. La class </a:t>
            </a:r>
            <a:r>
              <a:rPr lang="fr-FR" sz="2000" b="1" dirty="0">
                <a:latin typeface="Times New Roman" panose="02020603050405020304" pitchFamily="18" charset="0"/>
                <a:cs typeface="Times New Roman" panose="02020603050405020304" pitchFamily="18" charset="0"/>
              </a:rPr>
              <a:t>Object</a:t>
            </a:r>
            <a:r>
              <a:rPr lang="fr-FR" sz="2000" dirty="0">
                <a:latin typeface="Times New Roman" panose="02020603050405020304" pitchFamily="18" charset="0"/>
                <a:cs typeface="Times New Roman" panose="02020603050405020304" pitchFamily="18" charset="0"/>
              </a:rPr>
              <a:t> est ainsi la racine de la hiérarchie de toutes les classes, les vôtres comme celles de .net. La classe </a:t>
            </a:r>
            <a:r>
              <a:rPr lang="fr-FR" sz="2000" b="1" dirty="0">
                <a:latin typeface="Times New Roman" panose="02020603050405020304" pitchFamily="18" charset="0"/>
                <a:cs typeface="Times New Roman" panose="02020603050405020304" pitchFamily="18" charset="0"/>
              </a:rPr>
              <a:t>Object</a:t>
            </a:r>
            <a:r>
              <a:rPr lang="fr-FR" sz="2000" dirty="0">
                <a:latin typeface="Times New Roman" panose="02020603050405020304" pitchFamily="18" charset="0"/>
                <a:cs typeface="Times New Roman" panose="02020603050405020304" pitchFamily="18" charset="0"/>
              </a:rPr>
              <a:t> déclare cinq méthodes d’instance accessibles à partir de tous les objets.</a:t>
            </a:r>
          </a:p>
        </p:txBody>
      </p:sp>
      <p:graphicFrame>
        <p:nvGraphicFramePr>
          <p:cNvPr id="3" name="Tableau 2"/>
          <p:cNvGraphicFramePr>
            <a:graphicFrameLocks noGrp="1"/>
          </p:cNvGraphicFramePr>
          <p:nvPr>
            <p:extLst>
              <p:ext uri="{D42A27DB-BD31-4B8C-83A1-F6EECF244321}">
                <p14:modId xmlns:p14="http://schemas.microsoft.com/office/powerpoint/2010/main" val="4259738414"/>
              </p:ext>
            </p:extLst>
          </p:nvPr>
        </p:nvGraphicFramePr>
        <p:xfrm>
          <a:off x="480163" y="2623084"/>
          <a:ext cx="10515600" cy="2560320"/>
        </p:xfrm>
        <a:graphic>
          <a:graphicData uri="http://schemas.openxmlformats.org/drawingml/2006/table">
            <a:tbl>
              <a:tblPr/>
              <a:tblGrid>
                <a:gridCol w="3816415">
                  <a:extLst>
                    <a:ext uri="{9D8B030D-6E8A-4147-A177-3AD203B41FA5}">
                      <a16:colId xmlns:a16="http://schemas.microsoft.com/office/drawing/2014/main" val="20000"/>
                    </a:ext>
                  </a:extLst>
                </a:gridCol>
                <a:gridCol w="6699185">
                  <a:extLst>
                    <a:ext uri="{9D8B030D-6E8A-4147-A177-3AD203B41FA5}">
                      <a16:colId xmlns:a16="http://schemas.microsoft.com/office/drawing/2014/main" val="20001"/>
                    </a:ext>
                  </a:extLst>
                </a:gridCol>
              </a:tblGrid>
              <a:tr h="0">
                <a:tc>
                  <a:txBody>
                    <a:bodyPr/>
                    <a:lstStyle/>
                    <a:p>
                      <a:r>
                        <a:rPr lang="fr-FR" sz="1800" b="1" dirty="0">
                          <a:latin typeface="Times New Roman" panose="02020603050405020304" pitchFamily="18" charset="0"/>
                          <a:cs typeface="Times New Roman" panose="02020603050405020304" pitchFamily="18" charset="0"/>
                        </a:rPr>
                        <a:t>Méthode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fr-FR" sz="1800" b="1" dirty="0">
                          <a:latin typeface="Times New Roman" panose="02020603050405020304" pitchFamily="18" charset="0"/>
                          <a:cs typeface="Times New Roman" panose="02020603050405020304" pitchFamily="18"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0">
                <a:tc>
                  <a:txBody>
                    <a:bodyPr/>
                    <a:lstStyle/>
                    <a:p>
                      <a:r>
                        <a:rPr lang="fr-FR" sz="1800">
                          <a:latin typeface="Times New Roman" panose="02020603050405020304" pitchFamily="18" charset="0"/>
                          <a:cs typeface="Times New Roman" panose="02020603050405020304" pitchFamily="18" charset="0"/>
                        </a:rPr>
                        <a:t>public virtual string ToString()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1800" dirty="0">
                          <a:latin typeface="Times New Roman" panose="02020603050405020304" pitchFamily="18" charset="0"/>
                          <a:cs typeface="Times New Roman" panose="02020603050405020304" pitchFamily="18" charset="0"/>
                        </a:rPr>
                        <a:t>Retourne une chaîne de </a:t>
                      </a:r>
                      <a:r>
                        <a:rPr lang="fr-FR" sz="1800" dirty="0" err="1">
                          <a:latin typeface="Times New Roman" panose="02020603050405020304" pitchFamily="18" charset="0"/>
                          <a:cs typeface="Times New Roman" panose="02020603050405020304" pitchFamily="18" charset="0"/>
                        </a:rPr>
                        <a:t>caratères</a:t>
                      </a:r>
                      <a:r>
                        <a:rPr lang="fr-FR" sz="1800" dirty="0">
                          <a:latin typeface="Times New Roman" panose="02020603050405020304" pitchFamily="18" charset="0"/>
                          <a:cs typeface="Times New Roman" panose="02020603050405020304" pitchFamily="18" charset="0"/>
                        </a:rPr>
                        <a:t> qui représente l’objet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r>
                        <a:rPr lang="fr-FR" sz="1800" dirty="0">
                          <a:latin typeface="Times New Roman" panose="02020603050405020304" pitchFamily="18" charset="0"/>
                          <a:cs typeface="Times New Roman" panose="02020603050405020304" pitchFamily="18" charset="0"/>
                        </a:rPr>
                        <a:t>public </a:t>
                      </a:r>
                      <a:r>
                        <a:rPr lang="fr-FR" sz="1800" dirty="0" err="1">
                          <a:latin typeface="Times New Roman" panose="02020603050405020304" pitchFamily="18" charset="0"/>
                          <a:cs typeface="Times New Roman" panose="02020603050405020304" pitchFamily="18" charset="0"/>
                        </a:rPr>
                        <a:t>virtual</a:t>
                      </a:r>
                      <a:r>
                        <a:rPr lang="fr-FR" sz="1800" dirty="0">
                          <a:latin typeface="Times New Roman" panose="02020603050405020304" pitchFamily="18" charset="0"/>
                          <a:cs typeface="Times New Roman" panose="02020603050405020304" pitchFamily="18" charset="0"/>
                        </a:rPr>
                        <a:t> </a:t>
                      </a:r>
                      <a:r>
                        <a:rPr lang="fr-FR" sz="1800" dirty="0" err="1">
                          <a:latin typeface="Times New Roman" panose="02020603050405020304" pitchFamily="18" charset="0"/>
                          <a:cs typeface="Times New Roman" panose="02020603050405020304" pitchFamily="18" charset="0"/>
                        </a:rPr>
                        <a:t>bool</a:t>
                      </a:r>
                      <a:r>
                        <a:rPr lang="fr-FR" sz="1800" dirty="0">
                          <a:latin typeface="Times New Roman" panose="02020603050405020304" pitchFamily="18" charset="0"/>
                          <a:cs typeface="Times New Roman" panose="02020603050405020304" pitchFamily="18" charset="0"/>
                        </a:rPr>
                        <a:t> </a:t>
                      </a:r>
                      <a:r>
                        <a:rPr lang="fr-FR" sz="1800" dirty="0" err="1">
                          <a:latin typeface="Times New Roman" panose="02020603050405020304" pitchFamily="18" charset="0"/>
                          <a:cs typeface="Times New Roman" panose="02020603050405020304" pitchFamily="18" charset="0"/>
                        </a:rPr>
                        <a:t>Equals</a:t>
                      </a:r>
                      <a:r>
                        <a:rPr lang="fr-FR" sz="1800" dirty="0">
                          <a:latin typeface="Times New Roman" panose="02020603050405020304" pitchFamily="18" charset="0"/>
                          <a:cs typeface="Times New Roman" panose="02020603050405020304" pitchFamily="18" charset="0"/>
                        </a:rPr>
                        <a:t>(Object)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1800">
                          <a:latin typeface="Times New Roman" panose="02020603050405020304" pitchFamily="18" charset="0"/>
                          <a:cs typeface="Times New Roman" panose="02020603050405020304" pitchFamily="18" charset="0"/>
                        </a:rPr>
                        <a:t>Détermine si l’objet spécifié est égal à l’objet en cours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r>
                        <a:rPr lang="fr-FR" sz="1800" dirty="0">
                          <a:latin typeface="Times New Roman" panose="02020603050405020304" pitchFamily="18" charset="0"/>
                          <a:cs typeface="Times New Roman" panose="02020603050405020304" pitchFamily="18" charset="0"/>
                        </a:rPr>
                        <a:t>public </a:t>
                      </a:r>
                      <a:r>
                        <a:rPr lang="fr-FR" sz="1800" dirty="0" err="1">
                          <a:latin typeface="Times New Roman" panose="02020603050405020304" pitchFamily="18" charset="0"/>
                          <a:cs typeface="Times New Roman" panose="02020603050405020304" pitchFamily="18" charset="0"/>
                        </a:rPr>
                        <a:t>virtual</a:t>
                      </a:r>
                      <a:r>
                        <a:rPr lang="fr-FR" sz="1800" dirty="0">
                          <a:latin typeface="Times New Roman" panose="02020603050405020304" pitchFamily="18" charset="0"/>
                          <a:cs typeface="Times New Roman" panose="02020603050405020304" pitchFamily="18" charset="0"/>
                        </a:rPr>
                        <a:t> </a:t>
                      </a:r>
                      <a:r>
                        <a:rPr lang="fr-FR" sz="1800" dirty="0" err="1">
                          <a:latin typeface="Times New Roman" panose="02020603050405020304" pitchFamily="18" charset="0"/>
                          <a:cs typeface="Times New Roman" panose="02020603050405020304" pitchFamily="18" charset="0"/>
                        </a:rPr>
                        <a:t>void</a:t>
                      </a:r>
                      <a:r>
                        <a:rPr lang="fr-FR" sz="1800" dirty="0">
                          <a:latin typeface="Times New Roman" panose="02020603050405020304" pitchFamily="18" charset="0"/>
                          <a:cs typeface="Times New Roman" panose="02020603050405020304" pitchFamily="18" charset="0"/>
                        </a:rPr>
                        <a:t> </a:t>
                      </a:r>
                      <a:r>
                        <a:rPr lang="fr-FR" sz="1800" dirty="0" err="1">
                          <a:latin typeface="Times New Roman" panose="02020603050405020304" pitchFamily="18" charset="0"/>
                          <a:cs typeface="Times New Roman" panose="02020603050405020304" pitchFamily="18" charset="0"/>
                        </a:rPr>
                        <a:t>Finalize</a:t>
                      </a:r>
                      <a:r>
                        <a:rPr lang="fr-FR" sz="18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1800" dirty="0">
                          <a:latin typeface="Times New Roman" panose="02020603050405020304" pitchFamily="18" charset="0"/>
                          <a:cs typeface="Times New Roman" panose="02020603050405020304" pitchFamily="18" charset="0"/>
                        </a:rPr>
                        <a:t>Fonction exécutée par le ramasse miette avant la destruction de l’objet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r>
                        <a:rPr lang="fr-FR" sz="1800">
                          <a:latin typeface="Times New Roman" panose="02020603050405020304" pitchFamily="18" charset="0"/>
                          <a:cs typeface="Times New Roman" panose="02020603050405020304" pitchFamily="18" charset="0"/>
                        </a:rPr>
                        <a:t>public virtual int GetHashCode()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1800">
                          <a:latin typeface="Times New Roman" panose="02020603050405020304" pitchFamily="18" charset="0"/>
                          <a:cs typeface="Times New Roman" panose="02020603050405020304" pitchFamily="18" charset="0"/>
                        </a:rPr>
                        <a:t>Retourne le code de hashage de l’objet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r>
                        <a:rPr lang="fr-FR" sz="1800">
                          <a:latin typeface="Times New Roman" panose="02020603050405020304" pitchFamily="18" charset="0"/>
                          <a:cs typeface="Times New Roman" panose="02020603050405020304" pitchFamily="18" charset="0"/>
                        </a:rPr>
                        <a:t>public Type GetType()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1800">
                          <a:latin typeface="Times New Roman" panose="02020603050405020304" pitchFamily="18" charset="0"/>
                          <a:cs typeface="Times New Roman" panose="02020603050405020304" pitchFamily="18" charset="0"/>
                        </a:rPr>
                        <a:t>Retourne le type de l’objet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r>
                        <a:rPr lang="fr-FR" sz="1800">
                          <a:latin typeface="Times New Roman" panose="02020603050405020304" pitchFamily="18" charset="0"/>
                          <a:cs typeface="Times New Roman" panose="02020603050405020304" pitchFamily="18" charset="0"/>
                        </a:rPr>
                        <a:t>public Object MemberWiseClone()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1800" dirty="0">
                          <a:latin typeface="Times New Roman" panose="02020603050405020304" pitchFamily="18" charset="0"/>
                          <a:cs typeface="Times New Roman" panose="02020603050405020304" pitchFamily="18" charset="0"/>
                        </a:rPr>
                        <a:t>Créé une copie superficielle de l’objet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01463650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L’héritage</a:t>
            </a:r>
          </a:p>
        </p:txBody>
      </p:sp>
      <p:sp>
        <p:nvSpPr>
          <p:cNvPr id="8" name="ZoneTexte 7"/>
          <p:cNvSpPr txBox="1"/>
          <p:nvPr/>
        </p:nvSpPr>
        <p:spPr>
          <a:xfrm>
            <a:off x="480163" y="911772"/>
            <a:ext cx="11160000" cy="5632311"/>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Une classe mère commune</a:t>
            </a:r>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La méthode </a:t>
            </a:r>
            <a:r>
              <a:rPr lang="fr-FR" sz="2000" b="1" dirty="0" err="1">
                <a:latin typeface="Times New Roman" panose="02020603050405020304" pitchFamily="18" charset="0"/>
                <a:cs typeface="Times New Roman" panose="02020603050405020304" pitchFamily="18" charset="0"/>
              </a:rPr>
              <a:t>ToString</a:t>
            </a:r>
            <a:r>
              <a:rPr lang="fr-FR" sz="2000" dirty="0">
                <a:latin typeface="Times New Roman" panose="02020603050405020304" pitchFamily="18" charset="0"/>
                <a:cs typeface="Times New Roman" panose="02020603050405020304" pitchFamily="18" charset="0"/>
              </a:rPr>
              <a:t> est automatiquement invoquée lors de la conversion implicite d’un objet en chaine de caractères. C’est une pratique courante de redéfinir cette méthode pour faciliter les affichages.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class A{</a:t>
            </a:r>
          </a:p>
          <a:p>
            <a:pPr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override</a:t>
            </a:r>
            <a:r>
              <a:rPr lang="fr-FR" sz="2000" dirty="0">
                <a:latin typeface="Times New Roman" panose="02020603050405020304" pitchFamily="18" charset="0"/>
                <a:cs typeface="Times New Roman" panose="02020603050405020304" pitchFamily="18" charset="0"/>
              </a:rPr>
              <a:t> String </a:t>
            </a:r>
            <a:r>
              <a:rPr lang="fr-FR" sz="2000" dirty="0" err="1">
                <a:latin typeface="Times New Roman" panose="02020603050405020304" pitchFamily="18" charset="0"/>
                <a:cs typeface="Times New Roman" panose="02020603050405020304" pitchFamily="18" charset="0"/>
              </a:rPr>
              <a:t>ToString</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return "Objet de la classe A";</a:t>
            </a:r>
          </a:p>
          <a:p>
            <a:pPr algn="just"/>
            <a:r>
              <a:rPr lang="fr-FR" sz="2000" dirty="0">
                <a:latin typeface="Times New Roman" panose="02020603050405020304" pitchFamily="18" charset="0"/>
                <a:cs typeface="Times New Roman" panose="02020603050405020304" pitchFamily="18" charset="0"/>
              </a:rPr>
              <a:t>	}</a:t>
            </a:r>
          </a:p>
          <a:p>
            <a:pPr algn="just"/>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 </a:t>
            </a:r>
            <a:r>
              <a:rPr lang="fr-FR" sz="2000" dirty="0" err="1">
                <a:latin typeface="Times New Roman" panose="02020603050405020304" pitchFamily="18" charset="0"/>
                <a:cs typeface="Times New Roman" panose="02020603050405020304" pitchFamily="18" charset="0"/>
              </a:rPr>
              <a:t>a</a:t>
            </a:r>
            <a:r>
              <a:rPr lang="fr-FR" sz="2000" dirty="0">
                <a:latin typeface="Times New Roman" panose="02020603050405020304" pitchFamily="18" charset="0"/>
                <a:cs typeface="Times New Roman" panose="02020603050405020304" pitchFamily="18" charset="0"/>
              </a:rPr>
              <a:t> = new A();</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WriteLine</a:t>
            </a:r>
            <a:r>
              <a:rPr lang="fr-FR" sz="2000" dirty="0">
                <a:latin typeface="Times New Roman" panose="02020603050405020304" pitchFamily="18" charset="0"/>
                <a:cs typeface="Times New Roman" panose="02020603050405020304" pitchFamily="18" charset="0"/>
              </a:rPr>
              <a:t>(a); // équivalent à </a:t>
            </a:r>
            <a:r>
              <a:rPr lang="fr-FR" sz="2000" dirty="0" err="1">
                <a:latin typeface="Times New Roman" panose="02020603050405020304" pitchFamily="18" charset="0"/>
                <a:cs typeface="Times New Roman" panose="02020603050405020304" pitchFamily="18" charset="0"/>
              </a:rPr>
              <a:t>WriteLine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a.ToString</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String s = "a est un " + a;  // équivalent à String s = "a est un " + </a:t>
            </a:r>
            <a:r>
              <a:rPr lang="fr-FR" sz="2000" dirty="0" err="1">
                <a:latin typeface="Times New Roman" panose="02020603050405020304" pitchFamily="18" charset="0"/>
                <a:cs typeface="Times New Roman" panose="02020603050405020304" pitchFamily="18" charset="0"/>
              </a:rPr>
              <a:t>a.ToString</a:t>
            </a:r>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214588"/>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err="1"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TPs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5016758"/>
          </a:xfrm>
          <a:prstGeom prst="rect">
            <a:avLst/>
          </a:prstGeom>
          <a:noFill/>
        </p:spPr>
        <p:txBody>
          <a:bodyPr wrap="square" rtlCol="0">
            <a:spAutoFit/>
          </a:bodyPr>
          <a:lstStyle/>
          <a:p>
            <a:r>
              <a:rPr lang="fr-FR" sz="2000" b="1" dirty="0">
                <a:latin typeface="Times New Roman" panose="02020603050405020304" pitchFamily="18" charset="0"/>
                <a:cs typeface="Times New Roman" panose="02020603050405020304" pitchFamily="18" charset="0"/>
              </a:rPr>
              <a:t>Exercice </a:t>
            </a:r>
            <a:r>
              <a:rPr lang="fr-FR" sz="2000" b="1" dirty="0" smtClean="0">
                <a:latin typeface="Times New Roman" panose="02020603050405020304" pitchFamily="18" charset="0"/>
                <a:cs typeface="Times New Roman" panose="02020603050405020304" pitchFamily="18" charset="0"/>
              </a:rPr>
              <a:t>8 :</a:t>
            </a:r>
          </a:p>
          <a:p>
            <a:r>
              <a:rPr lang="fr-FR" sz="2000" dirty="0" smtClean="0">
                <a:latin typeface="Times New Roman" panose="02020603050405020304" pitchFamily="18" charset="0"/>
                <a:cs typeface="Times New Roman" panose="02020603050405020304" pitchFamily="18" charset="0"/>
              </a:rPr>
              <a:t>Suite classe Salarie</a:t>
            </a:r>
          </a:p>
          <a:p>
            <a:endParaRPr lang="fr-FR" sz="2000" dirty="0">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 Ajoutez à la classe Salarie les méthodes </a:t>
            </a:r>
            <a:r>
              <a:rPr lang="fr-FR" sz="2000" dirty="0" err="1">
                <a:latin typeface="Times New Roman" panose="02020603050405020304" pitchFamily="18" charset="0"/>
                <a:cs typeface="Times New Roman" panose="02020603050405020304" pitchFamily="18" charset="0"/>
              </a:rPr>
              <a:t>Equals</a:t>
            </a:r>
            <a:r>
              <a:rPr lang="fr-FR" sz="2000" dirty="0">
                <a:latin typeface="Times New Roman" panose="02020603050405020304" pitchFamily="18" charset="0"/>
                <a:cs typeface="Times New Roman" panose="02020603050405020304" pitchFamily="18" charset="0"/>
              </a:rPr>
              <a:t> et </a:t>
            </a:r>
            <a:r>
              <a:rPr lang="fr-FR" sz="2000" dirty="0" err="1">
                <a:latin typeface="Times New Roman" panose="02020603050405020304" pitchFamily="18" charset="0"/>
                <a:cs typeface="Times New Roman" panose="02020603050405020304" pitchFamily="18" charset="0"/>
              </a:rPr>
              <a:t>ToString</a:t>
            </a:r>
            <a:r>
              <a:rPr lang="fr-FR" sz="2000" dirty="0">
                <a:latin typeface="Times New Roman" panose="02020603050405020304" pitchFamily="18" charset="0"/>
                <a:cs typeface="Times New Roman" panose="02020603050405020304" pitchFamily="18" charset="0"/>
              </a:rPr>
              <a:t>. La règle d'égalité pour la classe Salarie peut s'énoncer de la façon suivante : deux salariés sont égaux s'ils ont le même numéro de matricule.</a:t>
            </a:r>
          </a:p>
          <a:p>
            <a:r>
              <a:rPr lang="fr-FR" sz="2000" dirty="0" err="1">
                <a:latin typeface="Times New Roman" panose="02020603050405020304" pitchFamily="18" charset="0"/>
                <a:cs typeface="Times New Roman" panose="02020603050405020304" pitchFamily="18" charset="0"/>
              </a:rPr>
              <a:t>ToString</a:t>
            </a:r>
            <a:r>
              <a:rPr lang="fr-FR" sz="2000" dirty="0">
                <a:latin typeface="Times New Roman" panose="02020603050405020304" pitchFamily="18" charset="0"/>
                <a:cs typeface="Times New Roman" panose="02020603050405020304" pitchFamily="18" charset="0"/>
              </a:rPr>
              <a:t> doit renvoyer toutes les propriétés Matricule et Nom séparées par des virgules.</a:t>
            </a:r>
          </a:p>
          <a:p>
            <a:r>
              <a:rPr lang="fr-FR" sz="2000" dirty="0">
                <a:latin typeface="Times New Roman" panose="02020603050405020304" pitchFamily="18" charset="0"/>
                <a:cs typeface="Times New Roman" panose="02020603050405020304" pitchFamily="18" charset="0"/>
              </a:rPr>
              <a:t>• Créez une classe Commercial en dérivant la classe Salarie.</a:t>
            </a:r>
          </a:p>
          <a:p>
            <a:r>
              <a:rPr lang="fr-FR" sz="2000" dirty="0">
                <a:latin typeface="Times New Roman" panose="02020603050405020304" pitchFamily="18" charset="0"/>
                <a:cs typeface="Times New Roman" panose="02020603050405020304" pitchFamily="18" charset="0"/>
              </a:rPr>
              <a:t>Cette classe aura 2 propriétés supplémentaires pour calculer la commission :</a:t>
            </a:r>
          </a:p>
          <a:p>
            <a:r>
              <a:rPr lang="fr-FR" sz="2000" dirty="0">
                <a:latin typeface="Times New Roman" panose="02020603050405020304" pitchFamily="18" charset="0"/>
                <a:cs typeface="Times New Roman" panose="02020603050405020304" pitchFamily="18" charset="0"/>
              </a:rPr>
              <a:t>− chiffre d'affaire </a:t>
            </a:r>
            <a:r>
              <a:rPr lang="fr-FR" sz="2000" dirty="0" err="1">
                <a:latin typeface="Times New Roman" panose="02020603050405020304" pitchFamily="18" charset="0"/>
                <a:cs typeface="Times New Roman" panose="02020603050405020304" pitchFamily="18" charset="0"/>
              </a:rPr>
              <a:t>chiffreAffaire</a:t>
            </a:r>
            <a:r>
              <a:rPr lang="fr-FR" sz="2000" dirty="0">
                <a:latin typeface="Times New Roman" panose="02020603050405020304" pitchFamily="18" charset="0"/>
                <a:cs typeface="Times New Roman" panose="02020603050405020304" pitchFamily="18" charset="0"/>
              </a:rPr>
              <a:t> Double</a:t>
            </a:r>
          </a:p>
          <a:p>
            <a:r>
              <a:rPr lang="fr-FR" sz="2000" dirty="0">
                <a:latin typeface="Times New Roman" panose="02020603050405020304" pitchFamily="18" charset="0"/>
                <a:cs typeface="Times New Roman" panose="02020603050405020304" pitchFamily="18" charset="0"/>
              </a:rPr>
              <a:t>− commission en % commission </a:t>
            </a:r>
            <a:r>
              <a:rPr lang="fr-FR" sz="2000" dirty="0" err="1">
                <a:latin typeface="Times New Roman" panose="02020603050405020304" pitchFamily="18" charset="0"/>
                <a:cs typeface="Times New Roman" panose="02020603050405020304" pitchFamily="18" charset="0"/>
              </a:rPr>
              <a:t>Integer</a:t>
            </a:r>
            <a:endParaRPr lang="fr-FR" sz="2000" dirty="0">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 Créez les deux constructeurs standards de la classe Commercial (par défaut et initialisation).</a:t>
            </a:r>
          </a:p>
          <a:p>
            <a:r>
              <a:rPr lang="fr-FR" sz="2000" dirty="0">
                <a:latin typeface="Times New Roman" panose="02020603050405020304" pitchFamily="18" charset="0"/>
                <a:cs typeface="Times New Roman" panose="02020603050405020304" pitchFamily="18" charset="0"/>
              </a:rPr>
              <a:t>Ne pas oublier d'appeler les constructeurs équivalents de la classe de base.</a:t>
            </a:r>
          </a:p>
          <a:p>
            <a:r>
              <a:rPr lang="fr-FR" sz="2000" dirty="0">
                <a:latin typeface="Times New Roman" panose="02020603050405020304" pitchFamily="18" charset="0"/>
                <a:cs typeface="Times New Roman" panose="02020603050405020304" pitchFamily="18" charset="0"/>
              </a:rPr>
              <a:t>• Créez les méthodes d'accès aux propriétés supplémentaires.</a:t>
            </a:r>
          </a:p>
          <a:p>
            <a:r>
              <a:rPr lang="fr-FR" sz="2000" dirty="0">
                <a:latin typeface="Times New Roman" panose="02020603050405020304" pitchFamily="18" charset="0"/>
                <a:cs typeface="Times New Roman" panose="02020603050405020304" pitchFamily="18" charset="0"/>
              </a:rPr>
              <a:t>• Surchargez la méthode </a:t>
            </a:r>
            <a:r>
              <a:rPr lang="fr-FR" sz="2000" dirty="0" err="1">
                <a:latin typeface="Times New Roman" panose="02020603050405020304" pitchFamily="18" charset="0"/>
                <a:cs typeface="Times New Roman" panose="02020603050405020304" pitchFamily="18" charset="0"/>
              </a:rPr>
              <a:t>CalculerSalaireNet</a:t>
            </a:r>
            <a:r>
              <a:rPr lang="fr-FR" sz="2000" dirty="0">
                <a:latin typeface="Times New Roman" panose="02020603050405020304" pitchFamily="18" charset="0"/>
                <a:cs typeface="Times New Roman" panose="02020603050405020304" pitchFamily="18" charset="0"/>
              </a:rPr>
              <a:t> pour calculer le salaire réel (fixe + commission).</a:t>
            </a:r>
          </a:p>
          <a:p>
            <a:r>
              <a:rPr lang="fr-FR" sz="2000" dirty="0">
                <a:latin typeface="Times New Roman" panose="02020603050405020304" pitchFamily="18" charset="0"/>
                <a:cs typeface="Times New Roman" panose="02020603050405020304" pitchFamily="18" charset="0"/>
              </a:rPr>
              <a:t>• Surchargez les autres méthodes de la classe de base pour lesquelles on jugera nécessaire de faire ainsi.</a:t>
            </a:r>
          </a:p>
          <a:p>
            <a:r>
              <a:rPr lang="fr-FR" sz="2000" dirty="0">
                <a:latin typeface="Times New Roman" panose="02020603050405020304" pitchFamily="18" charset="0"/>
                <a:cs typeface="Times New Roman" panose="02020603050405020304" pitchFamily="18" charset="0"/>
              </a:rPr>
              <a:t>Testez les classes Salarie et Commercial</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3129336"/>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err="1"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TPs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9633406"/>
          </a:xfrm>
          <a:prstGeom prst="rect">
            <a:avLst/>
          </a:prstGeom>
          <a:noFill/>
        </p:spPr>
        <p:txBody>
          <a:bodyPr wrap="square" rtlCol="0">
            <a:spAutoFit/>
          </a:bodyPr>
          <a:lstStyle/>
          <a:p>
            <a:r>
              <a:rPr lang="fr-FR" sz="2000" b="1" dirty="0">
                <a:latin typeface="Times New Roman" panose="02020603050405020304" pitchFamily="18" charset="0"/>
                <a:cs typeface="Times New Roman" panose="02020603050405020304" pitchFamily="18" charset="0"/>
              </a:rPr>
              <a:t>Exercice </a:t>
            </a:r>
            <a:r>
              <a:rPr lang="fr-FR" sz="2000" b="1" dirty="0" smtClean="0">
                <a:latin typeface="Times New Roman" panose="02020603050405020304" pitchFamily="18" charset="0"/>
                <a:cs typeface="Times New Roman" panose="02020603050405020304" pitchFamily="18" charset="0"/>
              </a:rPr>
              <a:t>9 :</a:t>
            </a:r>
          </a:p>
          <a:p>
            <a:r>
              <a:rPr lang="fr-FR" sz="2000" dirty="0" smtClean="0">
                <a:latin typeface="Times New Roman" panose="02020603050405020304" pitchFamily="18" charset="0"/>
                <a:cs typeface="Times New Roman" panose="02020603050405020304" pitchFamily="18" charset="0"/>
              </a:rPr>
              <a:t>Suite classe Lapin</a:t>
            </a:r>
          </a:p>
          <a:p>
            <a:endParaRPr lang="fr-FR" sz="2000" dirty="0">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Pour sa nouvelle édition, notre grande course de lapins a décidé de mettre un peu de piquant dans la compétition en invitant des tortues et la course devient, de fait, la grande course des animaux.</a:t>
            </a:r>
          </a:p>
          <a:p>
            <a:r>
              <a:rPr lang="fr-FR" sz="2000" dirty="0">
                <a:latin typeface="Times New Roman" panose="02020603050405020304" pitchFamily="18" charset="0"/>
                <a:cs typeface="Times New Roman" panose="02020603050405020304" pitchFamily="18" charset="0"/>
              </a:rPr>
              <a:t>Dans notre nouveau modèle, les lapins possèdent les caractéristiques suivantes : surnom, </a:t>
            </a:r>
            <a:r>
              <a:rPr lang="fr-FR" sz="2000" dirty="0" err="1">
                <a:latin typeface="Times New Roman" panose="02020603050405020304" pitchFamily="18" charset="0"/>
                <a:cs typeface="Times New Roman" panose="02020603050405020304" pitchFamily="18" charset="0"/>
              </a:rPr>
              <a:t>age</a:t>
            </a:r>
            <a:r>
              <a:rPr lang="fr-FR" sz="2000" dirty="0">
                <a:latin typeface="Times New Roman" panose="02020603050405020304" pitchFamily="18" charset="0"/>
                <a:cs typeface="Times New Roman" panose="02020603050405020304" pitchFamily="18" charset="0"/>
              </a:rPr>
              <a:t>, couleur de la fourrure et position (un nombre entier qui mesure la distance depuis la ligne de départ). Les tortues possèdent quant à elle les caractéristiques suivantes : surnom, </a:t>
            </a:r>
            <a:r>
              <a:rPr lang="fr-FR" sz="2000" dirty="0" err="1">
                <a:latin typeface="Times New Roman" panose="02020603050405020304" pitchFamily="18" charset="0"/>
                <a:cs typeface="Times New Roman" panose="02020603050405020304" pitchFamily="18" charset="0"/>
              </a:rPr>
              <a:t>age</a:t>
            </a:r>
            <a:r>
              <a:rPr lang="fr-FR" sz="2000" dirty="0">
                <a:latin typeface="Times New Roman" panose="02020603050405020304" pitchFamily="18" charset="0"/>
                <a:cs typeface="Times New Roman" panose="02020603050405020304" pitchFamily="18" charset="0"/>
              </a:rPr>
              <a:t>, épaisseur de la carapace et position. Les deux animaux possèdent les méthodes Avancer et </a:t>
            </a:r>
            <a:r>
              <a:rPr lang="fr-FR" sz="2000" dirty="0" err="1">
                <a:latin typeface="Times New Roman" panose="02020603050405020304" pitchFamily="18" charset="0"/>
                <a:cs typeface="Times New Roman" panose="02020603050405020304" pitchFamily="18" charset="0"/>
              </a:rPr>
              <a:t>ToString</a:t>
            </a:r>
            <a:r>
              <a:rPr lang="fr-FR" sz="2000" dirty="0">
                <a:latin typeface="Times New Roman" panose="02020603050405020304" pitchFamily="18" charset="0"/>
                <a:cs typeface="Times New Roman" panose="02020603050405020304" pitchFamily="18" charset="0"/>
              </a:rPr>
              <a:t> (représenter l’animal sous forme de chaine de caractères). On constate immédiatement qu’une tortue et un lapin sont des sortes d’animaux qui possèdent des éléments en commun, nous allons donc créer une classe Animal qui regroupe tout ce qui est commun. Nous pourrons alors écrire deux classes : Lapin et Tortue qui héritent de Animal. Chacune de ces classes ajoutera les caractéristiques propres à l’animal et redéfinira les méthodes de manières adéquates.</a:t>
            </a:r>
          </a:p>
          <a:p>
            <a:r>
              <a:rPr lang="fr-FR" sz="2000" dirty="0">
                <a:latin typeface="Times New Roman" panose="02020603050405020304" pitchFamily="18" charset="0"/>
                <a:cs typeface="Times New Roman" panose="02020603050405020304" pitchFamily="18" charset="0"/>
              </a:rPr>
              <a:t>Dans un nouveau projet Console sous Visual Studio:</a:t>
            </a:r>
          </a:p>
          <a:p>
            <a:r>
              <a:rPr lang="fr-FR" sz="2000" dirty="0">
                <a:latin typeface="Times New Roman" panose="02020603050405020304" pitchFamily="18" charset="0"/>
                <a:cs typeface="Times New Roman" panose="02020603050405020304" pitchFamily="18" charset="0"/>
              </a:rPr>
              <a:t>1. Écrivez la classe Animal contenant tous les éléments commun aux lapins et aux tortues. Écrivez un constructeur paramétrique permettant de facilement initialiser les propriétés. La méthode </a:t>
            </a:r>
            <a:r>
              <a:rPr lang="fr-FR" sz="2000" dirty="0" err="1">
                <a:latin typeface="Times New Roman" panose="02020603050405020304" pitchFamily="18" charset="0"/>
                <a:cs typeface="Times New Roman" panose="02020603050405020304" pitchFamily="18" charset="0"/>
              </a:rPr>
              <a:t>sting</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ToString</a:t>
            </a:r>
            <a:r>
              <a:rPr lang="fr-FR" sz="2000" dirty="0">
                <a:latin typeface="Times New Roman" panose="02020603050405020304" pitchFamily="18" charset="0"/>
                <a:cs typeface="Times New Roman" panose="02020603050405020304" pitchFamily="18" charset="0"/>
              </a:rPr>
              <a:t>() retourne une chaîne de caractère contenant les informations sur l’animal : « surnom, </a:t>
            </a:r>
            <a:r>
              <a:rPr lang="fr-FR" sz="2000" dirty="0" err="1">
                <a:latin typeface="Times New Roman" panose="02020603050405020304" pitchFamily="18" charset="0"/>
                <a:cs typeface="Times New Roman" panose="02020603050405020304" pitchFamily="18" charset="0"/>
              </a:rPr>
              <a:t>age</a:t>
            </a:r>
            <a:r>
              <a:rPr lang="fr-FR" sz="2000" dirty="0">
                <a:latin typeface="Times New Roman" panose="02020603050405020304" pitchFamily="18" charset="0"/>
                <a:cs typeface="Times New Roman" panose="02020603050405020304" pitchFamily="18" charset="0"/>
              </a:rPr>
              <a:t>, position ». La méthode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Avancer() est connue des lapins et des tortues mais l’action à réaliser n’est pas déterminée pour la classe Animal que faut-il faire ?</a:t>
            </a:r>
          </a:p>
          <a:p>
            <a:r>
              <a:rPr lang="fr-FR" sz="2000" dirty="0">
                <a:latin typeface="Times New Roman" panose="02020603050405020304" pitchFamily="18" charset="0"/>
                <a:cs typeface="Times New Roman" panose="02020603050405020304" pitchFamily="18" charset="0"/>
              </a:rPr>
              <a:t>2. Écrivez les classes Lapin et Tortue qui héritent de Animal. Ajoutez les champs nécessaires et définissez des constructeurs paramétriques pour les initialiser (pensez aux contraintes de chaînage des constructeurs).</a:t>
            </a:r>
          </a:p>
          <a:p>
            <a:r>
              <a:rPr lang="fr-FR" sz="2000" dirty="0">
                <a:latin typeface="Times New Roman" panose="02020603050405020304" pitchFamily="18" charset="0"/>
                <a:cs typeface="Times New Roman" panose="02020603050405020304" pitchFamily="18" charset="0"/>
              </a:rPr>
              <a:t>3. Redéfinissez la méthode </a:t>
            </a:r>
            <a:r>
              <a:rPr lang="fr-FR" sz="2000" dirty="0" err="1">
                <a:latin typeface="Times New Roman" panose="02020603050405020304" pitchFamily="18" charset="0"/>
                <a:cs typeface="Times New Roman" panose="02020603050405020304" pitchFamily="18" charset="0"/>
              </a:rPr>
              <a:t>ToString</a:t>
            </a:r>
            <a:r>
              <a:rPr lang="fr-FR" sz="2000" dirty="0">
                <a:latin typeface="Times New Roman" panose="02020603050405020304" pitchFamily="18" charset="0"/>
                <a:cs typeface="Times New Roman" panose="02020603050405020304" pitchFamily="18" charset="0"/>
              </a:rPr>
              <a:t> dans les classes Lapin et Tortue afin d’ajouter les informations spécifiques à la description de l’animal en question. Par exemple, l’appel de </a:t>
            </a:r>
            <a:r>
              <a:rPr lang="fr-FR" sz="2000" dirty="0" err="1">
                <a:latin typeface="Times New Roman" panose="02020603050405020304" pitchFamily="18" charset="0"/>
                <a:cs typeface="Times New Roman" panose="02020603050405020304" pitchFamily="18" charset="0"/>
              </a:rPr>
              <a:t>ToString</a:t>
            </a:r>
            <a:r>
              <a:rPr lang="fr-FR" sz="2000" dirty="0">
                <a:latin typeface="Times New Roman" panose="02020603050405020304" pitchFamily="18" charset="0"/>
                <a:cs typeface="Times New Roman" panose="02020603050405020304" pitchFamily="18" charset="0"/>
              </a:rPr>
              <a:t> sur un objet de type Tortue renvoie une chaîne de la forme « surnom, </a:t>
            </a:r>
            <a:r>
              <a:rPr lang="fr-FR" sz="2000" dirty="0" err="1">
                <a:latin typeface="Times New Roman" panose="02020603050405020304" pitchFamily="18" charset="0"/>
                <a:cs typeface="Times New Roman" panose="02020603050405020304" pitchFamily="18" charset="0"/>
              </a:rPr>
              <a:t>age</a:t>
            </a:r>
            <a:r>
              <a:rPr lang="fr-FR" sz="2000" dirty="0">
                <a:latin typeface="Times New Roman" panose="02020603050405020304" pitchFamily="18" charset="0"/>
                <a:cs typeface="Times New Roman" panose="02020603050405020304" pitchFamily="18" charset="0"/>
              </a:rPr>
              <a:t>, position, épaisseur de la carapace ».</a:t>
            </a:r>
          </a:p>
          <a:p>
            <a:r>
              <a:rPr lang="fr-FR" sz="2000" dirty="0">
                <a:latin typeface="Times New Roman" panose="02020603050405020304" pitchFamily="18" charset="0"/>
                <a:cs typeface="Times New Roman" panose="02020603050405020304" pitchFamily="18" charset="0"/>
              </a:rPr>
              <a:t>4. Redéfinissez la méthode Avancer dans les classes Lapin et Tortue. Dans le cas des lapins la méthode Avancer fait avancer le lapin d’une distance aléatoire entre 0 et 10. La tortue avance toujours de 6 lorsque l’on appelle la méthode Avancer. La méthode d’instance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Next</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maxValue</a:t>
            </a:r>
            <a:r>
              <a:rPr lang="fr-FR" sz="2000" dirty="0">
                <a:latin typeface="Times New Roman" panose="02020603050405020304" pitchFamily="18" charset="0"/>
                <a:cs typeface="Times New Roman" panose="02020603050405020304" pitchFamily="18" charset="0"/>
              </a:rPr>
              <a:t>) de la classe </a:t>
            </a:r>
            <a:r>
              <a:rPr lang="fr-FR" sz="2000" dirty="0" err="1">
                <a:latin typeface="Times New Roman" panose="02020603050405020304" pitchFamily="18" charset="0"/>
                <a:cs typeface="Times New Roman" panose="02020603050405020304" pitchFamily="18" charset="0"/>
              </a:rPr>
              <a:t>Random</a:t>
            </a:r>
            <a:r>
              <a:rPr lang="fr-FR" sz="2000" dirty="0">
                <a:latin typeface="Times New Roman" panose="02020603050405020304" pitchFamily="18" charset="0"/>
                <a:cs typeface="Times New Roman" panose="02020603050405020304" pitchFamily="18" charset="0"/>
              </a:rPr>
              <a:t> génère un nombre (pseudo) aléatoire compris entre 0 (inclus) et </a:t>
            </a:r>
            <a:r>
              <a:rPr lang="fr-FR" sz="2000" dirty="0" err="1">
                <a:latin typeface="Times New Roman" panose="02020603050405020304" pitchFamily="18" charset="0"/>
                <a:cs typeface="Times New Roman" panose="02020603050405020304" pitchFamily="18" charset="0"/>
              </a:rPr>
              <a:t>maxValue</a:t>
            </a:r>
            <a:r>
              <a:rPr lang="fr-FR" sz="2000" dirty="0">
                <a:latin typeface="Times New Roman" panose="02020603050405020304" pitchFamily="18" charset="0"/>
                <a:cs typeface="Times New Roman" panose="02020603050405020304" pitchFamily="18" charset="0"/>
              </a:rPr>
              <a:t> (exclus).</a:t>
            </a:r>
          </a:p>
          <a:p>
            <a:r>
              <a:rPr lang="fr-FR" sz="2000" dirty="0">
                <a:latin typeface="Times New Roman" panose="02020603050405020304" pitchFamily="18" charset="0"/>
                <a:cs typeface="Times New Roman" panose="02020603050405020304" pitchFamily="18" charset="0"/>
              </a:rPr>
              <a:t>5.Réalisez les actions suivantes dans la méthode Main : Créez deux lapins et deux tortues et les ranger dans un tableau d’animaux. Faites avancer chacun des animaux 100 fois. Déterminez quel animal a remporté la course et affichez ses caractéristiques.</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962664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err="1"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TPs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7478970"/>
          </a:xfrm>
          <a:prstGeom prst="rect">
            <a:avLst/>
          </a:prstGeom>
          <a:noFill/>
        </p:spPr>
        <p:txBody>
          <a:bodyPr wrap="square" rtlCol="0">
            <a:spAutoFit/>
          </a:bodyPr>
          <a:lstStyle/>
          <a:p>
            <a:r>
              <a:rPr lang="fr-FR" sz="2000" b="1" dirty="0">
                <a:latin typeface="Times New Roman" panose="02020603050405020304" pitchFamily="18" charset="0"/>
                <a:cs typeface="Times New Roman" panose="02020603050405020304" pitchFamily="18" charset="0"/>
              </a:rPr>
              <a:t>Exercice </a:t>
            </a:r>
            <a:r>
              <a:rPr lang="fr-FR" sz="2000" b="1" dirty="0" smtClean="0">
                <a:latin typeface="Times New Roman" panose="02020603050405020304" pitchFamily="18" charset="0"/>
                <a:cs typeface="Times New Roman" panose="02020603050405020304" pitchFamily="18" charset="0"/>
              </a:rPr>
              <a:t>10 : </a:t>
            </a:r>
            <a:r>
              <a:rPr lang="fr-FR" sz="2000" dirty="0" smtClean="0">
                <a:latin typeface="Times New Roman" panose="02020603050405020304" pitchFamily="18" charset="0"/>
                <a:cs typeface="Times New Roman" panose="02020603050405020304" pitchFamily="18" charset="0"/>
              </a:rPr>
              <a:t>Gestion </a:t>
            </a:r>
            <a:r>
              <a:rPr lang="fr-FR" sz="2000" dirty="0">
                <a:latin typeface="Times New Roman" panose="02020603050405020304" pitchFamily="18" charset="0"/>
                <a:cs typeface="Times New Roman" panose="02020603050405020304" pitchFamily="18" charset="0"/>
              </a:rPr>
              <a:t>d’une </a:t>
            </a:r>
            <a:r>
              <a:rPr lang="fr-FR" sz="2000" dirty="0" smtClean="0">
                <a:latin typeface="Times New Roman" panose="02020603050405020304" pitchFamily="18" charset="0"/>
                <a:cs typeface="Times New Roman" panose="02020603050405020304" pitchFamily="18" charset="0"/>
              </a:rPr>
              <a:t>entreprise</a:t>
            </a:r>
            <a:endParaRPr lang="fr-FR" sz="2000" dirty="0">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Le directeur d'une entreprise de produits chimiques souhaite gérer les salaires de ses employés au moyen d'un programme C#.</a:t>
            </a:r>
          </a:p>
          <a:p>
            <a:r>
              <a:rPr lang="fr-FR" sz="2000" dirty="0">
                <a:latin typeface="Times New Roman" panose="02020603050405020304" pitchFamily="18" charset="0"/>
                <a:cs typeface="Times New Roman" panose="02020603050405020304" pitchFamily="18" charset="0"/>
              </a:rPr>
              <a:t>Un employé est caractérisé par </a:t>
            </a:r>
            <a:r>
              <a:rPr lang="fr-FR" sz="2000" dirty="0" smtClean="0">
                <a:latin typeface="Times New Roman" panose="02020603050405020304" pitchFamily="18" charset="0"/>
                <a:cs typeface="Times New Roman" panose="02020603050405020304" pitchFamily="18" charset="0"/>
              </a:rPr>
              <a:t>: matricule, </a:t>
            </a:r>
            <a:r>
              <a:rPr lang="fr-FR" sz="2000" dirty="0">
                <a:latin typeface="Times New Roman" panose="02020603050405020304" pitchFamily="18" charset="0"/>
                <a:cs typeface="Times New Roman" panose="02020603050405020304" pitchFamily="18" charset="0"/>
              </a:rPr>
              <a:t>n</a:t>
            </a:r>
            <a:r>
              <a:rPr lang="fr-FR" sz="2000" dirty="0" smtClean="0">
                <a:latin typeface="Times New Roman" panose="02020603050405020304" pitchFamily="18" charset="0"/>
                <a:cs typeface="Times New Roman" panose="02020603050405020304" pitchFamily="18" charset="0"/>
              </a:rPr>
              <a:t>om, </a:t>
            </a:r>
            <a:r>
              <a:rPr lang="fr-FR" sz="2000" dirty="0" err="1">
                <a:latin typeface="Times New Roman" panose="02020603050405020304" pitchFamily="18" charset="0"/>
                <a:cs typeface="Times New Roman" panose="02020603050405020304" pitchFamily="18" charset="0"/>
              </a:rPr>
              <a:t>p</a:t>
            </a:r>
            <a:r>
              <a:rPr lang="fr-FR" sz="2000" dirty="0" err="1" smtClean="0">
                <a:latin typeface="Times New Roman" panose="02020603050405020304" pitchFamily="18" charset="0"/>
                <a:cs typeface="Times New Roman" panose="02020603050405020304" pitchFamily="18" charset="0"/>
              </a:rPr>
              <a:t>renom</a:t>
            </a:r>
            <a:r>
              <a:rPr lang="fr-FR" sz="2000" dirty="0" smtClean="0">
                <a:latin typeface="Times New Roman" panose="02020603050405020304" pitchFamily="18" charset="0"/>
                <a:cs typeface="Times New Roman" panose="02020603050405020304" pitchFamily="18" charset="0"/>
              </a:rPr>
              <a:t>, date </a:t>
            </a:r>
            <a:r>
              <a:rPr lang="fr-FR" sz="2000" dirty="0" err="1" smtClean="0">
                <a:latin typeface="Times New Roman" panose="02020603050405020304" pitchFamily="18" charset="0"/>
                <a:cs typeface="Times New Roman" panose="02020603050405020304" pitchFamily="18" charset="0"/>
              </a:rPr>
              <a:t>naissance,date</a:t>
            </a:r>
            <a:r>
              <a:rPr lang="fr-FR" sz="2000" dirty="0" smtClean="0">
                <a:latin typeface="Times New Roman" panose="02020603050405020304" pitchFamily="18" charset="0"/>
                <a:cs typeface="Times New Roman" panose="02020603050405020304" pitchFamily="18" charset="0"/>
              </a:rPr>
              <a:t> embauche.</a:t>
            </a:r>
            <a:endParaRPr lang="fr-FR" sz="2000" dirty="0">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Le calcul du salaire mensuel dépend du type de l'employé. On distingue les types d'employés suivants :</a:t>
            </a:r>
          </a:p>
          <a:p>
            <a:pPr marL="342900" indent="-342900">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Vendeur </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leur </a:t>
            </a:r>
            <a:r>
              <a:rPr lang="fr-FR" sz="2000" dirty="0">
                <a:latin typeface="Times New Roman" panose="02020603050405020304" pitchFamily="18" charset="0"/>
                <a:cs typeface="Times New Roman" panose="02020603050405020304" pitchFamily="18" charset="0"/>
              </a:rPr>
              <a:t>salaire mensuel est le 20 % du chiffre d'affaire qu'ils réalisent mensuellement, plus 400 Francs. </a:t>
            </a:r>
          </a:p>
          <a:p>
            <a:pPr marL="342900" indent="-342900">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Représentant </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leur </a:t>
            </a:r>
            <a:r>
              <a:rPr lang="fr-FR" sz="2000" dirty="0">
                <a:latin typeface="Times New Roman" panose="02020603050405020304" pitchFamily="18" charset="0"/>
                <a:cs typeface="Times New Roman" panose="02020603050405020304" pitchFamily="18" charset="0"/>
              </a:rPr>
              <a:t>salaire mensuel est également le 20 % du chiffre d'affaire qu'ils réalisent mensuellement, plus 800 Francs. </a:t>
            </a:r>
          </a:p>
          <a:p>
            <a:pPr marL="342900" indent="-342900">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Technicien </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leur </a:t>
            </a:r>
            <a:r>
              <a:rPr lang="fr-FR" sz="2000" dirty="0">
                <a:latin typeface="Times New Roman" panose="02020603050405020304" pitchFamily="18" charset="0"/>
                <a:cs typeface="Times New Roman" panose="02020603050405020304" pitchFamily="18" charset="0"/>
              </a:rPr>
              <a:t>salaire vaut le nombre d'unités produites mensuellement multipliées par 5. </a:t>
            </a:r>
          </a:p>
          <a:p>
            <a:r>
              <a:rPr lang="fr-FR" sz="2000" b="1" dirty="0">
                <a:latin typeface="Times New Roman" panose="02020603050405020304" pitchFamily="18" charset="0"/>
                <a:cs typeface="Times New Roman" panose="02020603050405020304" pitchFamily="18" charset="0"/>
              </a:rPr>
              <a:t>Q1.  </a:t>
            </a:r>
            <a:r>
              <a:rPr lang="fr-FR" sz="2000" dirty="0">
                <a:latin typeface="Times New Roman" panose="02020603050405020304" pitchFamily="18" charset="0"/>
                <a:cs typeface="Times New Roman" panose="02020603050405020304" pitchFamily="18" charset="0"/>
              </a:rPr>
              <a:t>Réaliser l’ensemble des classes précédentes en choisissant pour chacun des attributs le type convenable. Les attributs sont tous privés d’où la nécessité d’implémenter des propriétés pour chacun des attributs</a:t>
            </a:r>
          </a:p>
          <a:p>
            <a:r>
              <a:rPr lang="fr-FR" sz="2000" b="1" dirty="0">
                <a:latin typeface="Times New Roman" panose="02020603050405020304" pitchFamily="18" charset="0"/>
                <a:cs typeface="Times New Roman" panose="02020603050405020304" pitchFamily="18" charset="0"/>
              </a:rPr>
              <a:t>Q2. </a:t>
            </a:r>
            <a:r>
              <a:rPr lang="fr-FR" sz="2000" dirty="0">
                <a:latin typeface="Times New Roman" panose="02020603050405020304" pitchFamily="18" charset="0"/>
                <a:cs typeface="Times New Roman" panose="02020603050405020304" pitchFamily="18" charset="0"/>
              </a:rPr>
              <a:t>Nous allons réaliser une interface </a:t>
            </a:r>
            <a:r>
              <a:rPr lang="fr-FR" sz="2000" dirty="0" err="1">
                <a:latin typeface="Times New Roman" panose="02020603050405020304" pitchFamily="18" charset="0"/>
                <a:cs typeface="Times New Roman" panose="02020603050405020304" pitchFamily="18" charset="0"/>
              </a:rPr>
              <a:t>IEntreprise</a:t>
            </a:r>
            <a:r>
              <a:rPr lang="fr-FR" sz="2000" dirty="0">
                <a:latin typeface="Times New Roman" panose="02020603050405020304" pitchFamily="18" charset="0"/>
                <a:cs typeface="Times New Roman" panose="02020603050405020304" pitchFamily="18" charset="0"/>
              </a:rPr>
              <a:t> comportant les différentes méthodes à implémenter :</a:t>
            </a:r>
          </a:p>
          <a:p>
            <a:r>
              <a:rPr lang="fr-FR" sz="2000" dirty="0">
                <a:latin typeface="Times New Roman" panose="02020603050405020304" pitchFamily="18" charset="0"/>
                <a:cs typeface="Times New Roman" panose="02020603050405020304" pitchFamily="18" charset="0"/>
              </a:rPr>
              <a:t>1</a:t>
            </a:r>
            <a:r>
              <a:rPr lang="fr-FR" sz="2000" dirty="0" smtClean="0">
                <a:latin typeface="Times New Roman" panose="02020603050405020304" pitchFamily="18" charset="0"/>
                <a:cs typeface="Times New Roman" panose="02020603050405020304" pitchFamily="18" charset="0"/>
              </a:rPr>
              <a:t>. Int </a:t>
            </a:r>
            <a:r>
              <a:rPr lang="fr-FR" sz="2000" dirty="0" err="1">
                <a:latin typeface="Times New Roman" panose="02020603050405020304" pitchFamily="18" charset="0"/>
                <a:cs typeface="Times New Roman" panose="02020603050405020304" pitchFamily="18" charset="0"/>
              </a:rPr>
              <a:t>CalculerAge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DateTime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dateCourante</a:t>
            </a:r>
            <a:r>
              <a:rPr lang="fr-FR" sz="2000" dirty="0">
                <a:latin typeface="Times New Roman" panose="02020603050405020304" pitchFamily="18" charset="0"/>
                <a:cs typeface="Times New Roman" panose="02020603050405020304" pitchFamily="18" charset="0"/>
              </a:rPr>
              <a:t>) : cette méthode prend en paramètre la date courante à partir de laquelle </a:t>
            </a:r>
            <a:r>
              <a:rPr lang="fr-FR" sz="2000" dirty="0" err="1">
                <a:latin typeface="Times New Roman" panose="02020603050405020304" pitchFamily="18" charset="0"/>
                <a:cs typeface="Times New Roman" panose="02020603050405020304" pitchFamily="18" charset="0"/>
              </a:rPr>
              <a:t>l’age</a:t>
            </a:r>
            <a:r>
              <a:rPr lang="fr-FR" sz="2000" dirty="0">
                <a:latin typeface="Times New Roman" panose="02020603050405020304" pitchFamily="18" charset="0"/>
                <a:cs typeface="Times New Roman" panose="02020603050405020304" pitchFamily="18" charset="0"/>
              </a:rPr>
              <a:t> sera calculé et retourne </a:t>
            </a:r>
            <a:r>
              <a:rPr lang="fr-FR" sz="2000" dirty="0" err="1">
                <a:latin typeface="Times New Roman" panose="02020603050405020304" pitchFamily="18" charset="0"/>
                <a:cs typeface="Times New Roman" panose="02020603050405020304" pitchFamily="18" charset="0"/>
              </a:rPr>
              <a:t>l’age</a:t>
            </a:r>
            <a:r>
              <a:rPr lang="fr-FR" sz="2000" dirty="0">
                <a:latin typeface="Times New Roman" panose="02020603050405020304" pitchFamily="18" charset="0"/>
                <a:cs typeface="Times New Roman" panose="02020603050405020304" pitchFamily="18" charset="0"/>
              </a:rPr>
              <a:t> de l’employé , cette méthode sera implémentée par la classe </a:t>
            </a:r>
            <a:r>
              <a:rPr lang="fr-FR" sz="2000" dirty="0" err="1">
                <a:latin typeface="Times New Roman" panose="02020603050405020304" pitchFamily="18" charset="0"/>
                <a:cs typeface="Times New Roman" panose="02020603050405020304" pitchFamily="18" charset="0"/>
              </a:rPr>
              <a:t>Employe</a:t>
            </a:r>
            <a:endParaRPr lang="fr-FR" sz="2000" dirty="0">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2</a:t>
            </a:r>
            <a:r>
              <a:rPr lang="fr-FR" sz="2000" dirty="0" smtClean="0">
                <a:latin typeface="Times New Roman" panose="02020603050405020304" pitchFamily="18" charset="0"/>
                <a:cs typeface="Times New Roman" panose="02020603050405020304" pitchFamily="18" charset="0"/>
              </a:rPr>
              <a:t>. Double </a:t>
            </a:r>
            <a:r>
              <a:rPr lang="fr-FR" sz="2000" dirty="0" err="1" smtClean="0">
                <a:latin typeface="Times New Roman" panose="02020603050405020304" pitchFamily="18" charset="0"/>
                <a:cs typeface="Times New Roman" panose="02020603050405020304" pitchFamily="18" charset="0"/>
              </a:rPr>
              <a:t>calculTotalSalaire</a:t>
            </a:r>
            <a:r>
              <a:rPr lang="fr-FR" sz="20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 cette méthode donnera en retour le salaire total  d’un employé, cette méthode sera implémenté par les classes dérivés de la classe </a:t>
            </a:r>
            <a:r>
              <a:rPr lang="fr-FR" sz="2000" dirty="0" err="1">
                <a:latin typeface="Times New Roman" panose="02020603050405020304" pitchFamily="18" charset="0"/>
                <a:cs typeface="Times New Roman" panose="02020603050405020304" pitchFamily="18" charset="0"/>
              </a:rPr>
              <a:t>Employe</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3. String </a:t>
            </a:r>
            <a:r>
              <a:rPr lang="fr-FR" sz="2000" dirty="0" err="1" smtClean="0">
                <a:latin typeface="Times New Roman" panose="02020603050405020304" pitchFamily="18" charset="0"/>
                <a:cs typeface="Times New Roman" panose="02020603050405020304" pitchFamily="18" charset="0"/>
              </a:rPr>
              <a:t>ToString</a:t>
            </a:r>
            <a:r>
              <a:rPr lang="fr-FR" sz="2000" dirty="0">
                <a:latin typeface="Times New Roman" panose="02020603050405020304" pitchFamily="18" charset="0"/>
                <a:cs typeface="Times New Roman" panose="02020603050405020304" pitchFamily="18" charset="0"/>
              </a:rPr>
              <a:t>() : cette méthode doit retourner le nom et prénom séparé par une tabulation et concaténé avec  le matricule séparé par ’:’ , cette méthode sera implémentée par la classe </a:t>
            </a:r>
            <a:r>
              <a:rPr lang="fr-FR" sz="2000" dirty="0" err="1" smtClean="0">
                <a:latin typeface="Times New Roman" panose="02020603050405020304" pitchFamily="18" charset="0"/>
                <a:cs typeface="Times New Roman" panose="02020603050405020304" pitchFamily="18" charset="0"/>
              </a:rPr>
              <a:t>Employe</a:t>
            </a:r>
            <a:endParaRPr lang="fr-FR" sz="2000" dirty="0" smtClean="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Réaliser </a:t>
            </a:r>
            <a:r>
              <a:rPr lang="fr-FR" sz="2000" dirty="0">
                <a:latin typeface="Times New Roman" panose="02020603050405020304" pitchFamily="18" charset="0"/>
                <a:cs typeface="Times New Roman" panose="02020603050405020304" pitchFamily="18" charset="0"/>
              </a:rPr>
              <a:t>l’interface </a:t>
            </a:r>
            <a:r>
              <a:rPr lang="fr-FR" sz="2000" dirty="0" err="1">
                <a:latin typeface="Times New Roman" panose="02020603050405020304" pitchFamily="18" charset="0"/>
                <a:cs typeface="Times New Roman" panose="02020603050405020304" pitchFamily="18" charset="0"/>
              </a:rPr>
              <a:t>IEntreprise</a:t>
            </a:r>
            <a:r>
              <a:rPr lang="fr-FR" sz="2000" dirty="0">
                <a:latin typeface="Times New Roman" panose="02020603050405020304" pitchFamily="18" charset="0"/>
                <a:cs typeface="Times New Roman" panose="02020603050405020304" pitchFamily="18" charset="0"/>
              </a:rPr>
              <a:t>, et implémenter ces méthodes dans les classes correspondantes</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b="1" dirty="0">
                <a:latin typeface="Times New Roman" panose="02020603050405020304" pitchFamily="18" charset="0"/>
                <a:cs typeface="Times New Roman" panose="02020603050405020304" pitchFamily="18" charset="0"/>
              </a:rPr>
              <a:t>Q3. </a:t>
            </a:r>
            <a:r>
              <a:rPr lang="fr-FR" sz="2000" dirty="0">
                <a:latin typeface="Times New Roman" panose="02020603050405020304" pitchFamily="18" charset="0"/>
                <a:cs typeface="Times New Roman" panose="02020603050405020304" pitchFamily="18" charset="0"/>
              </a:rPr>
              <a:t>Réaliser un menu qui permet de calculer </a:t>
            </a:r>
            <a:r>
              <a:rPr lang="fr-FR" sz="2000" dirty="0" err="1">
                <a:latin typeface="Times New Roman" panose="02020603050405020304" pitchFamily="18" charset="0"/>
                <a:cs typeface="Times New Roman" panose="02020603050405020304" pitchFamily="18" charset="0"/>
              </a:rPr>
              <a:t>l’age</a:t>
            </a:r>
            <a:r>
              <a:rPr lang="fr-FR" sz="2000" dirty="0">
                <a:latin typeface="Times New Roman" panose="02020603050405020304" pitchFamily="18" charset="0"/>
                <a:cs typeface="Times New Roman" panose="02020603050405020304" pitchFamily="18" charset="0"/>
              </a:rPr>
              <a:t> et le salaire total d’un employé et d’afficher un message indiquant le nom, le prénom et le matricule de cet employé.</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0763522"/>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3785652"/>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Les collections</a:t>
            </a:r>
            <a:endParaRPr lang="fr-FR" sz="2000" dirty="0" smtClean="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Les </a:t>
            </a:r>
            <a:r>
              <a:rPr lang="fr-FR" sz="2000" dirty="0">
                <a:latin typeface="Times New Roman" panose="02020603050405020304" pitchFamily="18" charset="0"/>
                <a:cs typeface="Times New Roman" panose="02020603050405020304" pitchFamily="18" charset="0"/>
              </a:rPr>
              <a:t>collections sont des classes spécialisées pour le stockage et la récupération de données. Ces classes prennent en charge les piles, les files, les listes et les tables de hachage. La plupart des classes de collection implémentent les mêmes interfaces.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Les classes de collection servent à diverses tâches, telles que l’allocation dynamique de mémoire et l’accès à une liste d’éléments à partir d’un index, etc. Ces classes créent des collections d’objets de la classe Object, qui est la classe de base de tous les types de données en C#.</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.NET prend en charge deux types de collections, les collections génériques et les collections non génériques. La figure suivant représente la correspondance entre ces classes.</a:t>
            </a: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1438" y="4698000"/>
            <a:ext cx="4197450" cy="2160000"/>
          </a:xfrm>
          <a:prstGeom prst="rect">
            <a:avLst/>
          </a:prstGeom>
        </p:spPr>
      </p:pic>
    </p:spTree>
    <p:extLst>
      <p:ext uri="{BB962C8B-B14F-4D97-AF65-F5344CB8AC3E}">
        <p14:creationId xmlns:p14="http://schemas.microsoft.com/office/powerpoint/2010/main" val="258691521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3170099"/>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Tableaux </a:t>
            </a:r>
            <a:r>
              <a:rPr lang="fr-FR" sz="2000" b="1" dirty="0">
                <a:solidFill>
                  <a:srgbClr val="C00000"/>
                </a:solidFill>
                <a:latin typeface="Times New Roman" panose="02020603050405020304" pitchFamily="18" charset="0"/>
                <a:cs typeface="Times New Roman" panose="02020603050405020304" pitchFamily="18" charset="0"/>
              </a:rPr>
              <a:t>statiques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Les tableaux contiennent des éléments, chacun d’eux étant repéré par son indice. En C#, il existe une manière très simple de créer des tableaux « classiques », sans faire référence aux classes Collections.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//Déclaration et initialisation d’un tableau statique de type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et </a:t>
            </a:r>
            <a:r>
              <a:rPr lang="fr-FR" sz="2000" dirty="0" smtClean="0">
                <a:latin typeface="Times New Roman" panose="02020603050405020304" pitchFamily="18" charset="0"/>
                <a:cs typeface="Times New Roman" panose="02020603050405020304" pitchFamily="18" charset="0"/>
              </a:rPr>
              <a:t>de dimension </a:t>
            </a:r>
            <a:r>
              <a:rPr lang="fr-FR" sz="2000" dirty="0">
                <a:latin typeface="Times New Roman" panose="02020603050405020304" pitchFamily="18" charset="0"/>
                <a:cs typeface="Times New Roman" panose="02020603050405020304" pitchFamily="18" charset="0"/>
              </a:rPr>
              <a:t>20</a:t>
            </a:r>
          </a:p>
          <a:p>
            <a:pPr lvl="2" algn="just"/>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aTab</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[20] ;</a:t>
            </a:r>
          </a:p>
          <a:p>
            <a:pPr lvl="2" algn="just"/>
            <a:r>
              <a:rPr lang="fr-FR" sz="2000" dirty="0">
                <a:latin typeface="Times New Roman" panose="02020603050405020304" pitchFamily="18" charset="0"/>
                <a:cs typeface="Times New Roman" panose="02020603050405020304" pitchFamily="18" charset="0"/>
              </a:rPr>
              <a:t>for(</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i = 0 ; i&lt;20 ; i++){</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aTab</a:t>
            </a:r>
            <a:r>
              <a:rPr lang="fr-FR" sz="2000" dirty="0">
                <a:latin typeface="Times New Roman" panose="02020603050405020304" pitchFamily="18" charset="0"/>
                <a:cs typeface="Times New Roman" panose="02020603050405020304" pitchFamily="18" charset="0"/>
              </a:rPr>
              <a:t>[i] = i+55;</a:t>
            </a:r>
          </a:p>
          <a:p>
            <a:pPr lvl="2" algn="just"/>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5572779"/>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5016758"/>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Tableaux </a:t>
            </a:r>
            <a:r>
              <a:rPr lang="fr-FR" sz="2000" b="1" dirty="0">
                <a:solidFill>
                  <a:srgbClr val="C00000"/>
                </a:solidFill>
                <a:latin typeface="Times New Roman" panose="02020603050405020304" pitchFamily="18" charset="0"/>
                <a:cs typeface="Times New Roman" panose="02020603050405020304" pitchFamily="18" charset="0"/>
              </a:rPr>
              <a:t>statiques</a:t>
            </a:r>
          </a:p>
          <a:p>
            <a:pPr lvl="1" algn="just"/>
            <a:endParaRPr lang="fr-FR"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a:t>
            </a:r>
            <a:r>
              <a:rPr lang="fr-FR" sz="2000" dirty="0">
                <a:latin typeface="Times New Roman" panose="02020603050405020304" pitchFamily="18" charset="0"/>
                <a:cs typeface="Times New Roman" panose="02020603050405020304" pitchFamily="18" charset="0"/>
              </a:rPr>
              <a:t>Déclaration et initialisation d’un tableau statique de type string </a:t>
            </a:r>
            <a:r>
              <a:rPr lang="fr-FR" sz="2000" dirty="0" smtClean="0">
                <a:latin typeface="Times New Roman" panose="02020603050405020304" pitchFamily="18" charset="0"/>
                <a:cs typeface="Times New Roman" panose="02020603050405020304" pitchFamily="18" charset="0"/>
              </a:rPr>
              <a:t>et de </a:t>
            </a:r>
            <a:r>
              <a:rPr lang="fr-FR" sz="2000" dirty="0">
                <a:latin typeface="Times New Roman" panose="02020603050405020304" pitchFamily="18" charset="0"/>
                <a:cs typeface="Times New Roman" panose="02020603050405020304" pitchFamily="18" charset="0"/>
              </a:rPr>
              <a:t>dimension 5</a:t>
            </a:r>
          </a:p>
          <a:p>
            <a:pPr lvl="2" algn="just"/>
            <a:r>
              <a:rPr lang="fr-FR" sz="2000" dirty="0">
                <a:latin typeface="Times New Roman" panose="02020603050405020304" pitchFamily="18" charset="0"/>
                <a:cs typeface="Times New Roman" panose="02020603050405020304" pitchFamily="18" charset="0"/>
              </a:rPr>
              <a:t>string[] </a:t>
            </a:r>
            <a:r>
              <a:rPr lang="fr-FR" sz="2000" dirty="0" err="1">
                <a:latin typeface="Times New Roman" panose="02020603050405020304" pitchFamily="18" charset="0"/>
                <a:cs typeface="Times New Roman" panose="02020603050405020304" pitchFamily="18" charset="0"/>
              </a:rPr>
              <a:t>aStr</a:t>
            </a:r>
            <a:r>
              <a:rPr lang="fr-FR" sz="2000" dirty="0">
                <a:latin typeface="Times New Roman" panose="02020603050405020304" pitchFamily="18" charset="0"/>
                <a:cs typeface="Times New Roman" panose="02020603050405020304" pitchFamily="18" charset="0"/>
              </a:rPr>
              <a:t> = new string[3] ;</a:t>
            </a:r>
          </a:p>
          <a:p>
            <a:pPr lvl="2" algn="just"/>
            <a:r>
              <a:rPr lang="fr-FR" sz="2000" dirty="0" err="1">
                <a:latin typeface="Times New Roman" panose="02020603050405020304" pitchFamily="18" charset="0"/>
                <a:cs typeface="Times New Roman" panose="02020603050405020304" pitchFamily="18" charset="0"/>
              </a:rPr>
              <a:t>aStr</a:t>
            </a:r>
            <a:r>
              <a:rPr lang="fr-FR" sz="2000" dirty="0">
                <a:latin typeface="Times New Roman" panose="02020603050405020304" pitchFamily="18" charset="0"/>
                <a:cs typeface="Times New Roman" panose="02020603050405020304" pitchFamily="18" charset="0"/>
              </a:rPr>
              <a:t>[0] = "Ahmed";</a:t>
            </a:r>
          </a:p>
          <a:p>
            <a:pPr lvl="2" algn="just"/>
            <a:r>
              <a:rPr lang="fr-FR" sz="2000" dirty="0" err="1">
                <a:latin typeface="Times New Roman" panose="02020603050405020304" pitchFamily="18" charset="0"/>
                <a:cs typeface="Times New Roman" panose="02020603050405020304" pitchFamily="18" charset="0"/>
              </a:rPr>
              <a:t>aStr</a:t>
            </a:r>
            <a:r>
              <a:rPr lang="fr-FR" sz="2000" dirty="0">
                <a:latin typeface="Times New Roman" panose="02020603050405020304" pitchFamily="18" charset="0"/>
                <a:cs typeface="Times New Roman" panose="02020603050405020304" pitchFamily="18" charset="0"/>
              </a:rPr>
              <a:t>[1] = "Farid";</a:t>
            </a:r>
          </a:p>
          <a:p>
            <a:pPr lvl="2" algn="just"/>
            <a:r>
              <a:rPr lang="fr-FR" sz="2000" dirty="0" err="1">
                <a:latin typeface="Times New Roman" panose="02020603050405020304" pitchFamily="18" charset="0"/>
                <a:cs typeface="Times New Roman" panose="02020603050405020304" pitchFamily="18" charset="0"/>
              </a:rPr>
              <a:t>aStr</a:t>
            </a:r>
            <a:r>
              <a:rPr lang="fr-FR" sz="2000" dirty="0">
                <a:latin typeface="Times New Roman" panose="02020603050405020304" pitchFamily="18" charset="0"/>
                <a:cs typeface="Times New Roman" panose="02020603050405020304" pitchFamily="18" charset="0"/>
              </a:rPr>
              <a:t>[2] = "Ali";</a:t>
            </a:r>
          </a:p>
          <a:p>
            <a:pPr lvl="2" algn="just"/>
            <a:r>
              <a:rPr lang="fr-FR" sz="2000" dirty="0" err="1">
                <a:latin typeface="Times New Roman" panose="02020603050405020304" pitchFamily="18" charset="0"/>
                <a:cs typeface="Times New Roman" panose="02020603050405020304" pitchFamily="18" charset="0"/>
              </a:rPr>
              <a:t>aStr</a:t>
            </a:r>
            <a:r>
              <a:rPr lang="fr-FR" sz="2000" dirty="0">
                <a:latin typeface="Times New Roman" panose="02020603050405020304" pitchFamily="18" charset="0"/>
                <a:cs typeface="Times New Roman" panose="02020603050405020304" pitchFamily="18" charset="0"/>
              </a:rPr>
              <a:t>[3] = "Ibrahim";</a:t>
            </a:r>
          </a:p>
          <a:p>
            <a:pPr lvl="2" algn="just"/>
            <a:r>
              <a:rPr lang="fr-FR" sz="2000" dirty="0" err="1">
                <a:latin typeface="Times New Roman" panose="02020603050405020304" pitchFamily="18" charset="0"/>
                <a:cs typeface="Times New Roman" panose="02020603050405020304" pitchFamily="18" charset="0"/>
              </a:rPr>
              <a:t>aStr</a:t>
            </a:r>
            <a:r>
              <a:rPr lang="fr-FR" sz="2000" dirty="0">
                <a:latin typeface="Times New Roman" panose="02020603050405020304" pitchFamily="18" charset="0"/>
                <a:cs typeface="Times New Roman" panose="02020603050405020304" pitchFamily="18" charset="0"/>
              </a:rPr>
              <a:t>[4] = "Mohamed";</a:t>
            </a:r>
          </a:p>
          <a:p>
            <a:pPr algn="just"/>
            <a:r>
              <a:rPr lang="fr-FR" sz="2000" dirty="0">
                <a:latin typeface="Times New Roman" panose="02020603050405020304" pitchFamily="18" charset="0"/>
                <a:cs typeface="Times New Roman" panose="02020603050405020304" pitchFamily="18" charset="0"/>
              </a:rPr>
              <a:t>//Déclaration d’un tableau statique de type Salarie et de dimension 5</a:t>
            </a:r>
          </a:p>
          <a:p>
            <a:pPr lvl="2" algn="just"/>
            <a:r>
              <a:rPr lang="fr-FR" sz="2000" dirty="0">
                <a:latin typeface="Times New Roman" panose="02020603050405020304" pitchFamily="18" charset="0"/>
                <a:cs typeface="Times New Roman" panose="02020603050405020304" pitchFamily="18" charset="0"/>
              </a:rPr>
              <a:t>Salarie[] sal = new Salarie[5];</a:t>
            </a:r>
          </a:p>
          <a:p>
            <a:pPr lvl="2" algn="just"/>
            <a:r>
              <a:rPr lang="fr-FR" sz="2000" dirty="0">
                <a:latin typeface="Times New Roman" panose="02020603050405020304" pitchFamily="18" charset="0"/>
                <a:cs typeface="Times New Roman" panose="02020603050405020304" pitchFamily="18" charset="0"/>
              </a:rPr>
              <a:t>Salarie[0] = new Salarie(16,4,2, "toto",18765);</a:t>
            </a:r>
          </a:p>
          <a:p>
            <a:pPr lvl="2" algn="just"/>
            <a:r>
              <a:rPr lang="fr-FR" sz="2000" dirty="0">
                <a:latin typeface="Times New Roman" panose="02020603050405020304" pitchFamily="18" charset="0"/>
                <a:cs typeface="Times New Roman" panose="02020603050405020304" pitchFamily="18" charset="0"/>
              </a:rPr>
              <a:t>Salarie[1] = new Salarie(8,5,2, "Ali ",6543);</a:t>
            </a:r>
          </a:p>
          <a:p>
            <a:pPr lvl="2" algn="just"/>
            <a:r>
              <a:rPr lang="fr-FR" sz="2000" dirty="0">
                <a:latin typeface="Times New Roman" panose="02020603050405020304" pitchFamily="18" charset="0"/>
                <a:cs typeface="Times New Roman" panose="02020603050405020304" pitchFamily="18" charset="0"/>
              </a:rPr>
              <a:t>Salarie[2] = new Salarie(32,4,2, "Farid ",20765);</a:t>
            </a:r>
          </a:p>
          <a:p>
            <a:pPr lvl="2" algn="just"/>
            <a:r>
              <a:rPr lang="fr-FR" sz="2000" dirty="0">
                <a:latin typeface="Times New Roman" panose="02020603050405020304" pitchFamily="18" charset="0"/>
                <a:cs typeface="Times New Roman" panose="02020603050405020304" pitchFamily="18" charset="0"/>
              </a:rPr>
              <a:t>Salarie[3] = new Salarie(20,5,20, "Ahmed ",21765);</a:t>
            </a:r>
          </a:p>
          <a:p>
            <a:pPr lvl="2" algn="just"/>
            <a:r>
              <a:rPr lang="fr-FR" sz="2000" dirty="0">
                <a:latin typeface="Times New Roman" panose="02020603050405020304" pitchFamily="18" charset="0"/>
                <a:cs typeface="Times New Roman" panose="02020603050405020304" pitchFamily="18" charset="0"/>
              </a:rPr>
              <a:t>Salarie[4] = new Salarie(9,65,2, "Mohamed ",30765</a:t>
            </a:r>
            <a:r>
              <a:rPr lang="fr-FR" sz="20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9165979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5324535"/>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Tableaux </a:t>
            </a:r>
            <a:r>
              <a:rPr lang="fr-FR" sz="2000" b="1" dirty="0">
                <a:solidFill>
                  <a:srgbClr val="C00000"/>
                </a:solidFill>
                <a:latin typeface="Times New Roman" panose="02020603050405020304" pitchFamily="18" charset="0"/>
                <a:cs typeface="Times New Roman" panose="02020603050405020304" pitchFamily="18" charset="0"/>
              </a:rPr>
              <a:t>statiques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Les tableaux contiennent des éléments, chacun d’eux étant repéré par son indice. En C#, il existe une manière très simple de créer des tableaux « classiques », sans faire référence aux classes Collections.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 problème de ce type de tableau réside en deux points </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Tous </a:t>
            </a:r>
            <a:r>
              <a:rPr lang="fr-FR" sz="2000" dirty="0">
                <a:latin typeface="Times New Roman" panose="02020603050405020304" pitchFamily="18" charset="0"/>
                <a:cs typeface="Times New Roman" panose="02020603050405020304" pitchFamily="18" charset="0"/>
              </a:rPr>
              <a:t>les éléments du tableau ont le même type.</a:t>
            </a:r>
          </a:p>
          <a:p>
            <a:pPr marL="342900" indent="-342900" algn="just">
              <a:buFont typeface="Wingdings" panose="05000000000000000000" pitchFamily="2" charset="2"/>
              <a:buChar char="Ø"/>
            </a:pPr>
            <a:r>
              <a:rPr lang="fr-FR" sz="2000" dirty="0" smtClean="0">
                <a:latin typeface="Times New Roman" panose="02020603050405020304" pitchFamily="18" charset="0"/>
                <a:cs typeface="Times New Roman" panose="02020603050405020304" pitchFamily="18" charset="0"/>
              </a:rPr>
              <a:t>Le </a:t>
            </a:r>
            <a:r>
              <a:rPr lang="fr-FR" sz="2000" dirty="0">
                <a:latin typeface="Times New Roman" panose="02020603050405020304" pitchFamily="18" charset="0"/>
                <a:cs typeface="Times New Roman" panose="02020603050405020304" pitchFamily="18" charset="0"/>
              </a:rPr>
              <a:t>nombre des éléments du tableau est connu au moment de la déclaration.</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Programme </a:t>
            </a:r>
            <a:r>
              <a:rPr lang="fr-FR" sz="2000" dirty="0">
                <a:latin typeface="Times New Roman" panose="02020603050405020304" pitchFamily="18" charset="0"/>
                <a:cs typeface="Times New Roman" panose="02020603050405020304" pitchFamily="18" charset="0"/>
              </a:rPr>
              <a:t>qui affiche tous les éléments d’un tableau statique nommé </a:t>
            </a:r>
            <a:r>
              <a:rPr lang="fr-FR" sz="2000" dirty="0" err="1">
                <a:latin typeface="Times New Roman" panose="02020603050405020304" pitchFamily="18" charset="0"/>
                <a:cs typeface="Times New Roman" panose="02020603050405020304" pitchFamily="18" charset="0"/>
              </a:rPr>
              <a:t>aTab</a:t>
            </a:r>
            <a:r>
              <a:rPr lang="fr-FR" sz="2000" dirty="0">
                <a:latin typeface="Times New Roman" panose="02020603050405020304" pitchFamily="18" charset="0"/>
                <a:cs typeface="Times New Roman" panose="02020603050405020304" pitchFamily="18" charset="0"/>
              </a:rPr>
              <a:t> :</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foreach</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Val in </a:t>
            </a:r>
            <a:r>
              <a:rPr lang="fr-FR" sz="2000" dirty="0" err="1">
                <a:latin typeface="Times New Roman" panose="02020603050405020304" pitchFamily="18" charset="0"/>
                <a:cs typeface="Times New Roman" panose="02020603050405020304" pitchFamily="18" charset="0"/>
              </a:rPr>
              <a:t>aTab</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(Val);</a:t>
            </a:r>
          </a:p>
          <a:p>
            <a:pPr algn="just"/>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Ce programme stocke à chaque fois la valeur d’un élément du tableau </a:t>
            </a:r>
            <a:r>
              <a:rPr lang="fr-FR" sz="2000" dirty="0" err="1">
                <a:latin typeface="Times New Roman" panose="02020603050405020304" pitchFamily="18" charset="0"/>
                <a:cs typeface="Times New Roman" panose="02020603050405020304" pitchFamily="18" charset="0"/>
              </a:rPr>
              <a:t>aTab</a:t>
            </a:r>
            <a:r>
              <a:rPr lang="fr-FR" sz="2000" dirty="0">
                <a:latin typeface="Times New Roman" panose="02020603050405020304" pitchFamily="18" charset="0"/>
                <a:cs typeface="Times New Roman" panose="02020603050405020304" pitchFamily="18" charset="0"/>
              </a:rPr>
              <a:t> dans la variable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Val , puis</a:t>
            </a:r>
          </a:p>
          <a:p>
            <a:pPr algn="just"/>
            <a:r>
              <a:rPr lang="fr-FR" sz="2000" dirty="0">
                <a:latin typeface="Times New Roman" panose="02020603050405020304" pitchFamily="18" charset="0"/>
                <a:cs typeface="Times New Roman" panose="02020603050405020304" pitchFamily="18" charset="0"/>
              </a:rPr>
              <a:t>affiche cette dernière.</a:t>
            </a:r>
          </a:p>
        </p:txBody>
      </p:sp>
    </p:spTree>
    <p:extLst>
      <p:ext uri="{BB962C8B-B14F-4D97-AF65-F5344CB8AC3E}">
        <p14:creationId xmlns:p14="http://schemas.microsoft.com/office/powerpoint/2010/main" val="3850863546"/>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2246769"/>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Les </a:t>
            </a:r>
            <a:r>
              <a:rPr lang="fr-FR" sz="2000" b="1" dirty="0">
                <a:solidFill>
                  <a:srgbClr val="C00000"/>
                </a:solidFill>
                <a:latin typeface="Times New Roman" panose="02020603050405020304" pitchFamily="18" charset="0"/>
                <a:cs typeface="Times New Roman" panose="02020603050405020304" pitchFamily="18" charset="0"/>
              </a:rPr>
              <a:t>collections non génériques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Dans les collections non génériques, chaque élément peut représenter une valeur d’un type différent. La taille d’une collection n’est pas fixe, et les éléments peuvent être ajoutés ou supprimés au moment de l’exécution. Avant d’utiliser les collections non génériques, vous devez inclure l’espace de nom suivant :</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err="1" smtClean="0">
                <a:latin typeface="Times New Roman" panose="02020603050405020304" pitchFamily="18" charset="0"/>
                <a:cs typeface="Times New Roman" panose="02020603050405020304" pitchFamily="18" charset="0"/>
              </a:rPr>
              <a:t>using</a:t>
            </a:r>
            <a:r>
              <a:rPr lang="fr-FR" sz="2000" dirty="0" smtClean="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System.Collections</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9360652"/>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4708981"/>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Tableaux </a:t>
            </a:r>
            <a:r>
              <a:rPr lang="fr-FR" sz="2000" b="1" dirty="0" smtClean="0">
                <a:solidFill>
                  <a:srgbClr val="C00000"/>
                </a:solidFill>
                <a:latin typeface="Times New Roman" panose="02020603050405020304" pitchFamily="18" charset="0"/>
                <a:cs typeface="Times New Roman" panose="02020603050405020304" pitchFamily="18" charset="0"/>
              </a:rPr>
              <a:t>dynamiques </a:t>
            </a:r>
            <a:r>
              <a:rPr lang="fr-FR" sz="2000" b="1" dirty="0">
                <a:solidFill>
                  <a:srgbClr val="C00000"/>
                </a:solidFill>
                <a:latin typeface="Times New Roman" panose="02020603050405020304" pitchFamily="18" charset="0"/>
                <a:cs typeface="Times New Roman" panose="02020603050405020304" pitchFamily="18" charset="0"/>
              </a:rPr>
              <a:t>(</a:t>
            </a:r>
            <a:r>
              <a:rPr lang="fr-FR" sz="2000" b="1" dirty="0" err="1" smtClean="0">
                <a:solidFill>
                  <a:srgbClr val="C00000"/>
                </a:solidFill>
                <a:latin typeface="Times New Roman" panose="02020603050405020304" pitchFamily="18" charset="0"/>
                <a:cs typeface="Times New Roman" panose="02020603050405020304" pitchFamily="18" charset="0"/>
              </a:rPr>
              <a:t>ArrayList</a:t>
            </a:r>
            <a:r>
              <a:rPr lang="fr-FR" sz="2000" b="1" dirty="0" smtClean="0">
                <a:solidFill>
                  <a:srgbClr val="C00000"/>
                </a:solidFill>
                <a:latin typeface="Times New Roman" panose="02020603050405020304" pitchFamily="18" charset="0"/>
                <a:cs typeface="Times New Roman" panose="02020603050405020304" pitchFamily="18" charset="0"/>
              </a:rPr>
              <a:t>)</a:t>
            </a:r>
            <a:endParaRPr lang="fr-FR" sz="2000" b="1" dirty="0">
              <a:solidFill>
                <a:srgbClr val="C00000"/>
              </a:solidFill>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La classe </a:t>
            </a:r>
            <a:r>
              <a:rPr lang="fr-FR" sz="2000" dirty="0" err="1">
                <a:latin typeface="Times New Roman" panose="02020603050405020304" pitchFamily="18" charset="0"/>
                <a:cs typeface="Times New Roman" panose="02020603050405020304" pitchFamily="18" charset="0"/>
              </a:rPr>
              <a:t>ArrayList</a:t>
            </a:r>
            <a:r>
              <a:rPr lang="fr-FR" sz="2000" dirty="0">
                <a:latin typeface="Times New Roman" panose="02020603050405020304" pitchFamily="18" charset="0"/>
                <a:cs typeface="Times New Roman" panose="02020603050405020304" pitchFamily="18" charset="0"/>
              </a:rPr>
              <a:t> est un tableau dynamique auquel on peut rajouter ou insérer des éléments et en supprimer.</a:t>
            </a:r>
          </a:p>
          <a:p>
            <a:pPr algn="just"/>
            <a:r>
              <a:rPr lang="fr-FR" sz="2000" dirty="0">
                <a:latin typeface="Times New Roman" panose="02020603050405020304" pitchFamily="18" charset="0"/>
                <a:cs typeface="Times New Roman" panose="02020603050405020304" pitchFamily="18" charset="0"/>
              </a:rPr>
              <a:t>Il faut utiliser le </a:t>
            </a:r>
            <a:r>
              <a:rPr lang="fr-FR" sz="2000" dirty="0" err="1">
                <a:latin typeface="Times New Roman" panose="02020603050405020304" pitchFamily="18" charset="0"/>
                <a:cs typeface="Times New Roman" panose="02020603050405020304" pitchFamily="18" charset="0"/>
              </a:rPr>
              <a:t>namespace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System.Collections</a:t>
            </a:r>
            <a:endParaRPr lang="fr-FR" sz="2000" dirty="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Using</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System.Collections</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ArrayList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arrayL</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ArrayList</a:t>
            </a:r>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declaration</a:t>
            </a:r>
            <a:r>
              <a:rPr lang="fr-FR" sz="2000" dirty="0">
                <a:latin typeface="Times New Roman" panose="02020603050405020304" pitchFamily="18" charset="0"/>
                <a:cs typeface="Times New Roman" panose="02020603050405020304" pitchFamily="18" charset="0"/>
              </a:rPr>
              <a:t> d’un tableau dynamique</a:t>
            </a:r>
          </a:p>
          <a:p>
            <a:pPr algn="just"/>
            <a:r>
              <a:rPr lang="fr-FR" sz="2000" dirty="0" err="1">
                <a:latin typeface="Times New Roman" panose="02020603050405020304" pitchFamily="18" charset="0"/>
                <a:cs typeface="Times New Roman" panose="02020603050405020304" pitchFamily="18" charset="0"/>
              </a:rPr>
              <a:t>arrayL.add</a:t>
            </a:r>
            <a:r>
              <a:rPr lang="fr-FR" sz="2000" dirty="0">
                <a:latin typeface="Times New Roman" panose="02020603050405020304" pitchFamily="18" charset="0"/>
                <a:cs typeface="Times New Roman" panose="02020603050405020304" pitchFamily="18" charset="0"/>
              </a:rPr>
              <a:t>(1) ; //ajouter un élément dans le tableau </a:t>
            </a:r>
            <a:r>
              <a:rPr lang="fr-FR" sz="2000" dirty="0" err="1">
                <a:latin typeface="Times New Roman" panose="02020603050405020304" pitchFamily="18" charset="0"/>
                <a:cs typeface="Times New Roman" panose="02020603050405020304" pitchFamily="18" charset="0"/>
              </a:rPr>
              <a:t>arrayL</a:t>
            </a:r>
            <a:r>
              <a:rPr lang="fr-FR" sz="2000" dirty="0">
                <a:latin typeface="Times New Roman" panose="02020603050405020304" pitchFamily="18" charset="0"/>
                <a:cs typeface="Times New Roman" panose="02020603050405020304" pitchFamily="18" charset="0"/>
              </a:rPr>
              <a:t> en appelant la méthode </a:t>
            </a:r>
            <a:r>
              <a:rPr lang="fr-FR" sz="2000" dirty="0" err="1">
                <a:latin typeface="Times New Roman" panose="02020603050405020304" pitchFamily="18" charset="0"/>
                <a:cs typeface="Times New Roman" panose="02020603050405020304" pitchFamily="18" charset="0"/>
              </a:rPr>
              <a:t>add</a:t>
            </a:r>
            <a:r>
              <a:rPr lang="fr-FR" sz="2000" dirty="0">
                <a:latin typeface="Times New Roman" panose="02020603050405020304" pitchFamily="18" charset="0"/>
                <a:cs typeface="Times New Roman" panose="02020603050405020304" pitchFamily="18" charset="0"/>
              </a:rPr>
              <a:t>(), de la classe </a:t>
            </a:r>
            <a:r>
              <a:rPr lang="fr-FR" sz="2000" dirty="0" err="1">
                <a:latin typeface="Times New Roman" panose="02020603050405020304" pitchFamily="18" charset="0"/>
                <a:cs typeface="Times New Roman" panose="02020603050405020304" pitchFamily="18" charset="0"/>
              </a:rPr>
              <a:t>ArrayList</a:t>
            </a:r>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arrayL.add</a:t>
            </a:r>
            <a:r>
              <a:rPr lang="fr-FR" sz="2000" dirty="0">
                <a:latin typeface="Times New Roman" panose="02020603050405020304" pitchFamily="18" charset="0"/>
                <a:cs typeface="Times New Roman" panose="02020603050405020304" pitchFamily="18" charset="0"/>
              </a:rPr>
              <a:t>(80) ;</a:t>
            </a:r>
          </a:p>
          <a:p>
            <a:pPr algn="just"/>
            <a:r>
              <a:rPr lang="fr-FR" sz="2000" dirty="0" err="1">
                <a:latin typeface="Times New Roman" panose="02020603050405020304" pitchFamily="18" charset="0"/>
                <a:cs typeface="Times New Roman" panose="02020603050405020304" pitchFamily="18" charset="0"/>
              </a:rPr>
              <a:t>arrayL.remove</a:t>
            </a:r>
            <a:r>
              <a:rPr lang="fr-FR" sz="2000" dirty="0">
                <a:latin typeface="Times New Roman" panose="02020603050405020304" pitchFamily="18" charset="0"/>
                <a:cs typeface="Times New Roman" panose="02020603050405020304" pitchFamily="18" charset="0"/>
              </a:rPr>
              <a:t>(1) ;//supprimer un élément du tableau </a:t>
            </a:r>
            <a:r>
              <a:rPr lang="fr-FR" sz="2000" dirty="0" err="1">
                <a:latin typeface="Times New Roman" panose="02020603050405020304" pitchFamily="18" charset="0"/>
                <a:cs typeface="Times New Roman" panose="02020603050405020304" pitchFamily="18" charset="0"/>
              </a:rPr>
              <a:t>arrayL</a:t>
            </a:r>
            <a:r>
              <a:rPr lang="fr-FR" sz="2000" dirty="0">
                <a:latin typeface="Times New Roman" panose="02020603050405020304" pitchFamily="18" charset="0"/>
                <a:cs typeface="Times New Roman" panose="02020603050405020304" pitchFamily="18" charset="0"/>
              </a:rPr>
              <a:t> en appelant la méthode </a:t>
            </a:r>
            <a:r>
              <a:rPr lang="fr-FR" sz="2000" dirty="0" err="1">
                <a:latin typeface="Times New Roman" panose="02020603050405020304" pitchFamily="18" charset="0"/>
                <a:cs typeface="Times New Roman" panose="02020603050405020304" pitchFamily="18" charset="0"/>
              </a:rPr>
              <a:t>remove</a:t>
            </a:r>
            <a:r>
              <a:rPr lang="fr-FR" sz="2000" dirty="0">
                <a:latin typeface="Times New Roman" panose="02020603050405020304" pitchFamily="18" charset="0"/>
                <a:cs typeface="Times New Roman" panose="02020603050405020304" pitchFamily="18" charset="0"/>
              </a:rPr>
              <a:t>() de la classe </a:t>
            </a:r>
            <a:r>
              <a:rPr lang="fr-FR" sz="2000" dirty="0" err="1">
                <a:latin typeface="Times New Roman" panose="02020603050405020304" pitchFamily="18" charset="0"/>
                <a:cs typeface="Times New Roman" panose="02020603050405020304" pitchFamily="18" charset="0"/>
              </a:rPr>
              <a:t>ArrayList</a:t>
            </a:r>
            <a:endParaRPr lang="fr-FR" sz="2000" dirty="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544451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1631216"/>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Tableaux </a:t>
            </a:r>
            <a:r>
              <a:rPr lang="fr-FR" sz="2000" b="1" dirty="0" smtClean="0">
                <a:solidFill>
                  <a:srgbClr val="C00000"/>
                </a:solidFill>
                <a:latin typeface="Times New Roman" panose="02020603050405020304" pitchFamily="18" charset="0"/>
                <a:cs typeface="Times New Roman" panose="02020603050405020304" pitchFamily="18" charset="0"/>
              </a:rPr>
              <a:t>dynamiques </a:t>
            </a:r>
            <a:r>
              <a:rPr lang="fr-FR" sz="2000" b="1" dirty="0">
                <a:solidFill>
                  <a:srgbClr val="C00000"/>
                </a:solidFill>
                <a:latin typeface="Times New Roman" panose="02020603050405020304" pitchFamily="18" charset="0"/>
                <a:cs typeface="Times New Roman" panose="02020603050405020304" pitchFamily="18" charset="0"/>
              </a:rPr>
              <a:t>(</a:t>
            </a:r>
            <a:r>
              <a:rPr lang="fr-FR" sz="2000" b="1" dirty="0" err="1" smtClean="0">
                <a:solidFill>
                  <a:srgbClr val="C00000"/>
                </a:solidFill>
                <a:latin typeface="Times New Roman" panose="02020603050405020304" pitchFamily="18" charset="0"/>
                <a:cs typeface="Times New Roman" panose="02020603050405020304" pitchFamily="18" charset="0"/>
              </a:rPr>
              <a:t>ArrayList</a:t>
            </a:r>
            <a:r>
              <a:rPr lang="fr-FR" sz="2000" b="1" dirty="0" smtClean="0">
                <a:solidFill>
                  <a:srgbClr val="C00000"/>
                </a:solidFill>
                <a:latin typeface="Times New Roman" panose="02020603050405020304" pitchFamily="18" charset="0"/>
                <a:cs typeface="Times New Roman" panose="02020603050405020304" pitchFamily="18" charset="0"/>
              </a:rPr>
              <a:t>)</a:t>
            </a:r>
            <a:endParaRPr lang="fr-FR" sz="2000" b="1" dirty="0">
              <a:solidFill>
                <a:srgbClr val="C00000"/>
              </a:solidFill>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Quelques méthodes de la classe </a:t>
            </a:r>
            <a:r>
              <a:rPr lang="fr-FR" sz="2000" dirty="0" err="1">
                <a:latin typeface="Times New Roman" panose="02020603050405020304" pitchFamily="18" charset="0"/>
                <a:cs typeface="Times New Roman" panose="02020603050405020304" pitchFamily="18" charset="0"/>
              </a:rPr>
              <a:t>ArrayList</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p:txBody>
      </p:sp>
      <p:graphicFrame>
        <p:nvGraphicFramePr>
          <p:cNvPr id="3" name="Tableau 2"/>
          <p:cNvGraphicFramePr>
            <a:graphicFrameLocks noGrp="1"/>
          </p:cNvGraphicFramePr>
          <p:nvPr>
            <p:extLst>
              <p:ext uri="{D42A27DB-BD31-4B8C-83A1-F6EECF244321}">
                <p14:modId xmlns:p14="http://schemas.microsoft.com/office/powerpoint/2010/main" val="2406141407"/>
              </p:ext>
            </p:extLst>
          </p:nvPr>
        </p:nvGraphicFramePr>
        <p:xfrm>
          <a:off x="480161" y="2189092"/>
          <a:ext cx="11160002" cy="3945180"/>
        </p:xfrm>
        <a:graphic>
          <a:graphicData uri="http://schemas.openxmlformats.org/drawingml/2006/table">
            <a:tbl>
              <a:tblPr/>
              <a:tblGrid>
                <a:gridCol w="3507945">
                  <a:extLst>
                    <a:ext uri="{9D8B030D-6E8A-4147-A177-3AD203B41FA5}">
                      <a16:colId xmlns:a16="http://schemas.microsoft.com/office/drawing/2014/main" val="20000"/>
                    </a:ext>
                  </a:extLst>
                </a:gridCol>
                <a:gridCol w="7652057">
                  <a:extLst>
                    <a:ext uri="{9D8B030D-6E8A-4147-A177-3AD203B41FA5}">
                      <a16:colId xmlns:a16="http://schemas.microsoft.com/office/drawing/2014/main" val="20001"/>
                    </a:ext>
                  </a:extLst>
                </a:gridCol>
              </a:tblGrid>
              <a:tr h="360000">
                <a:tc>
                  <a:txBody>
                    <a:bodyPr/>
                    <a:lstStyle/>
                    <a:p>
                      <a:r>
                        <a:rPr lang="fr-FR" sz="2000" b="1" i="0" dirty="0">
                          <a:solidFill>
                            <a:srgbClr val="000000"/>
                          </a:solidFill>
                          <a:effectLst/>
                          <a:latin typeface="Times New Roman" panose="02020603050405020304" pitchFamily="18" charset="0"/>
                          <a:cs typeface="Times New Roman" panose="02020603050405020304" pitchFamily="18" charset="0"/>
                        </a:rPr>
                        <a:t>Méthode ou propriétés </a:t>
                      </a:r>
                      <a:endParaRPr lang="fr-FR" sz="2000" dirty="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fr-FR" sz="2000" b="1" i="0" dirty="0">
                          <a:solidFill>
                            <a:srgbClr val="000000"/>
                          </a:solidFill>
                          <a:effectLst/>
                          <a:latin typeface="Times New Roman" panose="02020603050405020304" pitchFamily="18" charset="0"/>
                          <a:cs typeface="Times New Roman" panose="02020603050405020304" pitchFamily="18" charset="0"/>
                        </a:rPr>
                        <a:t>But</a:t>
                      </a:r>
                      <a:endParaRPr lang="fr-FR" sz="2000" dirty="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360000">
                <a:tc>
                  <a:txBody>
                    <a:bodyPr/>
                    <a:lstStyle/>
                    <a:p>
                      <a:r>
                        <a:rPr lang="fr-FR" sz="2000" b="1" i="0" dirty="0" err="1">
                          <a:solidFill>
                            <a:srgbClr val="000000"/>
                          </a:solidFill>
                          <a:effectLst/>
                          <a:latin typeface="Times New Roman" panose="02020603050405020304" pitchFamily="18" charset="0"/>
                          <a:cs typeface="Times New Roman" panose="02020603050405020304" pitchFamily="18" charset="0"/>
                        </a:rPr>
                        <a:t>Capacity</a:t>
                      </a:r>
                      <a:r>
                        <a:rPr lang="fr-FR" sz="2000" b="1" i="0" dirty="0">
                          <a:solidFill>
                            <a:srgbClr val="000000"/>
                          </a:solidFill>
                          <a:effectLst/>
                          <a:latin typeface="Times New Roman" panose="02020603050405020304" pitchFamily="18" charset="0"/>
                          <a:cs typeface="Times New Roman" panose="02020603050405020304" pitchFamily="18" charset="0"/>
                        </a:rPr>
                        <a:t> </a:t>
                      </a:r>
                      <a:endParaRPr lang="fr-FR" sz="2000" dirty="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2000" b="0" i="0">
                          <a:solidFill>
                            <a:srgbClr val="000000"/>
                          </a:solidFill>
                          <a:effectLst/>
                          <a:latin typeface="Times New Roman" panose="02020603050405020304" pitchFamily="18" charset="0"/>
                          <a:cs typeface="Times New Roman" panose="02020603050405020304" pitchFamily="18" charset="0"/>
                        </a:rPr>
                        <a:t>Détermine le nombre d’éléments que le tableau peut contenir</a:t>
                      </a:r>
                      <a:endParaRPr lang="fr-FR" sz="200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0000">
                <a:tc>
                  <a:txBody>
                    <a:bodyPr/>
                    <a:lstStyle/>
                    <a:p>
                      <a:r>
                        <a:rPr lang="fr-FR" sz="2000" b="1" i="0" dirty="0">
                          <a:solidFill>
                            <a:srgbClr val="000000"/>
                          </a:solidFill>
                          <a:effectLst/>
                          <a:latin typeface="Times New Roman" panose="02020603050405020304" pitchFamily="18" charset="0"/>
                          <a:cs typeface="Times New Roman" panose="02020603050405020304" pitchFamily="18" charset="0"/>
                        </a:rPr>
                        <a:t>Count </a:t>
                      </a:r>
                      <a:endParaRPr lang="fr-FR" sz="2000" dirty="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2000" b="0" i="0">
                          <a:solidFill>
                            <a:srgbClr val="000000"/>
                          </a:solidFill>
                          <a:effectLst/>
                          <a:latin typeface="Times New Roman" panose="02020603050405020304" pitchFamily="18" charset="0"/>
                          <a:cs typeface="Times New Roman" panose="02020603050405020304" pitchFamily="18" charset="0"/>
                        </a:rPr>
                        <a:t>Donne le nombre d’éléments actuellement dans le tableau</a:t>
                      </a:r>
                      <a:endParaRPr lang="fr-FR" sz="200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0000">
                <a:tc>
                  <a:txBody>
                    <a:bodyPr/>
                    <a:lstStyle/>
                    <a:p>
                      <a:r>
                        <a:rPr lang="fr-FR" sz="2000" b="1" i="0" dirty="0" err="1">
                          <a:solidFill>
                            <a:srgbClr val="000000"/>
                          </a:solidFill>
                          <a:effectLst/>
                          <a:latin typeface="Times New Roman" panose="02020603050405020304" pitchFamily="18" charset="0"/>
                          <a:cs typeface="Times New Roman" panose="02020603050405020304" pitchFamily="18" charset="0"/>
                        </a:rPr>
                        <a:t>Add</a:t>
                      </a:r>
                      <a:r>
                        <a:rPr lang="fr-FR" sz="2000" b="1" i="0" dirty="0">
                          <a:solidFill>
                            <a:srgbClr val="000000"/>
                          </a:solidFill>
                          <a:effectLst/>
                          <a:latin typeface="Times New Roman" panose="02020603050405020304" pitchFamily="18" charset="0"/>
                          <a:cs typeface="Times New Roman" panose="02020603050405020304" pitchFamily="18" charset="0"/>
                        </a:rPr>
                        <a:t>(</a:t>
                      </a:r>
                      <a:r>
                        <a:rPr lang="fr-FR" sz="2000" b="1" i="0" dirty="0" err="1">
                          <a:solidFill>
                            <a:srgbClr val="000000"/>
                          </a:solidFill>
                          <a:effectLst/>
                          <a:latin typeface="Times New Roman" panose="02020603050405020304" pitchFamily="18" charset="0"/>
                          <a:cs typeface="Times New Roman" panose="02020603050405020304" pitchFamily="18" charset="0"/>
                        </a:rPr>
                        <a:t>object</a:t>
                      </a:r>
                      <a:r>
                        <a:rPr lang="fr-FR" sz="2000" b="1" i="0" dirty="0">
                          <a:solidFill>
                            <a:srgbClr val="000000"/>
                          </a:solidFill>
                          <a:effectLst/>
                          <a:latin typeface="Times New Roman" panose="02020603050405020304" pitchFamily="18" charset="0"/>
                          <a:cs typeface="Times New Roman" panose="02020603050405020304" pitchFamily="18" charset="0"/>
                        </a:rPr>
                        <a:t>) </a:t>
                      </a:r>
                      <a:endParaRPr lang="fr-FR" sz="2000" dirty="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2000" b="0" i="0">
                          <a:solidFill>
                            <a:srgbClr val="000000"/>
                          </a:solidFill>
                          <a:effectLst/>
                          <a:latin typeface="Times New Roman" panose="02020603050405020304" pitchFamily="18" charset="0"/>
                          <a:cs typeface="Times New Roman" panose="02020603050405020304" pitchFamily="18" charset="0"/>
                        </a:rPr>
                        <a:t>Ajoute un élément au tableau</a:t>
                      </a:r>
                      <a:endParaRPr lang="fr-FR" sz="200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60000">
                <a:tc>
                  <a:txBody>
                    <a:bodyPr/>
                    <a:lstStyle/>
                    <a:p>
                      <a:r>
                        <a:rPr lang="fr-FR" sz="2000" b="1" i="0" dirty="0" err="1">
                          <a:solidFill>
                            <a:srgbClr val="000000"/>
                          </a:solidFill>
                          <a:effectLst/>
                          <a:latin typeface="Times New Roman" panose="02020603050405020304" pitchFamily="18" charset="0"/>
                          <a:cs typeface="Times New Roman" panose="02020603050405020304" pitchFamily="18" charset="0"/>
                        </a:rPr>
                        <a:t>Remove</a:t>
                      </a:r>
                      <a:r>
                        <a:rPr lang="fr-FR" sz="2000" b="1" i="0" dirty="0">
                          <a:solidFill>
                            <a:srgbClr val="000000"/>
                          </a:solidFill>
                          <a:effectLst/>
                          <a:latin typeface="Times New Roman" panose="02020603050405020304" pitchFamily="18" charset="0"/>
                          <a:cs typeface="Times New Roman" panose="02020603050405020304" pitchFamily="18" charset="0"/>
                        </a:rPr>
                        <a:t>(</a:t>
                      </a:r>
                      <a:r>
                        <a:rPr lang="fr-FR" sz="2000" b="1" i="0" dirty="0" err="1">
                          <a:solidFill>
                            <a:srgbClr val="000000"/>
                          </a:solidFill>
                          <a:effectLst/>
                          <a:latin typeface="Times New Roman" panose="02020603050405020304" pitchFamily="18" charset="0"/>
                          <a:cs typeface="Times New Roman" panose="02020603050405020304" pitchFamily="18" charset="0"/>
                        </a:rPr>
                        <a:t>object</a:t>
                      </a:r>
                      <a:r>
                        <a:rPr lang="fr-FR" sz="2000" b="1" i="0" dirty="0">
                          <a:solidFill>
                            <a:srgbClr val="000000"/>
                          </a:solidFill>
                          <a:effectLst/>
                          <a:latin typeface="Times New Roman" panose="02020603050405020304" pitchFamily="18" charset="0"/>
                          <a:cs typeface="Times New Roman" panose="02020603050405020304" pitchFamily="18" charset="0"/>
                        </a:rPr>
                        <a:t>) </a:t>
                      </a:r>
                      <a:endParaRPr lang="fr-FR" sz="2000" dirty="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2000" b="0" i="0">
                          <a:solidFill>
                            <a:srgbClr val="000000"/>
                          </a:solidFill>
                          <a:effectLst/>
                          <a:latin typeface="Times New Roman" panose="02020603050405020304" pitchFamily="18" charset="0"/>
                          <a:cs typeface="Times New Roman" panose="02020603050405020304" pitchFamily="18" charset="0"/>
                        </a:rPr>
                        <a:t>Enlève un élément du tableau</a:t>
                      </a:r>
                      <a:endParaRPr lang="fr-FR" sz="200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60000">
                <a:tc>
                  <a:txBody>
                    <a:bodyPr/>
                    <a:lstStyle/>
                    <a:p>
                      <a:r>
                        <a:rPr lang="fr-FR" sz="2000" b="1" i="0">
                          <a:solidFill>
                            <a:srgbClr val="000000"/>
                          </a:solidFill>
                          <a:effectLst/>
                          <a:latin typeface="Times New Roman" panose="02020603050405020304" pitchFamily="18" charset="0"/>
                          <a:cs typeface="Times New Roman" panose="02020603050405020304" pitchFamily="18" charset="0"/>
                        </a:rPr>
                        <a:t>RemoveAt(int) </a:t>
                      </a:r>
                      <a:endParaRPr lang="fr-FR" sz="200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2000" b="0" i="0">
                          <a:solidFill>
                            <a:srgbClr val="000000"/>
                          </a:solidFill>
                          <a:effectLst/>
                          <a:latin typeface="Times New Roman" panose="02020603050405020304" pitchFamily="18" charset="0"/>
                          <a:cs typeface="Times New Roman" panose="02020603050405020304" pitchFamily="18" charset="0"/>
                        </a:rPr>
                        <a:t>Enlève un élément à l’indice fourni</a:t>
                      </a:r>
                      <a:endParaRPr lang="fr-FR" sz="200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60000">
                <a:tc>
                  <a:txBody>
                    <a:bodyPr/>
                    <a:lstStyle/>
                    <a:p>
                      <a:r>
                        <a:rPr lang="fr-FR" sz="2000" b="1" i="0">
                          <a:solidFill>
                            <a:srgbClr val="000000"/>
                          </a:solidFill>
                          <a:effectLst/>
                          <a:latin typeface="Times New Roman" panose="02020603050405020304" pitchFamily="18" charset="0"/>
                          <a:cs typeface="Times New Roman" panose="02020603050405020304" pitchFamily="18" charset="0"/>
                        </a:rPr>
                        <a:t>Insert(int, object) </a:t>
                      </a:r>
                      <a:endParaRPr lang="fr-FR" sz="200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2000" b="0" i="0">
                          <a:solidFill>
                            <a:srgbClr val="000000"/>
                          </a:solidFill>
                          <a:effectLst/>
                          <a:latin typeface="Times New Roman" panose="02020603050405020304" pitchFamily="18" charset="0"/>
                          <a:cs typeface="Times New Roman" panose="02020603050405020304" pitchFamily="18" charset="0"/>
                        </a:rPr>
                        <a:t>Insère un élément à l’indice fourni</a:t>
                      </a:r>
                      <a:endParaRPr lang="fr-FR" sz="200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60000">
                <a:tc>
                  <a:txBody>
                    <a:bodyPr/>
                    <a:lstStyle/>
                    <a:p>
                      <a:r>
                        <a:rPr lang="fr-FR" sz="2000" b="1" i="0" dirty="0" err="1">
                          <a:solidFill>
                            <a:srgbClr val="000000"/>
                          </a:solidFill>
                          <a:effectLst/>
                          <a:latin typeface="Times New Roman" panose="02020603050405020304" pitchFamily="18" charset="0"/>
                          <a:cs typeface="Times New Roman" panose="02020603050405020304" pitchFamily="18" charset="0"/>
                        </a:rPr>
                        <a:t>Clear</a:t>
                      </a:r>
                      <a:r>
                        <a:rPr lang="fr-FR" sz="2000" b="1" i="0" dirty="0">
                          <a:solidFill>
                            <a:srgbClr val="000000"/>
                          </a:solidFill>
                          <a:effectLst/>
                          <a:latin typeface="Times New Roman" panose="02020603050405020304" pitchFamily="18" charset="0"/>
                          <a:cs typeface="Times New Roman" panose="02020603050405020304" pitchFamily="18" charset="0"/>
                        </a:rPr>
                        <a:t>() </a:t>
                      </a:r>
                      <a:endParaRPr lang="fr-FR" sz="2000" dirty="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2000" b="0" i="0">
                          <a:solidFill>
                            <a:srgbClr val="000000"/>
                          </a:solidFill>
                          <a:effectLst/>
                          <a:latin typeface="Times New Roman" panose="02020603050405020304" pitchFamily="18" charset="0"/>
                          <a:cs typeface="Times New Roman" panose="02020603050405020304" pitchFamily="18" charset="0"/>
                        </a:rPr>
                        <a:t>Vide le tableau</a:t>
                      </a:r>
                      <a:endParaRPr lang="fr-FR" sz="200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60000">
                <a:tc>
                  <a:txBody>
                    <a:bodyPr/>
                    <a:lstStyle/>
                    <a:p>
                      <a:r>
                        <a:rPr lang="fr-FR" sz="2000" b="1" i="0" dirty="0" err="1">
                          <a:solidFill>
                            <a:srgbClr val="000000"/>
                          </a:solidFill>
                          <a:effectLst/>
                          <a:latin typeface="Times New Roman" panose="02020603050405020304" pitchFamily="18" charset="0"/>
                          <a:cs typeface="Times New Roman" panose="02020603050405020304" pitchFamily="18" charset="0"/>
                        </a:rPr>
                        <a:t>Contains</a:t>
                      </a:r>
                      <a:r>
                        <a:rPr lang="fr-FR" sz="2000" b="1" i="0" dirty="0">
                          <a:solidFill>
                            <a:srgbClr val="000000"/>
                          </a:solidFill>
                          <a:effectLst/>
                          <a:latin typeface="Times New Roman" panose="02020603050405020304" pitchFamily="18" charset="0"/>
                          <a:cs typeface="Times New Roman" panose="02020603050405020304" pitchFamily="18" charset="0"/>
                        </a:rPr>
                        <a:t>(</a:t>
                      </a:r>
                      <a:r>
                        <a:rPr lang="fr-FR" sz="2000" b="1" i="0" dirty="0" err="1">
                          <a:solidFill>
                            <a:srgbClr val="000000"/>
                          </a:solidFill>
                          <a:effectLst/>
                          <a:latin typeface="Times New Roman" panose="02020603050405020304" pitchFamily="18" charset="0"/>
                          <a:cs typeface="Times New Roman" panose="02020603050405020304" pitchFamily="18" charset="0"/>
                        </a:rPr>
                        <a:t>object</a:t>
                      </a:r>
                      <a:r>
                        <a:rPr lang="fr-FR" sz="2000" b="1" i="0" dirty="0">
                          <a:solidFill>
                            <a:srgbClr val="000000"/>
                          </a:solidFill>
                          <a:effectLst/>
                          <a:latin typeface="Times New Roman" panose="02020603050405020304" pitchFamily="18" charset="0"/>
                          <a:cs typeface="Times New Roman" panose="02020603050405020304" pitchFamily="18" charset="0"/>
                        </a:rPr>
                        <a:t>) </a:t>
                      </a:r>
                      <a:endParaRPr lang="fr-FR" sz="2000" dirty="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2000" b="0" i="0">
                          <a:solidFill>
                            <a:srgbClr val="000000"/>
                          </a:solidFill>
                          <a:effectLst/>
                          <a:latin typeface="Times New Roman" panose="02020603050405020304" pitchFamily="18" charset="0"/>
                          <a:cs typeface="Times New Roman" panose="02020603050405020304" pitchFamily="18" charset="0"/>
                        </a:rPr>
                        <a:t>Renvoie un booléen vrai si l’objet fourni est présent dans le tableau</a:t>
                      </a:r>
                      <a:endParaRPr lang="fr-FR" sz="200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60000">
                <a:tc>
                  <a:txBody>
                    <a:bodyPr/>
                    <a:lstStyle/>
                    <a:p>
                      <a:r>
                        <a:rPr lang="fr-FR" sz="2000" b="1" i="0" dirty="0">
                          <a:solidFill>
                            <a:srgbClr val="000000"/>
                          </a:solidFill>
                          <a:effectLst/>
                          <a:latin typeface="Times New Roman" panose="02020603050405020304" pitchFamily="18" charset="0"/>
                          <a:cs typeface="Times New Roman" panose="02020603050405020304" pitchFamily="18" charset="0"/>
                        </a:rPr>
                        <a:t>al[index] </a:t>
                      </a:r>
                      <a:endParaRPr lang="fr-FR" sz="2000" dirty="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2000" b="0" i="0" dirty="0">
                          <a:solidFill>
                            <a:srgbClr val="000000"/>
                          </a:solidFill>
                          <a:effectLst/>
                          <a:latin typeface="Times New Roman" panose="02020603050405020304" pitchFamily="18" charset="0"/>
                          <a:cs typeface="Times New Roman" panose="02020603050405020304" pitchFamily="18" charset="0"/>
                        </a:rPr>
                        <a:t>Fournit l’objet situé à la valeur de l’index</a:t>
                      </a:r>
                      <a:endParaRPr lang="fr-FR" sz="2000" dirty="0">
                        <a:effectLst/>
                        <a:latin typeface="Times New Roman" panose="02020603050405020304" pitchFamily="18" charset="0"/>
                        <a:cs typeface="Times New Roman" panose="02020603050405020304" pitchFamily="18" charset="0"/>
                      </a:endParaRPr>
                    </a:p>
                  </a:txBody>
                  <a:tcPr marL="89718" marR="89718" marT="44859" marB="44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348653432"/>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3170099"/>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Tableaux </a:t>
            </a:r>
            <a:r>
              <a:rPr lang="fr-FR" sz="2000" b="1" dirty="0" smtClean="0">
                <a:solidFill>
                  <a:srgbClr val="C00000"/>
                </a:solidFill>
                <a:latin typeface="Times New Roman" panose="02020603050405020304" pitchFamily="18" charset="0"/>
                <a:cs typeface="Times New Roman" panose="02020603050405020304" pitchFamily="18" charset="0"/>
              </a:rPr>
              <a:t>dynamiques </a:t>
            </a:r>
            <a:r>
              <a:rPr lang="fr-FR" sz="2000" b="1" dirty="0">
                <a:solidFill>
                  <a:srgbClr val="C00000"/>
                </a:solidFill>
                <a:latin typeface="Times New Roman" panose="02020603050405020304" pitchFamily="18" charset="0"/>
                <a:cs typeface="Times New Roman" panose="02020603050405020304" pitchFamily="18" charset="0"/>
              </a:rPr>
              <a:t>(</a:t>
            </a:r>
            <a:r>
              <a:rPr lang="fr-FR" sz="2000" b="1" dirty="0" err="1" smtClean="0">
                <a:solidFill>
                  <a:srgbClr val="C00000"/>
                </a:solidFill>
                <a:latin typeface="Times New Roman" panose="02020603050405020304" pitchFamily="18" charset="0"/>
                <a:cs typeface="Times New Roman" panose="02020603050405020304" pitchFamily="18" charset="0"/>
              </a:rPr>
              <a:t>ArrayList</a:t>
            </a:r>
            <a:r>
              <a:rPr lang="fr-FR" sz="2000" b="1" dirty="0" smtClean="0">
                <a:solidFill>
                  <a:srgbClr val="C00000"/>
                </a:solidFill>
                <a:latin typeface="Times New Roman" panose="02020603050405020304" pitchFamily="18" charset="0"/>
                <a:cs typeface="Times New Roman" panose="02020603050405020304" pitchFamily="18" charset="0"/>
              </a:rPr>
              <a:t>)</a:t>
            </a:r>
            <a:endParaRPr lang="fr-FR" sz="2000" b="1" dirty="0">
              <a:solidFill>
                <a:srgbClr val="C00000"/>
              </a:solidFill>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Programme qui affiche tous les éléments de tableau </a:t>
            </a:r>
            <a:r>
              <a:rPr lang="fr-FR" sz="2000" dirty="0" err="1">
                <a:latin typeface="Times New Roman" panose="02020603050405020304" pitchFamily="18" charset="0"/>
                <a:cs typeface="Times New Roman" panose="02020603050405020304" pitchFamily="18" charset="0"/>
              </a:rPr>
              <a:t>arrayL</a:t>
            </a:r>
            <a:r>
              <a:rPr lang="fr-FR" sz="2000" dirty="0">
                <a:latin typeface="Times New Roman" panose="02020603050405020304" pitchFamily="18" charset="0"/>
                <a:cs typeface="Times New Roman" panose="02020603050405020304" pitchFamily="18" charset="0"/>
              </a:rPr>
              <a:t> :</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a:latin typeface="Times New Roman" panose="02020603050405020304" pitchFamily="18" charset="0"/>
                <a:cs typeface="Times New Roman" panose="02020603050405020304" pitchFamily="18" charset="0"/>
              </a:rPr>
              <a:t>foreach</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val in </a:t>
            </a:r>
            <a:r>
              <a:rPr lang="fr-FR" sz="2000" dirty="0" err="1">
                <a:latin typeface="Times New Roman" panose="02020603050405020304" pitchFamily="18" charset="0"/>
                <a:cs typeface="Times New Roman" panose="02020603050405020304" pitchFamily="18" charset="0"/>
              </a:rPr>
              <a:t>arrayL</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(val);</a:t>
            </a:r>
          </a:p>
          <a:p>
            <a:pPr algn="just"/>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Accès à un élément :</a:t>
            </a:r>
          </a:p>
          <a:p>
            <a:pPr algn="just"/>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Deuxiéme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element</a:t>
            </a:r>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arrayL</a:t>
            </a:r>
            <a:r>
              <a:rPr lang="fr-FR" sz="2000" dirty="0">
                <a:latin typeface="Times New Roman" panose="02020603050405020304" pitchFamily="18" charset="0"/>
                <a:cs typeface="Times New Roman" panose="02020603050405020304" pitchFamily="18" charset="0"/>
              </a:rPr>
              <a:t>[1]);</a:t>
            </a:r>
          </a:p>
        </p:txBody>
      </p:sp>
    </p:spTree>
    <p:extLst>
      <p:ext uri="{BB962C8B-B14F-4D97-AF65-F5344CB8AC3E}">
        <p14:creationId xmlns:p14="http://schemas.microsoft.com/office/powerpoint/2010/main" val="161656372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5632311"/>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La </a:t>
            </a:r>
            <a:r>
              <a:rPr lang="fr-FR" sz="2000" b="1" dirty="0">
                <a:solidFill>
                  <a:srgbClr val="C00000"/>
                </a:solidFill>
                <a:latin typeface="Times New Roman" panose="02020603050405020304" pitchFamily="18" charset="0"/>
                <a:cs typeface="Times New Roman" panose="02020603050405020304" pitchFamily="18" charset="0"/>
              </a:rPr>
              <a:t>classe </a:t>
            </a:r>
            <a:r>
              <a:rPr lang="fr-FR" sz="2000" b="1" dirty="0" err="1">
                <a:solidFill>
                  <a:srgbClr val="C00000"/>
                </a:solidFill>
                <a:latin typeface="Times New Roman" panose="02020603050405020304" pitchFamily="18" charset="0"/>
                <a:cs typeface="Times New Roman" panose="02020603050405020304" pitchFamily="18" charset="0"/>
              </a:rPr>
              <a:t>Hashtable</a:t>
            </a:r>
            <a:endParaRPr lang="fr-FR" sz="2000" b="1" dirty="0">
              <a:solidFill>
                <a:srgbClr val="C00000"/>
              </a:solidFill>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Un objet de type </a:t>
            </a:r>
            <a:r>
              <a:rPr lang="fr-FR" sz="2000" dirty="0" err="1">
                <a:latin typeface="Times New Roman" panose="02020603050405020304" pitchFamily="18" charset="0"/>
                <a:cs typeface="Times New Roman" panose="02020603050405020304" pitchFamily="18" charset="0"/>
              </a:rPr>
              <a:t>Hashtable</a:t>
            </a:r>
            <a:r>
              <a:rPr lang="fr-FR" sz="2000" dirty="0">
                <a:latin typeface="Times New Roman" panose="02020603050405020304" pitchFamily="18" charset="0"/>
                <a:cs typeface="Times New Roman" panose="02020603050405020304" pitchFamily="18" charset="0"/>
              </a:rPr>
              <a:t> c’est aussi un tableau dynamique, mais c’est un tableau </a:t>
            </a:r>
            <a:r>
              <a:rPr lang="fr-FR" sz="2000" dirty="0" smtClean="0">
                <a:latin typeface="Times New Roman" panose="02020603050405020304" pitchFamily="18" charset="0"/>
                <a:cs typeface="Times New Roman" panose="02020603050405020304" pitchFamily="18" charset="0"/>
              </a:rPr>
              <a:t>associatif, un</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dictionnaire, ou tableau de deux dimensions de deux colonnes, une colonne pour le </a:t>
            </a:r>
            <a:r>
              <a:rPr lang="fr-FR" sz="2000" dirty="0" err="1">
                <a:latin typeface="Times New Roman" panose="02020603050405020304" pitchFamily="18" charset="0"/>
                <a:cs typeface="Times New Roman" panose="02020603050405020304" pitchFamily="18" charset="0"/>
              </a:rPr>
              <a:t>hashcode</a:t>
            </a:r>
            <a:r>
              <a:rPr lang="fr-FR" sz="2000" dirty="0">
                <a:latin typeface="Times New Roman" panose="02020603050405020304" pitchFamily="18" charset="0"/>
                <a:cs typeface="Times New Roman" panose="02020603050405020304" pitchFamily="18" charset="0"/>
              </a:rPr>
              <a:t> (l’identifiant </a:t>
            </a:r>
            <a:r>
              <a:rPr lang="fr-FR" sz="2000" dirty="0" smtClean="0">
                <a:latin typeface="Times New Roman" panose="02020603050405020304" pitchFamily="18" charset="0"/>
                <a:cs typeface="Times New Roman" panose="02020603050405020304" pitchFamily="18" charset="0"/>
              </a:rPr>
              <a:t>ou la </a:t>
            </a:r>
            <a:r>
              <a:rPr lang="fr-FR" sz="2000" dirty="0">
                <a:latin typeface="Times New Roman" panose="02020603050405020304" pitchFamily="18" charset="0"/>
                <a:cs typeface="Times New Roman" panose="02020603050405020304" pitchFamily="18" charset="0"/>
              </a:rPr>
              <a:t>clé </a:t>
            </a:r>
            <a:r>
              <a:rPr lang="fr-FR" sz="2000" dirty="0" smtClean="0">
                <a:latin typeface="Times New Roman" panose="02020603050405020304" pitchFamily="18" charset="0"/>
                <a:cs typeface="Times New Roman" panose="02020603050405020304" pitchFamily="18" charset="0"/>
              </a:rPr>
              <a:t>de </a:t>
            </a:r>
            <a:r>
              <a:rPr lang="fr-FR" sz="2000" dirty="0">
                <a:latin typeface="Times New Roman" panose="02020603050405020304" pitchFamily="18" charset="0"/>
                <a:cs typeface="Times New Roman" panose="02020603050405020304" pitchFamily="18" charset="0"/>
              </a:rPr>
              <a:t>chaque élément), et la deuxième colonne contient la valeur stockée dans cet élément.</a:t>
            </a:r>
          </a:p>
          <a:p>
            <a:pPr algn="just"/>
            <a:endParaRPr lang="fr-FR" sz="2000" b="1" dirty="0" smtClean="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Exemple :</a:t>
            </a:r>
            <a:endParaRPr lang="fr-FR" sz="2000" b="1"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//Instancier un objet de type </a:t>
            </a:r>
            <a:r>
              <a:rPr lang="fr-FR" sz="2000" dirty="0" err="1">
                <a:latin typeface="Times New Roman" panose="02020603050405020304" pitchFamily="18" charset="0"/>
                <a:cs typeface="Times New Roman" panose="02020603050405020304" pitchFamily="18" charset="0"/>
              </a:rPr>
              <a:t>Hashtable</a:t>
            </a:r>
            <a:endParaRPr lang="fr-FR" sz="2000" dirty="0">
              <a:latin typeface="Times New Roman" panose="02020603050405020304" pitchFamily="18" charset="0"/>
              <a:cs typeface="Times New Roman" panose="02020603050405020304" pitchFamily="18" charset="0"/>
            </a:endParaRPr>
          </a:p>
          <a:p>
            <a:pPr lvl="2" algn="just"/>
            <a:r>
              <a:rPr lang="fr-FR" sz="2000" dirty="0" err="1">
                <a:latin typeface="Times New Roman" panose="02020603050405020304" pitchFamily="18" charset="0"/>
                <a:cs typeface="Times New Roman" panose="02020603050405020304" pitchFamily="18" charset="0"/>
              </a:rPr>
              <a:t>Hashtable</a:t>
            </a:r>
            <a:r>
              <a:rPr lang="fr-FR" sz="2000" dirty="0">
                <a:latin typeface="Times New Roman" panose="02020603050405020304" pitchFamily="18" charset="0"/>
                <a:cs typeface="Times New Roman" panose="02020603050405020304" pitchFamily="18" charset="0"/>
              </a:rPr>
              <a:t> </a:t>
            </a:r>
            <a:r>
              <a:rPr lang="fr-FR" sz="2000" dirty="0" err="1" smtClean="0">
                <a:latin typeface="Times New Roman" panose="02020603050405020304" pitchFamily="18" charset="0"/>
                <a:cs typeface="Times New Roman" panose="02020603050405020304" pitchFamily="18" charset="0"/>
              </a:rPr>
              <a:t>dict</a:t>
            </a:r>
            <a:r>
              <a:rPr lang="fr-FR" sz="2000" dirty="0" smtClean="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Hashtable</a:t>
            </a:r>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//Insérer un élément par </a:t>
            </a:r>
            <a:r>
              <a:rPr lang="fr-FR" sz="2000" dirty="0" err="1">
                <a:latin typeface="Times New Roman" panose="02020603050405020304" pitchFamily="18" charset="0"/>
                <a:cs typeface="Times New Roman" panose="02020603050405020304" pitchFamily="18" charset="0"/>
              </a:rPr>
              <a:t>add</a:t>
            </a:r>
            <a:r>
              <a:rPr lang="fr-FR" sz="2000" dirty="0">
                <a:latin typeface="Times New Roman" panose="02020603050405020304" pitchFamily="18" charset="0"/>
                <a:cs typeface="Times New Roman" panose="02020603050405020304" pitchFamily="18" charset="0"/>
              </a:rPr>
              <a:t>()</a:t>
            </a:r>
          </a:p>
          <a:p>
            <a:pPr lvl="2" algn="just"/>
            <a:r>
              <a:rPr lang="fr-FR" sz="2000" dirty="0" err="1">
                <a:latin typeface="Times New Roman" panose="02020603050405020304" pitchFamily="18" charset="0"/>
                <a:cs typeface="Times New Roman" panose="02020603050405020304" pitchFamily="18" charset="0"/>
              </a:rPr>
              <a:t>dict.add</a:t>
            </a:r>
            <a:r>
              <a:rPr lang="fr-FR" sz="2000" dirty="0">
                <a:latin typeface="Times New Roman" panose="02020603050405020304" pitchFamily="18" charset="0"/>
                <a:cs typeface="Times New Roman" panose="02020603050405020304" pitchFamily="18" charset="0"/>
              </a:rPr>
              <a:t>(1, "toto") ;</a:t>
            </a:r>
          </a:p>
          <a:p>
            <a:pPr lvl="2" algn="just"/>
            <a:r>
              <a:rPr lang="fr-FR" sz="2000" dirty="0" err="1">
                <a:latin typeface="Times New Roman" panose="02020603050405020304" pitchFamily="18" charset="0"/>
                <a:cs typeface="Times New Roman" panose="02020603050405020304" pitchFamily="18" charset="0"/>
              </a:rPr>
              <a:t>dict.add</a:t>
            </a:r>
            <a:r>
              <a:rPr lang="fr-FR" sz="2000" dirty="0">
                <a:latin typeface="Times New Roman" panose="02020603050405020304" pitchFamily="18" charset="0"/>
                <a:cs typeface="Times New Roman" panose="02020603050405020304" pitchFamily="18" charset="0"/>
              </a:rPr>
              <a:t>(2, "titi");</a:t>
            </a:r>
          </a:p>
          <a:p>
            <a:pPr lvl="2" algn="just"/>
            <a:r>
              <a:rPr lang="fr-FR" sz="2000" dirty="0">
                <a:latin typeface="Times New Roman" panose="02020603050405020304" pitchFamily="18" charset="0"/>
                <a:cs typeface="Times New Roman" panose="02020603050405020304" pitchFamily="18" charset="0"/>
              </a:rPr>
              <a:t>//Nombre d’élément du dictionnaire</a:t>
            </a:r>
          </a:p>
          <a:p>
            <a:pPr lvl="2" algn="just"/>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a:t>
            </a:r>
            <a:r>
              <a:rPr lang="fr-FR" sz="2000" dirty="0" err="1" smtClean="0">
                <a:latin typeface="Times New Roman" panose="02020603050405020304" pitchFamily="18" charset="0"/>
                <a:cs typeface="Times New Roman" panose="02020603050405020304" pitchFamily="18" charset="0"/>
              </a:rPr>
              <a:t>nbr</a:t>
            </a:r>
            <a:r>
              <a:rPr lang="fr-FR" sz="2000" dirty="0" smtClean="0">
                <a:latin typeface="Times New Roman" panose="02020603050405020304" pitchFamily="18" charset="0"/>
                <a:cs typeface="Times New Roman" panose="02020603050405020304" pitchFamily="18" charset="0"/>
              </a:rPr>
              <a:t> = </a:t>
            </a:r>
            <a:r>
              <a:rPr lang="fr-FR" sz="2000" dirty="0" err="1" smtClean="0">
                <a:latin typeface="Times New Roman" panose="02020603050405020304" pitchFamily="18" charset="0"/>
                <a:cs typeface="Times New Roman" panose="02020603050405020304" pitchFamily="18" charset="0"/>
              </a:rPr>
              <a:t>dict.Count</a:t>
            </a:r>
            <a:r>
              <a:rPr lang="fr-FR" sz="20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//Supprimer un élément en fonction de sa clé (</a:t>
            </a:r>
            <a:r>
              <a:rPr lang="fr-FR" sz="2000" dirty="0" err="1">
                <a:latin typeface="Times New Roman" panose="02020603050405020304" pitchFamily="18" charset="0"/>
                <a:cs typeface="Times New Roman" panose="02020603050405020304" pitchFamily="18" charset="0"/>
              </a:rPr>
              <a:t>hashcode</a:t>
            </a:r>
            <a:r>
              <a:rPr lang="fr-FR" sz="2000" dirty="0">
                <a:latin typeface="Times New Roman" panose="02020603050405020304" pitchFamily="18" charset="0"/>
                <a:cs typeface="Times New Roman" panose="02020603050405020304" pitchFamily="18" charset="0"/>
              </a:rPr>
              <a:t>)</a:t>
            </a:r>
          </a:p>
          <a:p>
            <a:pPr lvl="2" algn="just"/>
            <a:r>
              <a:rPr lang="fr-FR" sz="2000" dirty="0" err="1">
                <a:latin typeface="Times New Roman" panose="02020603050405020304" pitchFamily="18" charset="0"/>
                <a:cs typeface="Times New Roman" panose="02020603050405020304" pitchFamily="18" charset="0"/>
              </a:rPr>
              <a:t>dict.Remove</a:t>
            </a:r>
            <a:r>
              <a:rPr lang="fr-FR" sz="2000" dirty="0">
                <a:latin typeface="Times New Roman" panose="02020603050405020304" pitchFamily="18" charset="0"/>
                <a:cs typeface="Times New Roman" panose="02020603050405020304" pitchFamily="18" charset="0"/>
              </a:rPr>
              <a:t>(clé) ;</a:t>
            </a:r>
          </a:p>
          <a:p>
            <a:pPr lvl="2" algn="just"/>
            <a:r>
              <a:rPr lang="fr-FR" sz="2000" dirty="0">
                <a:latin typeface="Times New Roman" panose="02020603050405020304" pitchFamily="18" charset="0"/>
                <a:cs typeface="Times New Roman" panose="02020603050405020304" pitchFamily="18" charset="0"/>
              </a:rPr>
              <a:t>//vider le dictionnaire par </a:t>
            </a:r>
            <a:r>
              <a:rPr lang="fr-FR" sz="2000" dirty="0" err="1">
                <a:latin typeface="Times New Roman" panose="02020603050405020304" pitchFamily="18" charset="0"/>
                <a:cs typeface="Times New Roman" panose="02020603050405020304" pitchFamily="18" charset="0"/>
              </a:rPr>
              <a:t>Clear</a:t>
            </a:r>
            <a:r>
              <a:rPr lang="fr-FR" sz="2000" dirty="0">
                <a:latin typeface="Times New Roman" panose="02020603050405020304" pitchFamily="18" charset="0"/>
                <a:cs typeface="Times New Roman" panose="02020603050405020304" pitchFamily="18" charset="0"/>
              </a:rPr>
              <a:t>()</a:t>
            </a:r>
          </a:p>
          <a:p>
            <a:pPr lvl="2" algn="just"/>
            <a:r>
              <a:rPr lang="fr-FR" sz="2000" dirty="0" err="1">
                <a:latin typeface="Times New Roman" panose="02020603050405020304" pitchFamily="18" charset="0"/>
                <a:cs typeface="Times New Roman" panose="02020603050405020304" pitchFamily="18" charset="0"/>
              </a:rPr>
              <a:t>dict.Clear</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2843865"/>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3170099"/>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La </a:t>
            </a:r>
            <a:r>
              <a:rPr lang="fr-FR" sz="2000" b="1" dirty="0">
                <a:solidFill>
                  <a:srgbClr val="C00000"/>
                </a:solidFill>
                <a:latin typeface="Times New Roman" panose="02020603050405020304" pitchFamily="18" charset="0"/>
                <a:cs typeface="Times New Roman" panose="02020603050405020304" pitchFamily="18" charset="0"/>
              </a:rPr>
              <a:t>classe </a:t>
            </a:r>
            <a:r>
              <a:rPr lang="fr-FR" sz="2000" b="1" dirty="0" err="1">
                <a:solidFill>
                  <a:srgbClr val="C00000"/>
                </a:solidFill>
                <a:latin typeface="Times New Roman" panose="02020603050405020304" pitchFamily="18" charset="0"/>
                <a:cs typeface="Times New Roman" panose="02020603050405020304" pitchFamily="18" charset="0"/>
              </a:rPr>
              <a:t>Hashtable</a:t>
            </a:r>
            <a:endParaRPr lang="fr-FR" sz="2000" b="1" dirty="0">
              <a:solidFill>
                <a:srgbClr val="C00000"/>
              </a:solidFill>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a:t>
            </a:r>
            <a:r>
              <a:rPr lang="fr-FR" sz="2000" dirty="0">
                <a:latin typeface="Times New Roman" panose="02020603050405020304" pitchFamily="18" charset="0"/>
                <a:cs typeface="Times New Roman" panose="02020603050405020304" pitchFamily="18" charset="0"/>
              </a:rPr>
              <a:t>Parcourir le dictionnaire</a:t>
            </a:r>
          </a:p>
          <a:p>
            <a:pPr algn="just"/>
            <a:r>
              <a:rPr lang="fr-FR" sz="2000" dirty="0" err="1">
                <a:latin typeface="Times New Roman" panose="02020603050405020304" pitchFamily="18" charset="0"/>
                <a:cs typeface="Times New Roman" panose="02020603050405020304" pitchFamily="18" charset="0"/>
              </a:rPr>
              <a:t>foreach</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i in </a:t>
            </a:r>
            <a:r>
              <a:rPr lang="fr-FR" sz="2000" dirty="0" err="1">
                <a:latin typeface="Times New Roman" panose="02020603050405020304" pitchFamily="18" charset="0"/>
                <a:cs typeface="Times New Roman" panose="02020603050405020304" pitchFamily="18" charset="0"/>
              </a:rPr>
              <a:t>dict.Keys</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smtClean="0">
                <a:latin typeface="Times New Roman" panose="02020603050405020304" pitchFamily="18" charset="0"/>
                <a:cs typeface="Times New Roman" panose="02020603050405020304" pitchFamily="18" charset="0"/>
              </a:rPr>
              <a:t>Console.WriteLine</a:t>
            </a:r>
            <a:r>
              <a:rPr lang="fr-FR" sz="2000" dirty="0" smtClean="0">
                <a:latin typeface="Times New Roman" panose="02020603050405020304" pitchFamily="18" charset="0"/>
                <a:cs typeface="Times New Roman" panose="02020603050405020304" pitchFamily="18" charset="0"/>
              </a:rPr>
              <a:t>(d[i]);</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a:latin typeface="Times New Roman" panose="02020603050405020304" pitchFamily="18" charset="0"/>
                <a:cs typeface="Times New Roman" panose="02020603050405020304" pitchFamily="18" charset="0"/>
              </a:rPr>
              <a:t>Remarque :</a:t>
            </a:r>
          </a:p>
          <a:p>
            <a:pPr algn="just"/>
            <a:r>
              <a:rPr lang="fr-FR" sz="2000" dirty="0">
                <a:latin typeface="Times New Roman" panose="02020603050405020304" pitchFamily="18" charset="0"/>
                <a:cs typeface="Times New Roman" panose="02020603050405020304" pitchFamily="18" charset="0"/>
              </a:rPr>
              <a:t>Le dictionnaire </a:t>
            </a:r>
            <a:r>
              <a:rPr lang="fr-FR" sz="2000" dirty="0" err="1">
                <a:latin typeface="Times New Roman" panose="02020603050405020304" pitchFamily="18" charset="0"/>
                <a:cs typeface="Times New Roman" panose="02020603050405020304" pitchFamily="18" charset="0"/>
              </a:rPr>
              <a:t>Hashtable</a:t>
            </a:r>
            <a:r>
              <a:rPr lang="fr-FR" sz="2000" dirty="0">
                <a:latin typeface="Times New Roman" panose="02020603050405020304" pitchFamily="18" charset="0"/>
                <a:cs typeface="Times New Roman" panose="02020603050405020304" pitchFamily="18" charset="0"/>
              </a:rPr>
              <a:t> ne trie pas les éléments, et pour avoir un dictionnaire trié dans l’ordre croissant </a:t>
            </a:r>
            <a:r>
              <a:rPr lang="fr-FR" sz="2000" dirty="0" smtClean="0">
                <a:latin typeface="Times New Roman" panose="02020603050405020304" pitchFamily="18" charset="0"/>
                <a:cs typeface="Times New Roman" panose="02020603050405020304" pitchFamily="18" charset="0"/>
              </a:rPr>
              <a:t>en fonction </a:t>
            </a:r>
            <a:r>
              <a:rPr lang="fr-FR" sz="2000" dirty="0">
                <a:latin typeface="Times New Roman" panose="02020603050405020304" pitchFamily="18" charset="0"/>
                <a:cs typeface="Times New Roman" panose="02020603050405020304" pitchFamily="18" charset="0"/>
              </a:rPr>
              <a:t>de la clé de ses éléments, on doit utiliser la classe </a:t>
            </a:r>
            <a:r>
              <a:rPr lang="fr-FR" sz="2000" dirty="0" err="1">
                <a:latin typeface="Times New Roman" panose="02020603050405020304" pitchFamily="18" charset="0"/>
                <a:cs typeface="Times New Roman" panose="02020603050405020304" pitchFamily="18" charset="0"/>
              </a:rPr>
              <a:t>SortedList</a:t>
            </a:r>
            <a:r>
              <a:rPr lang="fr-FR" sz="2000" dirty="0">
                <a:latin typeface="Times New Roman" panose="02020603050405020304" pitchFamily="18" charset="0"/>
                <a:cs typeface="Times New Roman" panose="02020603050405020304" pitchFamily="18" charset="0"/>
              </a:rPr>
              <a:t> ou lieu de la classe </a:t>
            </a:r>
            <a:r>
              <a:rPr lang="fr-FR" sz="2000" dirty="0" err="1">
                <a:latin typeface="Times New Roman" panose="02020603050405020304" pitchFamily="18" charset="0"/>
                <a:cs typeface="Times New Roman" panose="02020603050405020304" pitchFamily="18" charset="0"/>
              </a:rPr>
              <a:t>Hashtable</a:t>
            </a:r>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3577051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5940088"/>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La classe </a:t>
            </a:r>
            <a:r>
              <a:rPr lang="fr-FR" sz="2000" b="1" dirty="0" err="1" smtClean="0">
                <a:solidFill>
                  <a:srgbClr val="C00000"/>
                </a:solidFill>
                <a:latin typeface="Times New Roman" panose="02020603050405020304" pitchFamily="18" charset="0"/>
                <a:cs typeface="Times New Roman" panose="02020603050405020304" pitchFamily="18" charset="0"/>
              </a:rPr>
              <a:t>SortedList</a:t>
            </a:r>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La classe </a:t>
            </a:r>
            <a:r>
              <a:rPr lang="fr-FR" sz="2000" dirty="0" err="1">
                <a:latin typeface="Times New Roman" panose="02020603050405020304" pitchFamily="18" charset="0"/>
                <a:cs typeface="Times New Roman" panose="02020603050405020304" pitchFamily="18" charset="0"/>
              </a:rPr>
              <a:t>SortedList</a:t>
            </a:r>
            <a:r>
              <a:rPr lang="fr-FR" sz="2000" dirty="0">
                <a:latin typeface="Times New Roman" panose="02020603050405020304" pitchFamily="18" charset="0"/>
                <a:cs typeface="Times New Roman" panose="02020603050405020304" pitchFamily="18" charset="0"/>
              </a:rPr>
              <a:t> est une classe qui combine </a:t>
            </a:r>
            <a:r>
              <a:rPr lang="fr-FR" sz="2000" dirty="0" err="1" smtClean="0">
                <a:latin typeface="Times New Roman" panose="02020603050405020304" pitchFamily="18" charset="0"/>
                <a:cs typeface="Times New Roman" panose="02020603050405020304" pitchFamily="18" charset="0"/>
              </a:rPr>
              <a:t>Arraylist</a:t>
            </a:r>
            <a:r>
              <a:rPr lang="fr-FR" sz="20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et </a:t>
            </a:r>
            <a:r>
              <a:rPr lang="fr-FR" sz="2000" dirty="0" err="1" smtClean="0">
                <a:latin typeface="Times New Roman" panose="02020603050405020304" pitchFamily="18" charset="0"/>
                <a:cs typeface="Times New Roman" panose="02020603050405020304" pitchFamily="18" charset="0"/>
              </a:rPr>
              <a:t>Hashtable</a:t>
            </a:r>
            <a:r>
              <a:rPr lang="fr-FR" sz="2000" dirty="0">
                <a:latin typeface="Times New Roman" panose="02020603050405020304" pitchFamily="18" charset="0"/>
                <a:cs typeface="Times New Roman" panose="02020603050405020304" pitchFamily="18" charset="0"/>
              </a:rPr>
              <a:t>, un dictionnaire </a:t>
            </a:r>
            <a:r>
              <a:rPr lang="fr-FR" sz="2000" dirty="0" smtClean="0">
                <a:latin typeface="Times New Roman" panose="02020603050405020304" pitchFamily="18" charset="0"/>
                <a:cs typeface="Times New Roman" panose="02020603050405020304" pitchFamily="18" charset="0"/>
              </a:rPr>
              <a:t>qui représente </a:t>
            </a:r>
            <a:r>
              <a:rPr lang="fr-FR" sz="2000" dirty="0">
                <a:latin typeface="Times New Roman" panose="02020603050405020304" pitchFamily="18" charset="0"/>
                <a:cs typeface="Times New Roman" panose="02020603050405020304" pitchFamily="18" charset="0"/>
              </a:rPr>
              <a:t>les données sous forme de paire clé/valeur, et organise tous les éléments dans un ordre trié</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a:latin typeface="Times New Roman" panose="02020603050405020304" pitchFamily="18" charset="0"/>
                <a:cs typeface="Times New Roman" panose="02020603050405020304" pitchFamily="18" charset="0"/>
              </a:rPr>
              <a:t>Exemple </a:t>
            </a:r>
            <a:r>
              <a:rPr lang="fr-FR" sz="2000" b="1" dirty="0" smtClean="0">
                <a:latin typeface="Times New Roman" panose="02020603050405020304" pitchFamily="18" charset="0"/>
                <a:cs typeface="Times New Roman" panose="02020603050405020304" pitchFamily="18" charset="0"/>
              </a:rPr>
              <a:t>:</a:t>
            </a:r>
            <a:endParaRPr lang="fr-FR" sz="2000" b="1" dirty="0">
              <a:latin typeface="Times New Roman" panose="02020603050405020304" pitchFamily="18" charset="0"/>
              <a:cs typeface="Times New Roman" panose="02020603050405020304" pitchFamily="18" charset="0"/>
            </a:endParaRPr>
          </a:p>
          <a:p>
            <a:pPr lvl="2" algn="just"/>
            <a:r>
              <a:rPr lang="fr-FR" sz="2000" dirty="0" err="1">
                <a:latin typeface="Times New Roman" panose="02020603050405020304" pitchFamily="18" charset="0"/>
                <a:cs typeface="Times New Roman" panose="02020603050405020304" pitchFamily="18" charset="0"/>
              </a:rPr>
              <a:t>static</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Main(){</a:t>
            </a:r>
          </a:p>
          <a:p>
            <a:pPr lvl="2" algn="just"/>
            <a:r>
              <a:rPr lang="fr-FR" sz="2000" dirty="0">
                <a:latin typeface="Times New Roman" panose="02020603050405020304" pitchFamily="18" charset="0"/>
                <a:cs typeface="Times New Roman" panose="02020603050405020304" pitchFamily="18" charset="0"/>
              </a:rPr>
              <a:t>	//Instancier un objet de type </a:t>
            </a:r>
            <a:r>
              <a:rPr lang="fr-FR" sz="2000" dirty="0" err="1">
                <a:latin typeface="Times New Roman" panose="02020603050405020304" pitchFamily="18" charset="0"/>
                <a:cs typeface="Times New Roman" panose="02020603050405020304" pitchFamily="18" charset="0"/>
              </a:rPr>
              <a:t>SotedList</a:t>
            </a:r>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SortedList</a:t>
            </a:r>
            <a:r>
              <a:rPr lang="fr-FR" sz="2000" dirty="0">
                <a:latin typeface="Times New Roman" panose="02020603050405020304" pitchFamily="18" charset="0"/>
                <a:cs typeface="Times New Roman" panose="02020603050405020304" pitchFamily="18" charset="0"/>
              </a:rPr>
              <a:t> </a:t>
            </a:r>
            <a:r>
              <a:rPr lang="fr-FR" sz="2000" dirty="0" err="1" smtClean="0">
                <a:latin typeface="Times New Roman" panose="02020603050405020304" pitchFamily="18" charset="0"/>
                <a:cs typeface="Times New Roman" panose="02020603050405020304" pitchFamily="18" charset="0"/>
              </a:rPr>
              <a:t>sl</a:t>
            </a:r>
            <a:r>
              <a:rPr lang="fr-FR" sz="2000" dirty="0" smtClean="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SortedList</a:t>
            </a:r>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//Ajouter des </a:t>
            </a:r>
            <a:r>
              <a:rPr lang="fr-FR" sz="2000" dirty="0" err="1">
                <a:latin typeface="Times New Roman" panose="02020603050405020304" pitchFamily="18" charset="0"/>
                <a:cs typeface="Times New Roman" panose="02020603050405020304" pitchFamily="18" charset="0"/>
              </a:rPr>
              <a:t>elements</a:t>
            </a:r>
            <a:r>
              <a:rPr lang="fr-FR" sz="2000" dirty="0">
                <a:latin typeface="Times New Roman" panose="02020603050405020304" pitchFamily="18" charset="0"/>
                <a:cs typeface="Times New Roman" panose="02020603050405020304" pitchFamily="18" charset="0"/>
              </a:rPr>
              <a:t> dans le dico </a:t>
            </a:r>
            <a:r>
              <a:rPr lang="fr-FR" sz="2000" dirty="0" err="1">
                <a:latin typeface="Times New Roman" panose="02020603050405020304" pitchFamily="18" charset="0"/>
                <a:cs typeface="Times New Roman" panose="02020603050405020304" pitchFamily="18" charset="0"/>
              </a:rPr>
              <a:t>sl</a:t>
            </a:r>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sl.add</a:t>
            </a:r>
            <a:r>
              <a:rPr lang="fr-FR" sz="2000" dirty="0">
                <a:latin typeface="Times New Roman" panose="02020603050405020304" pitchFamily="18" charset="0"/>
                <a:cs typeface="Times New Roman" panose="02020603050405020304" pitchFamily="18" charset="0"/>
              </a:rPr>
              <a:t>(32,"Java");</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sl.add</a:t>
            </a:r>
            <a:r>
              <a:rPr lang="fr-FR" sz="2000" dirty="0">
                <a:latin typeface="Times New Roman" panose="02020603050405020304" pitchFamily="18" charset="0"/>
                <a:cs typeface="Times New Roman" panose="02020603050405020304" pitchFamily="18" charset="0"/>
              </a:rPr>
              <a:t>(21,"C#");</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sl.add</a:t>
            </a:r>
            <a:r>
              <a:rPr lang="fr-FR" sz="2000" dirty="0">
                <a:latin typeface="Times New Roman" panose="02020603050405020304" pitchFamily="18" charset="0"/>
                <a:cs typeface="Times New Roman" panose="02020603050405020304" pitchFamily="18" charset="0"/>
              </a:rPr>
              <a:t>(7,"PHP");</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sl.add</a:t>
            </a:r>
            <a:r>
              <a:rPr lang="fr-FR" sz="2000" dirty="0">
                <a:latin typeface="Times New Roman" panose="02020603050405020304" pitchFamily="18" charset="0"/>
                <a:cs typeface="Times New Roman" panose="02020603050405020304" pitchFamily="18" charset="0"/>
              </a:rPr>
              <a:t>(49,"C++");</a:t>
            </a:r>
          </a:p>
          <a:p>
            <a:pPr lvl="2" algn="just"/>
            <a:r>
              <a:rPr lang="fr-FR" sz="2000" dirty="0">
                <a:latin typeface="Times New Roman" panose="02020603050405020304" pitchFamily="18" charset="0"/>
                <a:cs typeface="Times New Roman" panose="02020603050405020304" pitchFamily="18" charset="0"/>
              </a:rPr>
              <a:t>	//afficher le dico </a:t>
            </a:r>
            <a:r>
              <a:rPr lang="fr-FR" sz="2000" dirty="0" err="1">
                <a:latin typeface="Times New Roman" panose="02020603050405020304" pitchFamily="18" charset="0"/>
                <a:cs typeface="Times New Roman" panose="02020603050405020304" pitchFamily="18" charset="0"/>
              </a:rPr>
              <a:t>sl</a:t>
            </a:r>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for(</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i=0 ; i&lt;</a:t>
            </a:r>
            <a:r>
              <a:rPr lang="fr-FR" sz="2000" dirty="0" err="1">
                <a:latin typeface="Times New Roman" panose="02020603050405020304" pitchFamily="18" charset="0"/>
                <a:cs typeface="Times New Roman" panose="02020603050405020304" pitchFamily="18" charset="0"/>
              </a:rPr>
              <a:t>sl.count</a:t>
            </a:r>
            <a:r>
              <a:rPr lang="fr-FR" sz="2000" dirty="0">
                <a:latin typeface="Times New Roman" panose="02020603050405020304" pitchFamily="18" charset="0"/>
                <a:cs typeface="Times New Roman" panose="02020603050405020304" pitchFamily="18" charset="0"/>
              </a:rPr>
              <a:t> ; i++){</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("clé ="+ </a:t>
            </a:r>
            <a:r>
              <a:rPr lang="fr-FR" sz="2000" dirty="0" err="1">
                <a:latin typeface="Times New Roman" panose="02020603050405020304" pitchFamily="18" charset="0"/>
                <a:cs typeface="Times New Roman" panose="02020603050405020304" pitchFamily="18" charset="0"/>
              </a:rPr>
              <a:t>sl.GetKey</a:t>
            </a:r>
            <a:r>
              <a:rPr lang="fr-FR" sz="2000" dirty="0">
                <a:latin typeface="Times New Roman" panose="02020603050405020304" pitchFamily="18" charset="0"/>
                <a:cs typeface="Times New Roman" panose="02020603050405020304" pitchFamily="18" charset="0"/>
              </a:rPr>
              <a:t>(i) + " , valeur= "+ </a:t>
            </a:r>
            <a:r>
              <a:rPr lang="fr-FR" sz="2000" dirty="0" err="1">
                <a:latin typeface="Times New Roman" panose="02020603050405020304" pitchFamily="18" charset="0"/>
                <a:cs typeface="Times New Roman" panose="02020603050405020304" pitchFamily="18" charset="0"/>
              </a:rPr>
              <a:t>sl.GetByIndex</a:t>
            </a:r>
            <a:r>
              <a:rPr lang="fr-FR" sz="2000" dirty="0">
                <a:latin typeface="Times New Roman" panose="02020603050405020304" pitchFamily="18" charset="0"/>
                <a:cs typeface="Times New Roman" panose="02020603050405020304" pitchFamily="18" charset="0"/>
              </a:rPr>
              <a:t>(i));</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61866669"/>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1323439"/>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La classe </a:t>
            </a:r>
            <a:r>
              <a:rPr lang="fr-FR" sz="2000" b="1" dirty="0" err="1" smtClean="0">
                <a:solidFill>
                  <a:srgbClr val="C00000"/>
                </a:solidFill>
                <a:latin typeface="Times New Roman" panose="02020603050405020304" pitchFamily="18" charset="0"/>
                <a:cs typeface="Times New Roman" panose="02020603050405020304" pitchFamily="18" charset="0"/>
              </a:rPr>
              <a:t>SortedList</a:t>
            </a:r>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Quelques méthodes qui permet de manipuler un dictionnaire de type </a:t>
            </a:r>
            <a:r>
              <a:rPr lang="fr-FR" sz="2000" dirty="0" err="1">
                <a:latin typeface="Times New Roman" panose="02020603050405020304" pitchFamily="18" charset="0"/>
                <a:cs typeface="Times New Roman" panose="02020603050405020304" pitchFamily="18" charset="0"/>
              </a:rPr>
              <a:t>SortedList</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p:txBody>
      </p:sp>
      <p:graphicFrame>
        <p:nvGraphicFramePr>
          <p:cNvPr id="3" name="Tableau 2"/>
          <p:cNvGraphicFramePr>
            <a:graphicFrameLocks noGrp="1"/>
          </p:cNvGraphicFramePr>
          <p:nvPr>
            <p:extLst>
              <p:ext uri="{D42A27DB-BD31-4B8C-83A1-F6EECF244321}">
                <p14:modId xmlns:p14="http://schemas.microsoft.com/office/powerpoint/2010/main" val="1561699494"/>
              </p:ext>
            </p:extLst>
          </p:nvPr>
        </p:nvGraphicFramePr>
        <p:xfrm>
          <a:off x="1476260" y="2092890"/>
          <a:ext cx="10715740" cy="4765110"/>
        </p:xfrm>
        <a:graphic>
          <a:graphicData uri="http://schemas.openxmlformats.org/drawingml/2006/table">
            <a:tbl>
              <a:tblPr/>
              <a:tblGrid>
                <a:gridCol w="3442400">
                  <a:extLst>
                    <a:ext uri="{9D8B030D-6E8A-4147-A177-3AD203B41FA5}">
                      <a16:colId xmlns:a16="http://schemas.microsoft.com/office/drawing/2014/main" val="20000"/>
                    </a:ext>
                  </a:extLst>
                </a:gridCol>
                <a:gridCol w="7273340">
                  <a:extLst>
                    <a:ext uri="{9D8B030D-6E8A-4147-A177-3AD203B41FA5}">
                      <a16:colId xmlns:a16="http://schemas.microsoft.com/office/drawing/2014/main" val="20001"/>
                    </a:ext>
                  </a:extLst>
                </a:gridCol>
              </a:tblGrid>
              <a:tr h="169662">
                <a:tc>
                  <a:txBody>
                    <a:bodyPr/>
                    <a:lstStyle/>
                    <a:p>
                      <a:r>
                        <a:rPr lang="fr-FR" sz="1600" b="1" i="0" dirty="0">
                          <a:solidFill>
                            <a:srgbClr val="000000"/>
                          </a:solidFill>
                          <a:effectLst/>
                          <a:latin typeface="Times New Roman" panose="02020603050405020304" pitchFamily="18" charset="0"/>
                          <a:cs typeface="Times New Roman" panose="02020603050405020304" pitchFamily="18" charset="0"/>
                        </a:rPr>
                        <a:t>Méthode ou propriétés </a:t>
                      </a:r>
                      <a:endParaRPr lang="fr-FR" sz="1600" dirty="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fr-FR" sz="1600" b="1" i="0" dirty="0">
                          <a:solidFill>
                            <a:srgbClr val="000000"/>
                          </a:solidFill>
                          <a:effectLst/>
                          <a:latin typeface="Times New Roman" panose="02020603050405020304" pitchFamily="18" charset="0"/>
                          <a:cs typeface="Times New Roman" panose="02020603050405020304" pitchFamily="18" charset="0"/>
                        </a:rPr>
                        <a:t>But</a:t>
                      </a:r>
                      <a:endParaRPr lang="fr-FR" sz="1600" dirty="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279444">
                <a:tc>
                  <a:txBody>
                    <a:bodyPr/>
                    <a:lstStyle/>
                    <a:p>
                      <a:r>
                        <a:rPr lang="fr-FR" sz="1600" b="1" i="0">
                          <a:solidFill>
                            <a:srgbClr val="000000"/>
                          </a:solidFill>
                          <a:effectLst/>
                          <a:latin typeface="Times New Roman" panose="02020603050405020304" pitchFamily="18" charset="0"/>
                          <a:cs typeface="Times New Roman" panose="02020603050405020304" pitchFamily="18" charset="0"/>
                        </a:rPr>
                        <a:t>Keys </a:t>
                      </a:r>
                      <a:endParaRPr lang="fr-FR" sz="160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fr-FR" sz="1600" b="0" i="0">
                          <a:solidFill>
                            <a:srgbClr val="000000"/>
                          </a:solidFill>
                          <a:effectLst/>
                          <a:latin typeface="Times New Roman" panose="02020603050405020304" pitchFamily="18" charset="0"/>
                          <a:cs typeface="Times New Roman" panose="02020603050405020304" pitchFamily="18" charset="0"/>
                        </a:rPr>
                        <a:t>Collection des clés de la liste trièe</a:t>
                      </a:r>
                      <a:endParaRPr lang="fr-FR" sz="160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9444">
                <a:tc>
                  <a:txBody>
                    <a:bodyPr/>
                    <a:lstStyle/>
                    <a:p>
                      <a:r>
                        <a:rPr lang="fr-FR" sz="1600" b="1" i="0" dirty="0">
                          <a:solidFill>
                            <a:srgbClr val="000000"/>
                          </a:solidFill>
                          <a:effectLst/>
                          <a:latin typeface="Times New Roman" panose="02020603050405020304" pitchFamily="18" charset="0"/>
                          <a:cs typeface="Times New Roman" panose="02020603050405020304" pitchFamily="18" charset="0"/>
                        </a:rPr>
                        <a:t>Values </a:t>
                      </a:r>
                      <a:endParaRPr lang="fr-FR" sz="1600" dirty="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fr-FR" sz="1600" b="0" i="0" dirty="0">
                          <a:solidFill>
                            <a:srgbClr val="000000"/>
                          </a:solidFill>
                          <a:effectLst/>
                          <a:latin typeface="Times New Roman" panose="02020603050405020304" pitchFamily="18" charset="0"/>
                          <a:cs typeface="Times New Roman" panose="02020603050405020304" pitchFamily="18" charset="0"/>
                        </a:rPr>
                        <a:t>Collection des </a:t>
                      </a:r>
                      <a:r>
                        <a:rPr lang="fr-FR" sz="1600" b="0" i="0" dirty="0" smtClean="0">
                          <a:solidFill>
                            <a:srgbClr val="000000"/>
                          </a:solidFill>
                          <a:effectLst/>
                          <a:latin typeface="Times New Roman" panose="02020603050405020304" pitchFamily="18" charset="0"/>
                          <a:cs typeface="Times New Roman" panose="02020603050405020304" pitchFamily="18" charset="0"/>
                        </a:rPr>
                        <a:t>valeurs </a:t>
                      </a:r>
                      <a:r>
                        <a:rPr lang="fr-FR" sz="1600" b="0" i="0" dirty="0">
                          <a:solidFill>
                            <a:srgbClr val="000000"/>
                          </a:solidFill>
                          <a:effectLst/>
                          <a:latin typeface="Times New Roman" panose="02020603050405020304" pitchFamily="18" charset="0"/>
                          <a:cs typeface="Times New Roman" panose="02020603050405020304" pitchFamily="18" charset="0"/>
                        </a:rPr>
                        <a:t>(objets) de la </a:t>
                      </a:r>
                      <a:r>
                        <a:rPr lang="fr-FR" sz="1600" b="0" i="0" dirty="0" smtClean="0">
                          <a:solidFill>
                            <a:srgbClr val="000000"/>
                          </a:solidFill>
                          <a:effectLst/>
                          <a:latin typeface="Times New Roman" panose="02020603050405020304" pitchFamily="18" charset="0"/>
                          <a:cs typeface="Times New Roman" panose="02020603050405020304" pitchFamily="18" charset="0"/>
                        </a:rPr>
                        <a:t>liste</a:t>
                      </a:r>
                      <a:endParaRPr lang="fr-FR" sz="1600" dirty="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89225">
                <a:tc>
                  <a:txBody>
                    <a:bodyPr/>
                    <a:lstStyle/>
                    <a:p>
                      <a:r>
                        <a:rPr lang="fr-FR" sz="1600" b="1" i="0" dirty="0">
                          <a:solidFill>
                            <a:srgbClr val="000000"/>
                          </a:solidFill>
                          <a:effectLst/>
                          <a:latin typeface="Times New Roman" panose="02020603050405020304" pitchFamily="18" charset="0"/>
                          <a:cs typeface="Times New Roman" panose="02020603050405020304" pitchFamily="18" charset="0"/>
                        </a:rPr>
                        <a:t>Count </a:t>
                      </a:r>
                      <a:endParaRPr lang="fr-FR" sz="1600" dirty="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fr-FR" sz="1600" b="0" i="0" dirty="0">
                          <a:solidFill>
                            <a:srgbClr val="000000"/>
                          </a:solidFill>
                          <a:effectLst/>
                          <a:latin typeface="Times New Roman" panose="02020603050405020304" pitchFamily="18" charset="0"/>
                          <a:cs typeface="Times New Roman" panose="02020603050405020304" pitchFamily="18" charset="0"/>
                        </a:rPr>
                        <a:t>Donne le nombre d’éléments actuellement dans la liste</a:t>
                      </a:r>
                      <a:endParaRPr lang="fr-FR" sz="1600" dirty="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79444">
                <a:tc>
                  <a:txBody>
                    <a:bodyPr/>
                    <a:lstStyle/>
                    <a:p>
                      <a:r>
                        <a:rPr lang="fr-FR" sz="1600" b="1" i="0" dirty="0" err="1">
                          <a:solidFill>
                            <a:srgbClr val="000000"/>
                          </a:solidFill>
                          <a:effectLst/>
                          <a:latin typeface="Times New Roman" panose="02020603050405020304" pitchFamily="18" charset="0"/>
                          <a:cs typeface="Times New Roman" panose="02020603050405020304" pitchFamily="18" charset="0"/>
                        </a:rPr>
                        <a:t>Add</a:t>
                      </a:r>
                      <a:r>
                        <a:rPr lang="fr-FR" sz="1600" b="1" i="0" dirty="0">
                          <a:solidFill>
                            <a:srgbClr val="000000"/>
                          </a:solidFill>
                          <a:effectLst/>
                          <a:latin typeface="Times New Roman" panose="02020603050405020304" pitchFamily="18" charset="0"/>
                          <a:cs typeface="Times New Roman" panose="02020603050405020304" pitchFamily="18" charset="0"/>
                        </a:rPr>
                        <a:t>(Object key, Object value) </a:t>
                      </a:r>
                      <a:endParaRPr lang="fr-FR" sz="1600" dirty="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fr-FR" sz="1600" b="0" i="0">
                          <a:solidFill>
                            <a:srgbClr val="000000"/>
                          </a:solidFill>
                          <a:effectLst/>
                          <a:latin typeface="Times New Roman" panose="02020603050405020304" pitchFamily="18" charset="0"/>
                          <a:cs typeface="Times New Roman" panose="02020603050405020304" pitchFamily="18" charset="0"/>
                        </a:rPr>
                        <a:t>Ajouter un élément à la liste (pair clé-valeur)</a:t>
                      </a:r>
                      <a:endParaRPr lang="fr-FR" sz="160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9225">
                <a:tc>
                  <a:txBody>
                    <a:bodyPr/>
                    <a:lstStyle/>
                    <a:p>
                      <a:r>
                        <a:rPr lang="fr-FR" sz="1600" b="1" i="0">
                          <a:solidFill>
                            <a:srgbClr val="000000"/>
                          </a:solidFill>
                          <a:effectLst/>
                          <a:latin typeface="Times New Roman" panose="02020603050405020304" pitchFamily="18" charset="0"/>
                          <a:cs typeface="Times New Roman" panose="02020603050405020304" pitchFamily="18" charset="0"/>
                        </a:rPr>
                        <a:t>Remove(object key) </a:t>
                      </a:r>
                      <a:endParaRPr lang="fr-FR" sz="160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fr-FR" sz="1600" b="0" i="0">
                          <a:solidFill>
                            <a:srgbClr val="000000"/>
                          </a:solidFill>
                          <a:effectLst/>
                          <a:latin typeface="Times New Roman" panose="02020603050405020304" pitchFamily="18" charset="0"/>
                          <a:cs typeface="Times New Roman" panose="02020603050405020304" pitchFamily="18" charset="0"/>
                        </a:rPr>
                        <a:t>Enlève un élément de la liste dont la valeur correspond à la clé</a:t>
                      </a:r>
                      <a:endParaRPr lang="fr-FR" sz="160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79444">
                <a:tc>
                  <a:txBody>
                    <a:bodyPr/>
                    <a:lstStyle/>
                    <a:p>
                      <a:r>
                        <a:rPr lang="fr-FR" sz="1600" b="1" i="0" dirty="0" err="1">
                          <a:solidFill>
                            <a:srgbClr val="000000"/>
                          </a:solidFill>
                          <a:effectLst/>
                          <a:latin typeface="Times New Roman" panose="02020603050405020304" pitchFamily="18" charset="0"/>
                          <a:cs typeface="Times New Roman" panose="02020603050405020304" pitchFamily="18" charset="0"/>
                        </a:rPr>
                        <a:t>RemoveAt</a:t>
                      </a:r>
                      <a:r>
                        <a:rPr lang="fr-FR" sz="1600" b="1" i="0" dirty="0">
                          <a:solidFill>
                            <a:srgbClr val="000000"/>
                          </a:solidFill>
                          <a:effectLst/>
                          <a:latin typeface="Times New Roman" panose="02020603050405020304" pitchFamily="18" charset="0"/>
                          <a:cs typeface="Times New Roman" panose="02020603050405020304" pitchFamily="18" charset="0"/>
                        </a:rPr>
                        <a:t>(</a:t>
                      </a:r>
                      <a:r>
                        <a:rPr lang="fr-FR" sz="1600" b="1" i="0" dirty="0" err="1">
                          <a:solidFill>
                            <a:srgbClr val="000000"/>
                          </a:solidFill>
                          <a:effectLst/>
                          <a:latin typeface="Times New Roman" panose="02020603050405020304" pitchFamily="18" charset="0"/>
                          <a:cs typeface="Times New Roman" panose="02020603050405020304" pitchFamily="18" charset="0"/>
                        </a:rPr>
                        <a:t>int</a:t>
                      </a:r>
                      <a:r>
                        <a:rPr lang="fr-FR" sz="1600" b="1" i="0" dirty="0">
                          <a:solidFill>
                            <a:srgbClr val="000000"/>
                          </a:solidFill>
                          <a:effectLst/>
                          <a:latin typeface="Times New Roman" panose="02020603050405020304" pitchFamily="18" charset="0"/>
                          <a:cs typeface="Times New Roman" panose="02020603050405020304" pitchFamily="18" charset="0"/>
                        </a:rPr>
                        <a:t>) </a:t>
                      </a:r>
                      <a:endParaRPr lang="fr-FR" sz="1600" dirty="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fr-FR" sz="1600" b="0" i="0">
                          <a:solidFill>
                            <a:srgbClr val="000000"/>
                          </a:solidFill>
                          <a:effectLst/>
                          <a:latin typeface="Times New Roman" panose="02020603050405020304" pitchFamily="18" charset="0"/>
                          <a:cs typeface="Times New Roman" panose="02020603050405020304" pitchFamily="18" charset="0"/>
                        </a:rPr>
                        <a:t>Enlève un élément à l’indice fourni</a:t>
                      </a:r>
                      <a:endParaRPr lang="fr-FR" sz="160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69662">
                <a:tc>
                  <a:txBody>
                    <a:bodyPr/>
                    <a:lstStyle/>
                    <a:p>
                      <a:r>
                        <a:rPr lang="fr-FR" sz="1600" b="1" i="0" dirty="0" err="1">
                          <a:solidFill>
                            <a:srgbClr val="000000"/>
                          </a:solidFill>
                          <a:effectLst/>
                          <a:latin typeface="Times New Roman" panose="02020603050405020304" pitchFamily="18" charset="0"/>
                          <a:cs typeface="Times New Roman" panose="02020603050405020304" pitchFamily="18" charset="0"/>
                        </a:rPr>
                        <a:t>Clear</a:t>
                      </a:r>
                      <a:r>
                        <a:rPr lang="fr-FR" sz="1600" b="1" i="0" dirty="0">
                          <a:solidFill>
                            <a:srgbClr val="000000"/>
                          </a:solidFill>
                          <a:effectLst/>
                          <a:latin typeface="Times New Roman" panose="02020603050405020304" pitchFamily="18" charset="0"/>
                          <a:cs typeface="Times New Roman" panose="02020603050405020304" pitchFamily="18" charset="0"/>
                        </a:rPr>
                        <a:t>() </a:t>
                      </a:r>
                      <a:endParaRPr lang="fr-FR" sz="1600" dirty="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fr-FR" sz="1600" b="0" i="0" dirty="0">
                          <a:solidFill>
                            <a:srgbClr val="000000"/>
                          </a:solidFill>
                          <a:effectLst/>
                          <a:latin typeface="Times New Roman" panose="02020603050405020304" pitchFamily="18" charset="0"/>
                          <a:cs typeface="Times New Roman" panose="02020603050405020304" pitchFamily="18" charset="0"/>
                        </a:rPr>
                        <a:t>Vide le tableau</a:t>
                      </a:r>
                      <a:endParaRPr lang="fr-FR" sz="1600" dirty="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89225">
                <a:tc>
                  <a:txBody>
                    <a:bodyPr/>
                    <a:lstStyle/>
                    <a:p>
                      <a:r>
                        <a:rPr lang="fr-FR" sz="1600" b="1" i="0">
                          <a:solidFill>
                            <a:srgbClr val="000000"/>
                          </a:solidFill>
                          <a:effectLst/>
                          <a:latin typeface="Times New Roman" panose="02020603050405020304" pitchFamily="18" charset="0"/>
                          <a:cs typeface="Times New Roman" panose="02020603050405020304" pitchFamily="18" charset="0"/>
                        </a:rPr>
                        <a:t>ContainsKey(object Key) </a:t>
                      </a:r>
                      <a:endParaRPr lang="fr-FR" sz="160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fr-FR" sz="1600" b="0" i="0">
                          <a:solidFill>
                            <a:srgbClr val="000000"/>
                          </a:solidFill>
                          <a:effectLst/>
                          <a:latin typeface="Times New Roman" panose="02020603050405020304" pitchFamily="18" charset="0"/>
                          <a:cs typeface="Times New Roman" panose="02020603050405020304" pitchFamily="18" charset="0"/>
                        </a:rPr>
                        <a:t>Renvoie un booléen vrai si la clé fourni est présente dans la liste</a:t>
                      </a:r>
                      <a:endParaRPr lang="fr-FR" sz="160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89225">
                <a:tc>
                  <a:txBody>
                    <a:bodyPr/>
                    <a:lstStyle/>
                    <a:p>
                      <a:r>
                        <a:rPr lang="fr-FR" sz="1600" b="1" i="0" dirty="0" err="1">
                          <a:solidFill>
                            <a:srgbClr val="000000"/>
                          </a:solidFill>
                          <a:effectLst/>
                          <a:latin typeface="Times New Roman" panose="02020603050405020304" pitchFamily="18" charset="0"/>
                          <a:cs typeface="Times New Roman" panose="02020603050405020304" pitchFamily="18" charset="0"/>
                        </a:rPr>
                        <a:t>ContainsValue</a:t>
                      </a:r>
                      <a:r>
                        <a:rPr lang="fr-FR" sz="1600" b="1" i="0" dirty="0">
                          <a:solidFill>
                            <a:srgbClr val="000000"/>
                          </a:solidFill>
                          <a:effectLst/>
                          <a:latin typeface="Times New Roman" panose="02020603050405020304" pitchFamily="18" charset="0"/>
                          <a:cs typeface="Times New Roman" panose="02020603050405020304" pitchFamily="18" charset="0"/>
                        </a:rPr>
                        <a:t>(</a:t>
                      </a:r>
                      <a:r>
                        <a:rPr lang="fr-FR" sz="1600" b="1" i="0" dirty="0" err="1">
                          <a:solidFill>
                            <a:srgbClr val="000000"/>
                          </a:solidFill>
                          <a:effectLst/>
                          <a:latin typeface="Times New Roman" panose="02020603050405020304" pitchFamily="18" charset="0"/>
                          <a:cs typeface="Times New Roman" panose="02020603050405020304" pitchFamily="18" charset="0"/>
                        </a:rPr>
                        <a:t>object</a:t>
                      </a:r>
                      <a:r>
                        <a:rPr lang="fr-FR" sz="1600" b="1" i="0" dirty="0">
                          <a:solidFill>
                            <a:srgbClr val="000000"/>
                          </a:solidFill>
                          <a:effectLst/>
                          <a:latin typeface="Times New Roman" panose="02020603050405020304" pitchFamily="18" charset="0"/>
                          <a:cs typeface="Times New Roman" panose="02020603050405020304" pitchFamily="18" charset="0"/>
                        </a:rPr>
                        <a:t> value) </a:t>
                      </a:r>
                      <a:endParaRPr lang="fr-FR" sz="1600" dirty="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fr-FR" sz="1600" b="0" i="0">
                          <a:solidFill>
                            <a:srgbClr val="000000"/>
                          </a:solidFill>
                          <a:effectLst/>
                          <a:latin typeface="Times New Roman" panose="02020603050405020304" pitchFamily="18" charset="0"/>
                          <a:cs typeface="Times New Roman" panose="02020603050405020304" pitchFamily="18" charset="0"/>
                        </a:rPr>
                        <a:t>Renvoie un booléen vrai si la valeur fourni est présente dans la liste</a:t>
                      </a:r>
                      <a:endParaRPr lang="fr-FR" sz="160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89225">
                <a:tc>
                  <a:txBody>
                    <a:bodyPr/>
                    <a:lstStyle/>
                    <a:p>
                      <a:r>
                        <a:rPr lang="fr-FR" sz="1600" b="1" i="0">
                          <a:solidFill>
                            <a:srgbClr val="000000"/>
                          </a:solidFill>
                          <a:effectLst/>
                          <a:latin typeface="Times New Roman" panose="02020603050405020304" pitchFamily="18" charset="0"/>
                          <a:cs typeface="Times New Roman" panose="02020603050405020304" pitchFamily="18" charset="0"/>
                        </a:rPr>
                        <a:t>GetKey(int index) </a:t>
                      </a:r>
                      <a:endParaRPr lang="fr-FR" sz="160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fr-FR" sz="1600" b="0" i="0">
                          <a:solidFill>
                            <a:srgbClr val="000000"/>
                          </a:solidFill>
                          <a:effectLst/>
                          <a:latin typeface="Times New Roman" panose="02020603050405020304" pitchFamily="18" charset="0"/>
                          <a:cs typeface="Times New Roman" panose="02020603050405020304" pitchFamily="18" charset="0"/>
                        </a:rPr>
                        <a:t>Renvoie la clé correspondant à l’indice spécifié</a:t>
                      </a:r>
                      <a:endParaRPr lang="fr-FR" sz="160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389225">
                <a:tc>
                  <a:txBody>
                    <a:bodyPr/>
                    <a:lstStyle/>
                    <a:p>
                      <a:r>
                        <a:rPr lang="fr-FR" sz="1600" b="1" i="0">
                          <a:solidFill>
                            <a:srgbClr val="000000"/>
                          </a:solidFill>
                          <a:effectLst/>
                          <a:latin typeface="Times New Roman" panose="02020603050405020304" pitchFamily="18" charset="0"/>
                          <a:cs typeface="Times New Roman" panose="02020603050405020304" pitchFamily="18" charset="0"/>
                        </a:rPr>
                        <a:t>GetByIndex(int index) </a:t>
                      </a:r>
                      <a:endParaRPr lang="fr-FR" sz="160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fr-FR" sz="1600" b="0" i="0">
                          <a:solidFill>
                            <a:srgbClr val="000000"/>
                          </a:solidFill>
                          <a:effectLst/>
                          <a:latin typeface="Times New Roman" panose="02020603050405020304" pitchFamily="18" charset="0"/>
                          <a:cs typeface="Times New Roman" panose="02020603050405020304" pitchFamily="18" charset="0"/>
                        </a:rPr>
                        <a:t>Renvoie la valeur correspondant à l’indice spécifié</a:t>
                      </a:r>
                      <a:endParaRPr lang="fr-FR" sz="160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79444">
                <a:tc>
                  <a:txBody>
                    <a:bodyPr/>
                    <a:lstStyle/>
                    <a:p>
                      <a:r>
                        <a:rPr lang="fr-FR" sz="1600" b="1" i="0">
                          <a:solidFill>
                            <a:srgbClr val="000000"/>
                          </a:solidFill>
                          <a:effectLst/>
                          <a:latin typeface="Times New Roman" panose="02020603050405020304" pitchFamily="18" charset="0"/>
                          <a:cs typeface="Times New Roman" panose="02020603050405020304" pitchFamily="18" charset="0"/>
                        </a:rPr>
                        <a:t>IndexOfKey(Object Key) </a:t>
                      </a:r>
                      <a:endParaRPr lang="fr-FR" sz="160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fr-FR" sz="1600" b="0" i="0">
                          <a:solidFill>
                            <a:srgbClr val="000000"/>
                          </a:solidFill>
                          <a:effectLst/>
                          <a:latin typeface="Times New Roman" panose="02020603050405020304" pitchFamily="18" charset="0"/>
                          <a:cs typeface="Times New Roman" panose="02020603050405020304" pitchFamily="18" charset="0"/>
                        </a:rPr>
                        <a:t>Renvoie l’indice correspondant à une clé</a:t>
                      </a:r>
                      <a:endParaRPr lang="fr-FR" sz="160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79444">
                <a:tc>
                  <a:txBody>
                    <a:bodyPr/>
                    <a:lstStyle/>
                    <a:p>
                      <a:r>
                        <a:rPr lang="fr-FR" sz="1600" b="1" i="0">
                          <a:solidFill>
                            <a:srgbClr val="000000"/>
                          </a:solidFill>
                          <a:effectLst/>
                          <a:latin typeface="Times New Roman" panose="02020603050405020304" pitchFamily="18" charset="0"/>
                          <a:cs typeface="Times New Roman" panose="02020603050405020304" pitchFamily="18" charset="0"/>
                        </a:rPr>
                        <a:t>IndexOfValue(Object value) </a:t>
                      </a:r>
                      <a:endParaRPr lang="fr-FR" sz="160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fr-FR" sz="1600" b="0" i="0" dirty="0">
                          <a:solidFill>
                            <a:srgbClr val="000000"/>
                          </a:solidFill>
                          <a:effectLst/>
                          <a:latin typeface="Times New Roman" panose="02020603050405020304" pitchFamily="18" charset="0"/>
                          <a:cs typeface="Times New Roman" panose="02020603050405020304" pitchFamily="18" charset="0"/>
                        </a:rPr>
                        <a:t>Renvoie l’indice correspondant à une valeur</a:t>
                      </a:r>
                      <a:endParaRPr lang="fr-FR" sz="1600" dirty="0">
                        <a:effectLst/>
                        <a:latin typeface="Times New Roman" panose="02020603050405020304" pitchFamily="18" charset="0"/>
                        <a:cs typeface="Times New Roman" panose="02020603050405020304" pitchFamily="18" charset="0"/>
                      </a:endParaRPr>
                    </a:p>
                  </a:txBody>
                  <a:tcPr marL="59881" marR="59881" marT="29940" marB="299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972462179"/>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5016758"/>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La classe </a:t>
            </a:r>
            <a:r>
              <a:rPr lang="fr-FR" sz="2000" b="1" dirty="0" err="1" smtClean="0">
                <a:solidFill>
                  <a:srgbClr val="C00000"/>
                </a:solidFill>
                <a:latin typeface="Times New Roman" panose="02020603050405020304" pitchFamily="18" charset="0"/>
                <a:cs typeface="Times New Roman" panose="02020603050405020304" pitchFamily="18" charset="0"/>
              </a:rPr>
              <a:t>Stack</a:t>
            </a:r>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La classe </a:t>
            </a:r>
            <a:r>
              <a:rPr lang="fr-FR" sz="2000" dirty="0" err="1">
                <a:latin typeface="Times New Roman" panose="02020603050405020304" pitchFamily="18" charset="0"/>
                <a:cs typeface="Times New Roman" panose="02020603050405020304" pitchFamily="18" charset="0"/>
              </a:rPr>
              <a:t>Stack</a:t>
            </a:r>
            <a:r>
              <a:rPr lang="fr-FR" sz="2000" dirty="0">
                <a:latin typeface="Times New Roman" panose="02020603050405020304" pitchFamily="18" charset="0"/>
                <a:cs typeface="Times New Roman" panose="02020603050405020304" pitchFamily="18" charset="0"/>
              </a:rPr>
              <a:t> représente une collection d’objets LIFO(Last In First Out). Lorsque vous ajoutez un élément dans la liste, cela s’appelle Push ou Empiler et lorsque vous le supprimez, cela s’appelle Pop ou Dépiler</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Exemple :</a:t>
            </a:r>
          </a:p>
          <a:p>
            <a:pPr lvl="1" algn="just"/>
            <a:r>
              <a:rPr lang="fr-FR" sz="2000" dirty="0" err="1">
                <a:latin typeface="Times New Roman" panose="02020603050405020304" pitchFamily="18" charset="0"/>
                <a:cs typeface="Times New Roman" panose="02020603050405020304" pitchFamily="18" charset="0"/>
              </a:rPr>
              <a:t>Stack</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languages</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Stack</a:t>
            </a:r>
            <a:r>
              <a:rPr lang="fr-FR" sz="2000" dirty="0">
                <a:latin typeface="Times New Roman" panose="02020603050405020304" pitchFamily="18" charset="0"/>
                <a:cs typeface="Times New Roman" panose="02020603050405020304" pitchFamily="18" charset="0"/>
              </a:rPr>
              <a:t>();  </a:t>
            </a:r>
          </a:p>
          <a:p>
            <a:pPr lvl="1" algn="just"/>
            <a:r>
              <a:rPr lang="fr-FR" sz="2000" dirty="0" err="1">
                <a:latin typeface="Times New Roman" panose="02020603050405020304" pitchFamily="18" charset="0"/>
                <a:cs typeface="Times New Roman" panose="02020603050405020304" pitchFamily="18" charset="0"/>
              </a:rPr>
              <a:t>languages.Push</a:t>
            </a:r>
            <a:r>
              <a:rPr lang="fr-FR" sz="2000" dirty="0">
                <a:latin typeface="Times New Roman" panose="02020603050405020304" pitchFamily="18" charset="0"/>
                <a:cs typeface="Times New Roman" panose="02020603050405020304" pitchFamily="18" charset="0"/>
              </a:rPr>
              <a:t>("Java");  </a:t>
            </a:r>
          </a:p>
          <a:p>
            <a:pPr lvl="1" algn="just"/>
            <a:r>
              <a:rPr lang="fr-FR" sz="2000" dirty="0" err="1">
                <a:latin typeface="Times New Roman" panose="02020603050405020304" pitchFamily="18" charset="0"/>
                <a:cs typeface="Times New Roman" panose="02020603050405020304" pitchFamily="18" charset="0"/>
              </a:rPr>
              <a:t>languages.Push</a:t>
            </a:r>
            <a:r>
              <a:rPr lang="fr-FR" sz="2000" dirty="0">
                <a:latin typeface="Times New Roman" panose="02020603050405020304" pitchFamily="18" charset="0"/>
                <a:cs typeface="Times New Roman" panose="02020603050405020304" pitchFamily="18" charset="0"/>
              </a:rPr>
              <a:t>("C#");  </a:t>
            </a:r>
          </a:p>
          <a:p>
            <a:pPr lvl="1" algn="just"/>
            <a:r>
              <a:rPr lang="fr-FR" sz="2000" dirty="0" err="1">
                <a:latin typeface="Times New Roman" panose="02020603050405020304" pitchFamily="18" charset="0"/>
                <a:cs typeface="Times New Roman" panose="02020603050405020304" pitchFamily="18" charset="0"/>
              </a:rPr>
              <a:t>languages.Push</a:t>
            </a:r>
            <a:r>
              <a:rPr lang="fr-FR" sz="2000" dirty="0">
                <a:latin typeface="Times New Roman" panose="02020603050405020304" pitchFamily="18" charset="0"/>
                <a:cs typeface="Times New Roman" panose="02020603050405020304" pitchFamily="18" charset="0"/>
              </a:rPr>
              <a:t>("Python");  </a:t>
            </a:r>
          </a:p>
          <a:p>
            <a:pPr lvl="1" algn="just"/>
            <a:r>
              <a:rPr lang="fr-FR" sz="2000" dirty="0" err="1">
                <a:latin typeface="Times New Roman" panose="02020603050405020304" pitchFamily="18" charset="0"/>
                <a:cs typeface="Times New Roman" panose="02020603050405020304" pitchFamily="18" charset="0"/>
              </a:rPr>
              <a:t>languages.Push</a:t>
            </a:r>
            <a:r>
              <a:rPr lang="fr-FR" sz="2000" dirty="0">
                <a:latin typeface="Times New Roman" panose="02020603050405020304" pitchFamily="18" charset="0"/>
                <a:cs typeface="Times New Roman" panose="02020603050405020304" pitchFamily="18" charset="0"/>
              </a:rPr>
              <a:t>("C++");  </a:t>
            </a:r>
          </a:p>
          <a:p>
            <a:pPr lvl="1" algn="just"/>
            <a:r>
              <a:rPr lang="fr-FR" sz="2000" dirty="0" err="1">
                <a:latin typeface="Times New Roman" panose="02020603050405020304" pitchFamily="18" charset="0"/>
                <a:cs typeface="Times New Roman" panose="02020603050405020304" pitchFamily="18" charset="0"/>
              </a:rPr>
              <a:t>foreach</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object</a:t>
            </a:r>
            <a:r>
              <a:rPr lang="fr-FR" sz="2000" dirty="0">
                <a:latin typeface="Times New Roman" panose="02020603050405020304" pitchFamily="18" charset="0"/>
                <a:cs typeface="Times New Roman" panose="02020603050405020304" pitchFamily="18" charset="0"/>
              </a:rPr>
              <a:t> o in </a:t>
            </a:r>
            <a:r>
              <a:rPr lang="fr-FR" sz="2000" dirty="0" err="1">
                <a:latin typeface="Times New Roman" panose="02020603050405020304" pitchFamily="18" charset="0"/>
                <a:cs typeface="Times New Roman" panose="02020603050405020304" pitchFamily="18" charset="0"/>
              </a:rPr>
              <a:t>languages</a:t>
            </a:r>
            <a:r>
              <a:rPr lang="fr-FR" sz="2000" dirty="0">
                <a:latin typeface="Times New Roman" panose="02020603050405020304" pitchFamily="18" charset="0"/>
                <a:cs typeface="Times New Roman" panose="02020603050405020304" pitchFamily="18" charset="0"/>
              </a:rPr>
              <a:t>)  </a:t>
            </a:r>
          </a:p>
          <a:p>
            <a:pPr lvl="1" algn="just"/>
            <a:r>
              <a:rPr lang="fr-FR" sz="2000" dirty="0">
                <a:latin typeface="Times New Roman" panose="02020603050405020304" pitchFamily="18" charset="0"/>
                <a:cs typeface="Times New Roman" panose="02020603050405020304" pitchFamily="18" charset="0"/>
              </a:rPr>
              <a:t>{</a:t>
            </a:r>
          </a:p>
          <a:p>
            <a:pPr lvl="1"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(o);</a:t>
            </a:r>
          </a:p>
          <a:p>
            <a:pPr lvl="1" algn="just"/>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0505698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5016758"/>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La classe Queue</a:t>
            </a:r>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La classe Queue représente une collection d’objets FIFO(First In First Out). Lorsque vous ajoutez un élément à la liste, cela s’appelle « </a:t>
            </a:r>
            <a:r>
              <a:rPr lang="fr-FR" sz="2000" dirty="0" err="1">
                <a:latin typeface="Times New Roman" panose="02020603050405020304" pitchFamily="18" charset="0"/>
                <a:cs typeface="Times New Roman" panose="02020603050405020304" pitchFamily="18" charset="0"/>
              </a:rPr>
              <a:t>Enqueue</a:t>
            </a:r>
            <a:r>
              <a:rPr lang="fr-FR" sz="2000" dirty="0">
                <a:latin typeface="Times New Roman" panose="02020603050405020304" pitchFamily="18" charset="0"/>
                <a:cs typeface="Times New Roman" panose="02020603050405020304" pitchFamily="18" charset="0"/>
              </a:rPr>
              <a:t> » ou « Enfiler » et lorsque vous supprimez un élément, cela s’appelle « </a:t>
            </a:r>
            <a:r>
              <a:rPr lang="fr-FR" sz="2000" dirty="0" err="1">
                <a:latin typeface="Times New Roman" panose="02020603050405020304" pitchFamily="18" charset="0"/>
                <a:cs typeface="Times New Roman" panose="02020603050405020304" pitchFamily="18" charset="0"/>
              </a:rPr>
              <a:t>Dequeue</a:t>
            </a:r>
            <a:r>
              <a:rPr lang="fr-FR" sz="2000" dirty="0">
                <a:latin typeface="Times New Roman" panose="02020603050405020304" pitchFamily="18" charset="0"/>
                <a:cs typeface="Times New Roman" panose="02020603050405020304" pitchFamily="18" charset="0"/>
              </a:rPr>
              <a:t> » ou « Défiler </a:t>
            </a:r>
            <a:r>
              <a:rPr lang="fr-FR" sz="2000" dirty="0" smtClean="0">
                <a:latin typeface="Times New Roman" panose="02020603050405020304" pitchFamily="18" charset="0"/>
                <a:cs typeface="Times New Roman" panose="02020603050405020304" pitchFamily="18" charset="0"/>
              </a:rPr>
              <a:t>».</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Exemple :</a:t>
            </a:r>
            <a:endParaRPr lang="fr-FR" sz="2000" b="1" dirty="0">
              <a:latin typeface="Times New Roman" panose="02020603050405020304" pitchFamily="18" charset="0"/>
              <a:cs typeface="Times New Roman" panose="02020603050405020304" pitchFamily="18" charset="0"/>
            </a:endParaRPr>
          </a:p>
          <a:p>
            <a:pPr lvl="1" algn="just"/>
            <a:r>
              <a:rPr lang="fr-FR" sz="2000" dirty="0">
                <a:latin typeface="Times New Roman" panose="02020603050405020304" pitchFamily="18" charset="0"/>
                <a:cs typeface="Times New Roman" panose="02020603050405020304" pitchFamily="18" charset="0"/>
              </a:rPr>
              <a:t>Queue </a:t>
            </a:r>
            <a:r>
              <a:rPr lang="fr-FR" sz="2000" dirty="0" err="1">
                <a:latin typeface="Times New Roman" panose="02020603050405020304" pitchFamily="18" charset="0"/>
                <a:cs typeface="Times New Roman" panose="02020603050405020304" pitchFamily="18" charset="0"/>
              </a:rPr>
              <a:t>languages</a:t>
            </a:r>
            <a:r>
              <a:rPr lang="fr-FR" sz="2000" dirty="0">
                <a:latin typeface="Times New Roman" panose="02020603050405020304" pitchFamily="18" charset="0"/>
                <a:cs typeface="Times New Roman" panose="02020603050405020304" pitchFamily="18" charset="0"/>
              </a:rPr>
              <a:t> = new Queue(); </a:t>
            </a:r>
          </a:p>
          <a:p>
            <a:pPr lvl="1" algn="just"/>
            <a:r>
              <a:rPr lang="fr-FR" sz="2000" dirty="0" err="1">
                <a:latin typeface="Times New Roman" panose="02020603050405020304" pitchFamily="18" charset="0"/>
                <a:cs typeface="Times New Roman" panose="02020603050405020304" pitchFamily="18" charset="0"/>
              </a:rPr>
              <a:t>languages.Enqueue</a:t>
            </a:r>
            <a:r>
              <a:rPr lang="fr-FR" sz="2000" dirty="0">
                <a:latin typeface="Times New Roman" panose="02020603050405020304" pitchFamily="18" charset="0"/>
                <a:cs typeface="Times New Roman" panose="02020603050405020304" pitchFamily="18" charset="0"/>
              </a:rPr>
              <a:t>("Java");  </a:t>
            </a:r>
          </a:p>
          <a:p>
            <a:pPr lvl="1" algn="just"/>
            <a:r>
              <a:rPr lang="fr-FR" sz="2000" dirty="0" err="1">
                <a:latin typeface="Times New Roman" panose="02020603050405020304" pitchFamily="18" charset="0"/>
                <a:cs typeface="Times New Roman" panose="02020603050405020304" pitchFamily="18" charset="0"/>
              </a:rPr>
              <a:t>languages.Enqueue</a:t>
            </a:r>
            <a:r>
              <a:rPr lang="fr-FR" sz="2000" dirty="0">
                <a:latin typeface="Times New Roman" panose="02020603050405020304" pitchFamily="18" charset="0"/>
                <a:cs typeface="Times New Roman" panose="02020603050405020304" pitchFamily="18" charset="0"/>
              </a:rPr>
              <a:t>("C#");  </a:t>
            </a:r>
          </a:p>
          <a:p>
            <a:pPr lvl="1" algn="just"/>
            <a:r>
              <a:rPr lang="fr-FR" sz="2000" dirty="0" err="1">
                <a:latin typeface="Times New Roman" panose="02020603050405020304" pitchFamily="18" charset="0"/>
                <a:cs typeface="Times New Roman" panose="02020603050405020304" pitchFamily="18" charset="0"/>
              </a:rPr>
              <a:t>languages.Enqueue</a:t>
            </a:r>
            <a:r>
              <a:rPr lang="fr-FR" sz="2000" dirty="0">
                <a:latin typeface="Times New Roman" panose="02020603050405020304" pitchFamily="18" charset="0"/>
                <a:cs typeface="Times New Roman" panose="02020603050405020304" pitchFamily="18" charset="0"/>
              </a:rPr>
              <a:t>("Python");  </a:t>
            </a:r>
          </a:p>
          <a:p>
            <a:pPr lvl="1" algn="just"/>
            <a:r>
              <a:rPr lang="fr-FR" sz="2000" dirty="0" err="1">
                <a:latin typeface="Times New Roman" panose="02020603050405020304" pitchFamily="18" charset="0"/>
                <a:cs typeface="Times New Roman" panose="02020603050405020304" pitchFamily="18" charset="0"/>
              </a:rPr>
              <a:t>languages.Enqueue</a:t>
            </a:r>
            <a:r>
              <a:rPr lang="fr-FR" sz="2000" dirty="0">
                <a:latin typeface="Times New Roman" panose="02020603050405020304" pitchFamily="18" charset="0"/>
                <a:cs typeface="Times New Roman" panose="02020603050405020304" pitchFamily="18" charset="0"/>
              </a:rPr>
              <a:t>("C++");  </a:t>
            </a:r>
          </a:p>
          <a:p>
            <a:pPr lvl="1" algn="just"/>
            <a:r>
              <a:rPr lang="fr-FR" sz="2000" dirty="0" err="1">
                <a:latin typeface="Times New Roman" panose="02020603050405020304" pitchFamily="18" charset="0"/>
                <a:cs typeface="Times New Roman" panose="02020603050405020304" pitchFamily="18" charset="0"/>
              </a:rPr>
              <a:t>foreach</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object</a:t>
            </a:r>
            <a:r>
              <a:rPr lang="fr-FR" sz="2000" dirty="0">
                <a:latin typeface="Times New Roman" panose="02020603050405020304" pitchFamily="18" charset="0"/>
                <a:cs typeface="Times New Roman" panose="02020603050405020304" pitchFamily="18" charset="0"/>
              </a:rPr>
              <a:t> o in </a:t>
            </a:r>
            <a:r>
              <a:rPr lang="fr-FR" sz="2000" dirty="0" err="1">
                <a:latin typeface="Times New Roman" panose="02020603050405020304" pitchFamily="18" charset="0"/>
                <a:cs typeface="Times New Roman" panose="02020603050405020304" pitchFamily="18" charset="0"/>
              </a:rPr>
              <a:t>languages</a:t>
            </a:r>
            <a:r>
              <a:rPr lang="fr-FR" sz="2000" dirty="0">
                <a:latin typeface="Times New Roman" panose="02020603050405020304" pitchFamily="18" charset="0"/>
                <a:cs typeface="Times New Roman" panose="02020603050405020304" pitchFamily="18" charset="0"/>
              </a:rPr>
              <a:t>)  </a:t>
            </a:r>
          </a:p>
          <a:p>
            <a:pPr lvl="1" algn="just"/>
            <a:r>
              <a:rPr lang="fr-FR" sz="2000" dirty="0">
                <a:latin typeface="Times New Roman" panose="02020603050405020304" pitchFamily="18" charset="0"/>
                <a:cs typeface="Times New Roman" panose="02020603050405020304" pitchFamily="18" charset="0"/>
              </a:rPr>
              <a:t>{</a:t>
            </a:r>
          </a:p>
          <a:p>
            <a:pPr lvl="1"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(o);</a:t>
            </a:r>
          </a:p>
          <a:p>
            <a:pPr lvl="1" algn="just"/>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53509977"/>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2246769"/>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Les </a:t>
            </a:r>
            <a:r>
              <a:rPr lang="fr-FR" sz="2000" b="1" dirty="0">
                <a:solidFill>
                  <a:srgbClr val="C00000"/>
                </a:solidFill>
                <a:latin typeface="Times New Roman" panose="02020603050405020304" pitchFamily="18" charset="0"/>
                <a:cs typeface="Times New Roman" panose="02020603050405020304" pitchFamily="18" charset="0"/>
              </a:rPr>
              <a:t>collections génériques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Les collections génériques fonctionnent sur un type spécifique, tandis que les collections non génériques fonctionnent sur le type « Object ». Avant d’utiliser les collections non génériques, vous devez inclure l’espace de nom suivant : </a:t>
            </a:r>
            <a:endParaRPr lang="fr-FR" sz="2000" dirty="0" smtClean="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err="1" smtClean="0">
                <a:latin typeface="Times New Roman" panose="02020603050405020304" pitchFamily="18" charset="0"/>
                <a:cs typeface="Times New Roman" panose="02020603050405020304" pitchFamily="18" charset="0"/>
              </a:rPr>
              <a:t>using</a:t>
            </a:r>
            <a:r>
              <a:rPr lang="fr-FR" sz="2000" dirty="0" smtClean="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System.Collections.Generic</a:t>
            </a:r>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32177469"/>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6863417"/>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La </a:t>
            </a:r>
            <a:r>
              <a:rPr lang="fr-FR" sz="2000" b="1" dirty="0">
                <a:solidFill>
                  <a:srgbClr val="C00000"/>
                </a:solidFill>
                <a:latin typeface="Times New Roman" panose="02020603050405020304" pitchFamily="18" charset="0"/>
                <a:cs typeface="Times New Roman" panose="02020603050405020304" pitchFamily="18" charset="0"/>
              </a:rPr>
              <a:t>classe List&lt;T&gt;</a:t>
            </a:r>
            <a:endParaRPr lang="fr-FR" sz="2000" b="1" dirty="0" smtClean="0">
              <a:solidFill>
                <a:srgbClr val="C00000"/>
              </a:solidFill>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La classe </a:t>
            </a:r>
            <a:r>
              <a:rPr lang="fr-FR" sz="2000" dirty="0" smtClean="0">
                <a:latin typeface="Times New Roman" panose="02020603050405020304" pitchFamily="18" charset="0"/>
                <a:cs typeface="Times New Roman" panose="02020603050405020304" pitchFamily="18" charset="0"/>
              </a:rPr>
              <a:t>List&lt;T&gt; </a:t>
            </a:r>
            <a:r>
              <a:rPr lang="fr-FR" sz="2000" dirty="0">
                <a:latin typeface="Times New Roman" panose="02020603050405020304" pitchFamily="18" charset="0"/>
                <a:cs typeface="Times New Roman" panose="02020603050405020304" pitchFamily="18" charset="0"/>
              </a:rPr>
              <a:t>permet d'implémenter des collections d'objets de type T dont la taille varie au cours de</a:t>
            </a:r>
          </a:p>
          <a:p>
            <a:pPr algn="just"/>
            <a:r>
              <a:rPr lang="fr-FR" sz="2000" dirty="0">
                <a:latin typeface="Times New Roman" panose="02020603050405020304" pitchFamily="18" charset="0"/>
                <a:cs typeface="Times New Roman" panose="02020603050405020304" pitchFamily="18" charset="0"/>
              </a:rPr>
              <a:t>l'exécution du programme</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Il s’agit d’un tableau dynamique offrant des fonctionnalités similaires à celles de la classe non générique </a:t>
            </a:r>
            <a:r>
              <a:rPr lang="fr-FR" sz="2000" dirty="0" err="1">
                <a:latin typeface="Times New Roman" panose="02020603050405020304" pitchFamily="18" charset="0"/>
                <a:cs typeface="Times New Roman" panose="02020603050405020304" pitchFamily="18" charset="0"/>
              </a:rPr>
              <a:t>ArrayList</a:t>
            </a:r>
            <a:r>
              <a:rPr lang="fr-FR" sz="2000" dirty="0" smtClean="0">
                <a:latin typeface="Times New Roman" panose="02020603050405020304" pitchFamily="18" charset="0"/>
                <a:cs typeface="Times New Roman" panose="02020603050405020304" pitchFamily="18" charset="0"/>
              </a:rPr>
              <a:t>.</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Exemple :</a:t>
            </a:r>
            <a:endParaRPr lang="fr-FR" sz="2000" b="1"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creer</a:t>
            </a:r>
            <a:r>
              <a:rPr lang="fr-FR" sz="2000" dirty="0">
                <a:latin typeface="Times New Roman" panose="02020603050405020304" pitchFamily="18" charset="0"/>
                <a:cs typeface="Times New Roman" panose="02020603050405020304" pitchFamily="18" charset="0"/>
              </a:rPr>
              <a:t> 3 personnes</a:t>
            </a:r>
          </a:p>
          <a:p>
            <a:pPr lvl="2" algn="just"/>
            <a:r>
              <a:rPr lang="fr-FR" sz="2000" dirty="0">
                <a:latin typeface="Times New Roman" panose="02020603050405020304" pitchFamily="18" charset="0"/>
                <a:cs typeface="Times New Roman" panose="02020603050405020304" pitchFamily="18" charset="0"/>
              </a:rPr>
              <a:t>personne p1 = new personne("nom1", "prenom1", 23, "Ville1");</a:t>
            </a:r>
          </a:p>
          <a:p>
            <a:pPr lvl="2" algn="just"/>
            <a:r>
              <a:rPr lang="fr-FR" sz="2000" dirty="0">
                <a:latin typeface="Times New Roman" panose="02020603050405020304" pitchFamily="18" charset="0"/>
                <a:cs typeface="Times New Roman" panose="02020603050405020304" pitchFamily="18" charset="0"/>
              </a:rPr>
              <a:t>personne p2 = new personne("nom2", "prenom2", 24, "Ville2");</a:t>
            </a:r>
          </a:p>
          <a:p>
            <a:pPr lvl="2" algn="just"/>
            <a:r>
              <a:rPr lang="fr-FR" sz="2000" dirty="0">
                <a:latin typeface="Times New Roman" panose="02020603050405020304" pitchFamily="18" charset="0"/>
                <a:cs typeface="Times New Roman" panose="02020603050405020304" pitchFamily="18" charset="0"/>
              </a:rPr>
              <a:t>personne p3 = new personne("nom3", "prenom3", 25, "Ville3") ;</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creer</a:t>
            </a:r>
            <a:r>
              <a:rPr lang="fr-FR" sz="2000" dirty="0">
                <a:latin typeface="Times New Roman" panose="02020603050405020304" pitchFamily="18" charset="0"/>
                <a:cs typeface="Times New Roman" panose="02020603050405020304" pitchFamily="18" charset="0"/>
              </a:rPr>
              <a:t> la liste</a:t>
            </a:r>
          </a:p>
          <a:p>
            <a:pPr lvl="2" algn="just"/>
            <a:r>
              <a:rPr lang="fr-FR" sz="2000" dirty="0">
                <a:latin typeface="Times New Roman" panose="02020603050405020304" pitchFamily="18" charset="0"/>
                <a:cs typeface="Times New Roman" panose="02020603050405020304" pitchFamily="18" charset="0"/>
              </a:rPr>
              <a:t>List&lt;personne&gt; </a:t>
            </a:r>
            <a:r>
              <a:rPr lang="fr-FR" sz="2000" dirty="0" err="1">
                <a:latin typeface="Times New Roman" panose="02020603050405020304" pitchFamily="18" charset="0"/>
                <a:cs typeface="Times New Roman" panose="02020603050405020304" pitchFamily="18" charset="0"/>
              </a:rPr>
              <a:t>list</a:t>
            </a:r>
            <a:r>
              <a:rPr lang="fr-FR" sz="2000" dirty="0">
                <a:latin typeface="Times New Roman" panose="02020603050405020304" pitchFamily="18" charset="0"/>
                <a:cs typeface="Times New Roman" panose="02020603050405020304" pitchFamily="18" charset="0"/>
              </a:rPr>
              <a:t> = new List&lt;personne&gt;();</a:t>
            </a:r>
          </a:p>
          <a:p>
            <a:pPr lvl="2" algn="just"/>
            <a:r>
              <a:rPr lang="fr-FR" sz="2000" dirty="0">
                <a:latin typeface="Times New Roman" panose="02020603050405020304" pitchFamily="18" charset="0"/>
                <a:cs typeface="Times New Roman" panose="02020603050405020304" pitchFamily="18" charset="0"/>
              </a:rPr>
              <a:t>// remplir la liste</a:t>
            </a:r>
          </a:p>
          <a:p>
            <a:pPr lvl="2" algn="just"/>
            <a:r>
              <a:rPr lang="fr-FR" sz="2000" dirty="0" err="1">
                <a:latin typeface="Times New Roman" panose="02020603050405020304" pitchFamily="18" charset="0"/>
                <a:cs typeface="Times New Roman" panose="02020603050405020304" pitchFamily="18" charset="0"/>
              </a:rPr>
              <a:t>list.Add</a:t>
            </a:r>
            <a:r>
              <a:rPr lang="fr-FR" sz="2000" dirty="0">
                <a:latin typeface="Times New Roman" panose="02020603050405020304" pitchFamily="18" charset="0"/>
                <a:cs typeface="Times New Roman" panose="02020603050405020304" pitchFamily="18" charset="0"/>
              </a:rPr>
              <a:t>(p1);</a:t>
            </a:r>
          </a:p>
          <a:p>
            <a:pPr lvl="2" algn="just"/>
            <a:r>
              <a:rPr lang="fr-FR" sz="2000" dirty="0" err="1">
                <a:latin typeface="Times New Roman" panose="02020603050405020304" pitchFamily="18" charset="0"/>
                <a:cs typeface="Times New Roman" panose="02020603050405020304" pitchFamily="18" charset="0"/>
              </a:rPr>
              <a:t>list.Add</a:t>
            </a:r>
            <a:r>
              <a:rPr lang="fr-FR" sz="2000" dirty="0">
                <a:latin typeface="Times New Roman" panose="02020603050405020304" pitchFamily="18" charset="0"/>
                <a:cs typeface="Times New Roman" panose="02020603050405020304" pitchFamily="18" charset="0"/>
              </a:rPr>
              <a:t>(p2);</a:t>
            </a:r>
          </a:p>
          <a:p>
            <a:pPr lvl="2" algn="just"/>
            <a:r>
              <a:rPr lang="fr-FR" sz="2000" dirty="0" err="1">
                <a:latin typeface="Times New Roman" panose="02020603050405020304" pitchFamily="18" charset="0"/>
                <a:cs typeface="Times New Roman" panose="02020603050405020304" pitchFamily="18" charset="0"/>
              </a:rPr>
              <a:t>list.Add</a:t>
            </a:r>
            <a:r>
              <a:rPr lang="fr-FR" sz="2000" dirty="0">
                <a:latin typeface="Times New Roman" panose="02020603050405020304" pitchFamily="18" charset="0"/>
                <a:cs typeface="Times New Roman" panose="02020603050405020304" pitchFamily="18" charset="0"/>
              </a:rPr>
              <a:t>(p3);</a:t>
            </a:r>
          </a:p>
          <a:p>
            <a:pPr lvl="2" algn="just"/>
            <a:r>
              <a:rPr lang="fr-FR" sz="2000" dirty="0">
                <a:latin typeface="Times New Roman" panose="02020603050405020304" pitchFamily="18" charset="0"/>
                <a:cs typeface="Times New Roman" panose="02020603050405020304" pitchFamily="18" charset="0"/>
              </a:rPr>
              <a:t>// parcourir la liste 2eme méthode</a:t>
            </a:r>
          </a:p>
          <a:p>
            <a:pPr lvl="2" algn="just"/>
            <a:r>
              <a:rPr lang="fr-FR" sz="2000" dirty="0" err="1">
                <a:latin typeface="Times New Roman" panose="02020603050405020304" pitchFamily="18" charset="0"/>
                <a:cs typeface="Times New Roman" panose="02020603050405020304" pitchFamily="18" charset="0"/>
              </a:rPr>
              <a:t>foreach</a:t>
            </a:r>
            <a:r>
              <a:rPr lang="fr-FR" sz="2000" dirty="0">
                <a:latin typeface="Times New Roman" panose="02020603050405020304" pitchFamily="18" charset="0"/>
                <a:cs typeface="Times New Roman" panose="02020603050405020304" pitchFamily="18" charset="0"/>
              </a:rPr>
              <a:t> (personne p in </a:t>
            </a:r>
            <a:r>
              <a:rPr lang="fr-FR" sz="2000" dirty="0" err="1">
                <a:latin typeface="Times New Roman" panose="02020603050405020304" pitchFamily="18" charset="0"/>
                <a:cs typeface="Times New Roman" panose="02020603050405020304" pitchFamily="18" charset="0"/>
              </a:rPr>
              <a:t>list</a:t>
            </a:r>
            <a:r>
              <a:rPr lang="fr-FR" sz="2000" dirty="0" smtClean="0">
                <a:latin typeface="Times New Roman" panose="02020603050405020304" pitchFamily="18" charset="0"/>
                <a:cs typeface="Times New Roman" panose="02020603050405020304" pitchFamily="18" charset="0"/>
              </a:rPr>
              <a:t>) {</a:t>
            </a:r>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p.ToString</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64827409"/>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5324535"/>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La </a:t>
            </a:r>
            <a:r>
              <a:rPr lang="fr-FR" sz="2000" b="1" dirty="0">
                <a:solidFill>
                  <a:srgbClr val="C00000"/>
                </a:solidFill>
                <a:latin typeface="Times New Roman" panose="02020603050405020304" pitchFamily="18" charset="0"/>
                <a:cs typeface="Times New Roman" panose="02020603050405020304" pitchFamily="18" charset="0"/>
              </a:rPr>
              <a:t>classe </a:t>
            </a:r>
            <a:r>
              <a:rPr lang="fr-FR" sz="2000" b="1" dirty="0" err="1">
                <a:solidFill>
                  <a:srgbClr val="C00000"/>
                </a:solidFill>
                <a:latin typeface="Times New Roman" panose="02020603050405020304" pitchFamily="18" charset="0"/>
                <a:cs typeface="Times New Roman" panose="02020603050405020304" pitchFamily="18" charset="0"/>
              </a:rPr>
              <a:t>HashSet</a:t>
            </a:r>
            <a:r>
              <a:rPr lang="fr-FR" sz="2000" b="1" dirty="0">
                <a:solidFill>
                  <a:srgbClr val="C00000"/>
                </a:solidFill>
                <a:latin typeface="Times New Roman" panose="02020603050405020304" pitchFamily="18" charset="0"/>
                <a:cs typeface="Times New Roman" panose="02020603050405020304" pitchFamily="18" charset="0"/>
              </a:rPr>
              <a:t>&lt;T&gt;</a:t>
            </a:r>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La </a:t>
            </a:r>
            <a:r>
              <a:rPr lang="fr-FR" sz="2000" dirty="0">
                <a:latin typeface="Times New Roman" panose="02020603050405020304" pitchFamily="18" charset="0"/>
                <a:cs typeface="Times New Roman" panose="02020603050405020304" pitchFamily="18" charset="0"/>
              </a:rPr>
              <a:t>classe </a:t>
            </a:r>
            <a:r>
              <a:rPr lang="fr-FR" sz="2000" dirty="0" err="1" smtClean="0">
                <a:latin typeface="Times New Roman" panose="02020603050405020304" pitchFamily="18" charset="0"/>
                <a:cs typeface="Times New Roman" panose="02020603050405020304" pitchFamily="18" charset="0"/>
              </a:rPr>
              <a:t>HashSet</a:t>
            </a:r>
            <a:r>
              <a:rPr lang="fr-FR" sz="2000" dirty="0" smtClean="0">
                <a:latin typeface="Times New Roman" panose="02020603050405020304" pitchFamily="18" charset="0"/>
                <a:cs typeface="Times New Roman" panose="02020603050405020304" pitchFamily="18" charset="0"/>
              </a:rPr>
              <a:t>&lt;T&gt; </a:t>
            </a:r>
            <a:r>
              <a:rPr lang="fr-FR" sz="2000" dirty="0">
                <a:latin typeface="Times New Roman" panose="02020603050405020304" pitchFamily="18" charset="0"/>
                <a:cs typeface="Times New Roman" panose="02020603050405020304" pitchFamily="18" charset="0"/>
              </a:rPr>
              <a:t>est une collection non ordonnée d’éléments uniques</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Exemple :</a:t>
            </a:r>
          </a:p>
          <a:p>
            <a:pPr lvl="2" algn="just"/>
            <a:r>
              <a:rPr lang="fr-FR" sz="2000" dirty="0" err="1">
                <a:latin typeface="Times New Roman" panose="02020603050405020304" pitchFamily="18" charset="0"/>
                <a:cs typeface="Times New Roman" panose="02020603050405020304" pitchFamily="18" charset="0"/>
              </a:rPr>
              <a:t>HashSet</a:t>
            </a:r>
            <a:r>
              <a:rPr lang="fr-FR" sz="2000" dirty="0">
                <a:latin typeface="Times New Roman" panose="02020603050405020304" pitchFamily="18" charset="0"/>
                <a:cs typeface="Times New Roman" panose="02020603050405020304" pitchFamily="18" charset="0"/>
              </a:rPr>
              <a:t>&lt;string&gt; myhash1 = new </a:t>
            </a:r>
            <a:r>
              <a:rPr lang="fr-FR" sz="2000" dirty="0" err="1">
                <a:latin typeface="Times New Roman" panose="02020603050405020304" pitchFamily="18" charset="0"/>
                <a:cs typeface="Times New Roman" panose="02020603050405020304" pitchFamily="18" charset="0"/>
              </a:rPr>
              <a:t>HashSet</a:t>
            </a:r>
            <a:r>
              <a:rPr lang="fr-FR" sz="2000" dirty="0">
                <a:latin typeface="Times New Roman" panose="02020603050405020304" pitchFamily="18" charset="0"/>
                <a:cs typeface="Times New Roman" panose="02020603050405020304" pitchFamily="18" charset="0"/>
              </a:rPr>
              <a:t>&lt;string&gt;();</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a:latin typeface="Times New Roman" panose="02020603050405020304" pitchFamily="18" charset="0"/>
                <a:cs typeface="Times New Roman" panose="02020603050405020304" pitchFamily="18" charset="0"/>
              </a:rPr>
              <a:t>myhash1.Add("C");</a:t>
            </a:r>
          </a:p>
          <a:p>
            <a:pPr lvl="2" algn="just"/>
            <a:r>
              <a:rPr lang="fr-FR" sz="2000" dirty="0">
                <a:latin typeface="Times New Roman" panose="02020603050405020304" pitchFamily="18" charset="0"/>
                <a:cs typeface="Times New Roman" panose="02020603050405020304" pitchFamily="18" charset="0"/>
              </a:rPr>
              <a:t>myhash1.Add("C++");</a:t>
            </a:r>
          </a:p>
          <a:p>
            <a:pPr lvl="2" algn="just"/>
            <a:r>
              <a:rPr lang="fr-FR" sz="2000" dirty="0">
                <a:latin typeface="Times New Roman" panose="02020603050405020304" pitchFamily="18" charset="0"/>
                <a:cs typeface="Times New Roman" panose="02020603050405020304" pitchFamily="18" charset="0"/>
              </a:rPr>
              <a:t>myhash1.Add("C#");</a:t>
            </a:r>
          </a:p>
          <a:p>
            <a:pPr lvl="2" algn="just"/>
            <a:r>
              <a:rPr lang="fr-FR" sz="2000" dirty="0">
                <a:latin typeface="Times New Roman" panose="02020603050405020304" pitchFamily="18" charset="0"/>
                <a:cs typeface="Times New Roman" panose="02020603050405020304" pitchFamily="18" charset="0"/>
              </a:rPr>
              <a:t>myhash1.Add("Java");</a:t>
            </a:r>
          </a:p>
          <a:p>
            <a:pPr lvl="2" algn="just"/>
            <a:r>
              <a:rPr lang="fr-FR" sz="2000" dirty="0">
                <a:latin typeface="Times New Roman" panose="02020603050405020304" pitchFamily="18" charset="0"/>
                <a:cs typeface="Times New Roman" panose="02020603050405020304" pitchFamily="18" charset="0"/>
              </a:rPr>
              <a:t>myhash1.Add("Ruby");</a:t>
            </a:r>
          </a:p>
          <a:p>
            <a:pPr lvl="2" algn="just"/>
            <a:endParaRPr lang="fr-FR" sz="2000" dirty="0">
              <a:latin typeface="Times New Roman" panose="02020603050405020304" pitchFamily="18" charset="0"/>
              <a:cs typeface="Times New Roman" panose="02020603050405020304" pitchFamily="18" charset="0"/>
            </a:endParaRPr>
          </a:p>
          <a:p>
            <a:pPr lvl="2" algn="just"/>
            <a:r>
              <a:rPr lang="fr-FR" sz="2000" dirty="0" err="1" smtClean="0">
                <a:latin typeface="Times New Roman" panose="02020603050405020304" pitchFamily="18" charset="0"/>
                <a:cs typeface="Times New Roman" panose="02020603050405020304" pitchFamily="18" charset="0"/>
              </a:rPr>
              <a:t>foreach</a:t>
            </a:r>
            <a:r>
              <a:rPr lang="fr-FR" sz="2000" dirty="0" smtClean="0">
                <a:latin typeface="Times New Roman" panose="02020603050405020304" pitchFamily="18" charset="0"/>
                <a:cs typeface="Times New Roman" panose="02020603050405020304" pitchFamily="18" charset="0"/>
              </a:rPr>
              <a:t>(string </a:t>
            </a:r>
            <a:r>
              <a:rPr lang="fr-FR" sz="2000" dirty="0">
                <a:latin typeface="Times New Roman" panose="02020603050405020304" pitchFamily="18" charset="0"/>
                <a:cs typeface="Times New Roman" panose="02020603050405020304" pitchFamily="18" charset="0"/>
              </a:rPr>
              <a:t>val in myhash1)</a:t>
            </a:r>
          </a:p>
          <a:p>
            <a:pPr lvl="2" algn="just"/>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(val);</a:t>
            </a:r>
          </a:p>
          <a:p>
            <a:pPr lvl="2" algn="just"/>
            <a:r>
              <a:rPr lang="fr-FR" sz="2000" dirty="0">
                <a:latin typeface="Times New Roman" panose="02020603050405020304" pitchFamily="18" charset="0"/>
                <a:cs typeface="Times New Roman" panose="02020603050405020304" pitchFamily="18" charset="0"/>
              </a:rPr>
              <a:t>}</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6874523"/>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4708981"/>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La </a:t>
            </a:r>
            <a:r>
              <a:rPr lang="fr-FR" sz="2000" b="1" dirty="0">
                <a:solidFill>
                  <a:srgbClr val="C00000"/>
                </a:solidFill>
                <a:latin typeface="Times New Roman" panose="02020603050405020304" pitchFamily="18" charset="0"/>
                <a:cs typeface="Times New Roman" panose="02020603050405020304" pitchFamily="18" charset="0"/>
              </a:rPr>
              <a:t>classe </a:t>
            </a:r>
            <a:r>
              <a:rPr lang="fr-FR" sz="2000" b="1" dirty="0" err="1" smtClean="0">
                <a:solidFill>
                  <a:srgbClr val="C00000"/>
                </a:solidFill>
                <a:latin typeface="Times New Roman" panose="02020603050405020304" pitchFamily="18" charset="0"/>
                <a:cs typeface="Times New Roman" panose="02020603050405020304" pitchFamily="18" charset="0"/>
              </a:rPr>
              <a:t>Dictionary</a:t>
            </a:r>
            <a:r>
              <a:rPr lang="fr-FR" sz="2000" b="1" dirty="0" smtClean="0">
                <a:solidFill>
                  <a:srgbClr val="C00000"/>
                </a:solidFill>
                <a:latin typeface="Times New Roman" panose="02020603050405020304" pitchFamily="18" charset="0"/>
                <a:cs typeface="Times New Roman" panose="02020603050405020304" pitchFamily="18" charset="0"/>
              </a:rPr>
              <a:t>&lt;T, T&gt;</a:t>
            </a:r>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La classe </a:t>
            </a:r>
            <a:r>
              <a:rPr lang="fr-FR" sz="2000" dirty="0" err="1" smtClean="0">
                <a:latin typeface="Times New Roman" panose="02020603050405020304" pitchFamily="18" charset="0"/>
                <a:cs typeface="Times New Roman" panose="02020603050405020304" pitchFamily="18" charset="0"/>
              </a:rPr>
              <a:t>Dictionary</a:t>
            </a:r>
            <a:r>
              <a:rPr lang="fr-FR" sz="2000" dirty="0" smtClean="0">
                <a:latin typeface="Times New Roman" panose="02020603050405020304" pitchFamily="18" charset="0"/>
                <a:cs typeface="Times New Roman" panose="02020603050405020304" pitchFamily="18" charset="0"/>
              </a:rPr>
              <a:t>&lt;T, T&gt; </a:t>
            </a:r>
            <a:r>
              <a:rPr lang="fr-FR" sz="2000" dirty="0">
                <a:latin typeface="Times New Roman" panose="02020603050405020304" pitchFamily="18" charset="0"/>
                <a:cs typeface="Times New Roman" panose="02020603050405020304" pitchFamily="18" charset="0"/>
              </a:rPr>
              <a:t>stocke les données sous forme de paires clé-valeur et fournit des fonctionnalités similaires à celles de la classe non générique </a:t>
            </a:r>
            <a:r>
              <a:rPr lang="fr-FR" sz="2000" dirty="0" err="1">
                <a:latin typeface="Times New Roman" panose="02020603050405020304" pitchFamily="18" charset="0"/>
                <a:cs typeface="Times New Roman" panose="02020603050405020304" pitchFamily="18" charset="0"/>
              </a:rPr>
              <a:t>Hashtable</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Exemple :</a:t>
            </a:r>
          </a:p>
          <a:p>
            <a:pPr lvl="2" algn="just"/>
            <a:r>
              <a:rPr lang="fr-FR" sz="2000" dirty="0" err="1">
                <a:latin typeface="Times New Roman" panose="02020603050405020304" pitchFamily="18" charset="0"/>
                <a:cs typeface="Times New Roman" panose="02020603050405020304" pitchFamily="18" charset="0"/>
              </a:rPr>
              <a:t>Dictionary</a:t>
            </a:r>
            <a:r>
              <a:rPr lang="fr-FR" sz="2000" dirty="0">
                <a:latin typeface="Times New Roman" panose="02020603050405020304" pitchFamily="18" charset="0"/>
                <a:cs typeface="Times New Roman" panose="02020603050405020304" pitchFamily="18" charset="0"/>
              </a:rPr>
              <a:t>&lt;</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string&gt; </a:t>
            </a:r>
            <a:r>
              <a:rPr lang="fr-FR" sz="2000" dirty="0" err="1">
                <a:latin typeface="Times New Roman" panose="02020603050405020304" pitchFamily="18" charset="0"/>
                <a:cs typeface="Times New Roman" panose="02020603050405020304" pitchFamily="18" charset="0"/>
              </a:rPr>
              <a:t>languages</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Dictionary</a:t>
            </a:r>
            <a:r>
              <a:rPr lang="fr-FR" sz="2000" dirty="0">
                <a:latin typeface="Times New Roman" panose="02020603050405020304" pitchFamily="18" charset="0"/>
                <a:cs typeface="Times New Roman" panose="02020603050405020304" pitchFamily="18" charset="0"/>
              </a:rPr>
              <a:t>&lt;</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string&gt;(); </a:t>
            </a:r>
          </a:p>
          <a:p>
            <a:pPr lvl="2" algn="just"/>
            <a:r>
              <a:rPr lang="fr-FR" sz="2000" dirty="0">
                <a:latin typeface="Times New Roman" panose="02020603050405020304" pitchFamily="18" charset="0"/>
                <a:cs typeface="Times New Roman" panose="02020603050405020304" pitchFamily="18" charset="0"/>
              </a:rPr>
              <a:t>    </a:t>
            </a:r>
          </a:p>
          <a:p>
            <a:pPr lvl="2" algn="just"/>
            <a:r>
              <a:rPr lang="fr-FR" sz="2000" dirty="0" err="1">
                <a:latin typeface="Times New Roman" panose="02020603050405020304" pitchFamily="18" charset="0"/>
                <a:cs typeface="Times New Roman" panose="02020603050405020304" pitchFamily="18" charset="0"/>
              </a:rPr>
              <a:t>languages.Add</a:t>
            </a:r>
            <a:r>
              <a:rPr lang="fr-FR" sz="2000" dirty="0">
                <a:latin typeface="Times New Roman" panose="02020603050405020304" pitchFamily="18" charset="0"/>
                <a:cs typeface="Times New Roman" panose="02020603050405020304" pitchFamily="18" charset="0"/>
              </a:rPr>
              <a:t>(1, "Java");  </a:t>
            </a:r>
          </a:p>
          <a:p>
            <a:pPr lvl="2" algn="just"/>
            <a:r>
              <a:rPr lang="fr-FR" sz="2000" dirty="0" err="1">
                <a:latin typeface="Times New Roman" panose="02020603050405020304" pitchFamily="18" charset="0"/>
                <a:cs typeface="Times New Roman" panose="02020603050405020304" pitchFamily="18" charset="0"/>
              </a:rPr>
              <a:t>languages.Add</a:t>
            </a:r>
            <a:r>
              <a:rPr lang="fr-FR" sz="2000" dirty="0">
                <a:latin typeface="Times New Roman" panose="02020603050405020304" pitchFamily="18" charset="0"/>
                <a:cs typeface="Times New Roman" panose="02020603050405020304" pitchFamily="18" charset="0"/>
              </a:rPr>
              <a:t>(2, "C#");  </a:t>
            </a:r>
          </a:p>
          <a:p>
            <a:pPr lvl="2" algn="just"/>
            <a:r>
              <a:rPr lang="fr-FR" sz="2000" dirty="0" err="1">
                <a:latin typeface="Times New Roman" panose="02020603050405020304" pitchFamily="18" charset="0"/>
                <a:cs typeface="Times New Roman" panose="02020603050405020304" pitchFamily="18" charset="0"/>
              </a:rPr>
              <a:t>languages.Add</a:t>
            </a:r>
            <a:r>
              <a:rPr lang="fr-FR" sz="2000" dirty="0">
                <a:latin typeface="Times New Roman" panose="02020603050405020304" pitchFamily="18" charset="0"/>
                <a:cs typeface="Times New Roman" panose="02020603050405020304" pitchFamily="18" charset="0"/>
              </a:rPr>
              <a:t>(3, "Python");  </a:t>
            </a:r>
          </a:p>
          <a:p>
            <a:pPr lvl="2" algn="just"/>
            <a:r>
              <a:rPr lang="fr-FR" sz="2000" dirty="0" err="1">
                <a:latin typeface="Times New Roman" panose="02020603050405020304" pitchFamily="18" charset="0"/>
                <a:cs typeface="Times New Roman" panose="02020603050405020304" pitchFamily="18" charset="0"/>
              </a:rPr>
              <a:t>languages.Add</a:t>
            </a:r>
            <a:r>
              <a:rPr lang="fr-FR" sz="2000" dirty="0">
                <a:latin typeface="Times New Roman" panose="02020603050405020304" pitchFamily="18" charset="0"/>
                <a:cs typeface="Times New Roman" panose="02020603050405020304" pitchFamily="18" charset="0"/>
              </a:rPr>
              <a:t>(4, "C++");  </a:t>
            </a:r>
          </a:p>
          <a:p>
            <a:pPr lvl="2" algn="just"/>
            <a:r>
              <a:rPr lang="fr-FR" sz="2000" dirty="0" err="1">
                <a:latin typeface="Times New Roman" panose="02020603050405020304" pitchFamily="18" charset="0"/>
                <a:cs typeface="Times New Roman" panose="02020603050405020304" pitchFamily="18" charset="0"/>
              </a:rPr>
              <a:t>foreach</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KeyValuePair</a:t>
            </a:r>
            <a:r>
              <a:rPr lang="fr-FR" sz="2000" dirty="0">
                <a:latin typeface="Times New Roman" panose="02020603050405020304" pitchFamily="18" charset="0"/>
                <a:cs typeface="Times New Roman" panose="02020603050405020304" pitchFamily="18" charset="0"/>
              </a:rPr>
              <a:t>&lt;</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string&gt; </a:t>
            </a:r>
            <a:r>
              <a:rPr lang="fr-FR" sz="2000" dirty="0" err="1">
                <a:latin typeface="Times New Roman" panose="02020603050405020304" pitchFamily="18" charset="0"/>
                <a:cs typeface="Times New Roman" panose="02020603050405020304" pitchFamily="18" charset="0"/>
              </a:rPr>
              <a:t>language</a:t>
            </a:r>
            <a:r>
              <a:rPr lang="fr-FR" sz="2000" dirty="0">
                <a:latin typeface="Times New Roman" panose="02020603050405020304" pitchFamily="18" charset="0"/>
                <a:cs typeface="Times New Roman" panose="02020603050405020304" pitchFamily="18" charset="0"/>
              </a:rPr>
              <a:t> in </a:t>
            </a:r>
            <a:r>
              <a:rPr lang="fr-FR" sz="2000" dirty="0" err="1">
                <a:latin typeface="Times New Roman" panose="02020603050405020304" pitchFamily="18" charset="0"/>
                <a:cs typeface="Times New Roman" panose="02020603050405020304" pitchFamily="18" charset="0"/>
              </a:rPr>
              <a:t>languages</a:t>
            </a:r>
            <a:r>
              <a:rPr lang="fr-FR" sz="2000" dirty="0">
                <a:latin typeface="Times New Roman" panose="02020603050405020304" pitchFamily="18" charset="0"/>
                <a:cs typeface="Times New Roman" panose="02020603050405020304" pitchFamily="18" charset="0"/>
              </a:rPr>
              <a:t>)   {  </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("Clé: {0}, Valeur: {1}", </a:t>
            </a:r>
            <a:r>
              <a:rPr lang="fr-FR" sz="2000" dirty="0" err="1">
                <a:latin typeface="Times New Roman" panose="02020603050405020304" pitchFamily="18" charset="0"/>
                <a:cs typeface="Times New Roman" panose="02020603050405020304" pitchFamily="18" charset="0"/>
              </a:rPr>
              <a:t>language.Key</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language.Value</a:t>
            </a:r>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3128531"/>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4708981"/>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La </a:t>
            </a:r>
            <a:r>
              <a:rPr lang="fr-FR" sz="2000" b="1" dirty="0">
                <a:solidFill>
                  <a:srgbClr val="C00000"/>
                </a:solidFill>
                <a:latin typeface="Times New Roman" panose="02020603050405020304" pitchFamily="18" charset="0"/>
                <a:cs typeface="Times New Roman" panose="02020603050405020304" pitchFamily="18" charset="0"/>
              </a:rPr>
              <a:t>classe </a:t>
            </a:r>
            <a:r>
              <a:rPr lang="fr-FR" sz="2000" b="1" dirty="0" err="1">
                <a:solidFill>
                  <a:srgbClr val="C00000"/>
                </a:solidFill>
                <a:latin typeface="Times New Roman" panose="02020603050405020304" pitchFamily="18" charset="0"/>
                <a:cs typeface="Times New Roman" panose="02020603050405020304" pitchFamily="18" charset="0"/>
              </a:rPr>
              <a:t>SortedList</a:t>
            </a:r>
            <a:r>
              <a:rPr lang="fr-FR" sz="2000" b="1" dirty="0">
                <a:solidFill>
                  <a:srgbClr val="C00000"/>
                </a:solidFill>
                <a:latin typeface="Times New Roman" panose="02020603050405020304" pitchFamily="18" charset="0"/>
                <a:cs typeface="Times New Roman" panose="02020603050405020304" pitchFamily="18" charset="0"/>
              </a:rPr>
              <a:t>&lt;T</a:t>
            </a:r>
            <a:r>
              <a:rPr lang="fr-FR" sz="2000" b="1" dirty="0" smtClean="0">
                <a:solidFill>
                  <a:srgbClr val="C00000"/>
                </a:solidFill>
                <a:latin typeface="Times New Roman" panose="02020603050405020304" pitchFamily="18" charset="0"/>
                <a:cs typeface="Times New Roman" panose="02020603050405020304" pitchFamily="18" charset="0"/>
              </a:rPr>
              <a:t>, T&gt;</a:t>
            </a:r>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La classe </a:t>
            </a:r>
            <a:r>
              <a:rPr lang="fr-FR" sz="2000" dirty="0" err="1" smtClean="0">
                <a:latin typeface="Times New Roman" panose="02020603050405020304" pitchFamily="18" charset="0"/>
                <a:cs typeface="Times New Roman" panose="02020603050405020304" pitchFamily="18" charset="0"/>
              </a:rPr>
              <a:t>SortedList</a:t>
            </a:r>
            <a:r>
              <a:rPr lang="fr-FR" sz="2000" dirty="0" smtClean="0">
                <a:latin typeface="Times New Roman" panose="02020603050405020304" pitchFamily="18" charset="0"/>
                <a:cs typeface="Times New Roman" panose="02020603050405020304" pitchFamily="18" charset="0"/>
              </a:rPr>
              <a:t>&lt;T, T&gt; </a:t>
            </a:r>
            <a:r>
              <a:rPr lang="fr-FR" sz="2000" dirty="0">
                <a:latin typeface="Times New Roman" panose="02020603050405020304" pitchFamily="18" charset="0"/>
                <a:cs typeface="Times New Roman" panose="02020603050405020304" pitchFamily="18" charset="0"/>
              </a:rPr>
              <a:t>est une liste triée, stocke les données sous forme de paires clé-valeur et fournit des fonctionnalités similaires à celles de la classe non générique </a:t>
            </a:r>
            <a:r>
              <a:rPr lang="fr-FR" sz="2000" dirty="0" err="1">
                <a:latin typeface="Times New Roman" panose="02020603050405020304" pitchFamily="18" charset="0"/>
                <a:cs typeface="Times New Roman" panose="02020603050405020304" pitchFamily="18" charset="0"/>
              </a:rPr>
              <a:t>SortedList</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Exemple :</a:t>
            </a:r>
          </a:p>
          <a:p>
            <a:pPr lvl="2" algn="just"/>
            <a:r>
              <a:rPr lang="fr-FR" sz="2000" dirty="0" err="1">
                <a:latin typeface="Times New Roman" panose="02020603050405020304" pitchFamily="18" charset="0"/>
                <a:cs typeface="Times New Roman" panose="02020603050405020304" pitchFamily="18" charset="0"/>
              </a:rPr>
              <a:t>SortedList</a:t>
            </a:r>
            <a:r>
              <a:rPr lang="fr-FR" sz="2000" dirty="0">
                <a:latin typeface="Times New Roman" panose="02020603050405020304" pitchFamily="18" charset="0"/>
                <a:cs typeface="Times New Roman" panose="02020603050405020304" pitchFamily="18" charset="0"/>
              </a:rPr>
              <a:t>&lt;</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string&gt;  langages = new </a:t>
            </a:r>
            <a:r>
              <a:rPr lang="fr-FR" sz="2000" dirty="0" err="1">
                <a:latin typeface="Times New Roman" panose="02020603050405020304" pitchFamily="18" charset="0"/>
                <a:cs typeface="Times New Roman" panose="02020603050405020304" pitchFamily="18" charset="0"/>
              </a:rPr>
              <a:t>SortedList</a:t>
            </a:r>
            <a:r>
              <a:rPr lang="fr-FR" sz="2000" dirty="0">
                <a:latin typeface="Times New Roman" panose="02020603050405020304" pitchFamily="18" charset="0"/>
                <a:cs typeface="Times New Roman" panose="02020603050405020304" pitchFamily="18" charset="0"/>
              </a:rPr>
              <a:t>&lt;</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string&gt; (); </a:t>
            </a:r>
          </a:p>
          <a:p>
            <a:pPr lvl="2" algn="just"/>
            <a:endParaRPr lang="fr-FR" sz="2000" dirty="0" smtClean="0">
              <a:latin typeface="Times New Roman" panose="02020603050405020304" pitchFamily="18" charset="0"/>
              <a:cs typeface="Times New Roman" panose="02020603050405020304" pitchFamily="18" charset="0"/>
            </a:endParaRPr>
          </a:p>
          <a:p>
            <a:pPr lvl="2" algn="just"/>
            <a:r>
              <a:rPr lang="fr-FR" sz="2000" dirty="0" err="1" smtClean="0">
                <a:latin typeface="Times New Roman" panose="02020603050405020304" pitchFamily="18" charset="0"/>
                <a:cs typeface="Times New Roman" panose="02020603050405020304" pitchFamily="18" charset="0"/>
              </a:rPr>
              <a:t>langages.Add</a:t>
            </a:r>
            <a:r>
              <a:rPr lang="fr-FR" sz="2000" dirty="0" smtClean="0">
                <a:latin typeface="Times New Roman" panose="02020603050405020304" pitchFamily="18" charset="0"/>
                <a:cs typeface="Times New Roman" panose="02020603050405020304" pitchFamily="18" charset="0"/>
              </a:rPr>
              <a:t>(1</a:t>
            </a:r>
            <a:r>
              <a:rPr lang="fr-FR" sz="2000" dirty="0">
                <a:latin typeface="Times New Roman" panose="02020603050405020304" pitchFamily="18" charset="0"/>
                <a:cs typeface="Times New Roman" panose="02020603050405020304" pitchFamily="18" charset="0"/>
              </a:rPr>
              <a:t>, "Java");  </a:t>
            </a:r>
          </a:p>
          <a:p>
            <a:pPr lvl="2" algn="just"/>
            <a:r>
              <a:rPr lang="fr-FR" sz="2000" dirty="0" err="1">
                <a:latin typeface="Times New Roman" panose="02020603050405020304" pitchFamily="18" charset="0"/>
                <a:cs typeface="Times New Roman" panose="02020603050405020304" pitchFamily="18" charset="0"/>
              </a:rPr>
              <a:t>langages.Add</a:t>
            </a:r>
            <a:r>
              <a:rPr lang="fr-FR" sz="2000" dirty="0">
                <a:latin typeface="Times New Roman" panose="02020603050405020304" pitchFamily="18" charset="0"/>
                <a:cs typeface="Times New Roman" panose="02020603050405020304" pitchFamily="18" charset="0"/>
              </a:rPr>
              <a:t>(2, "C#");  </a:t>
            </a:r>
          </a:p>
          <a:p>
            <a:pPr lvl="2" algn="just"/>
            <a:r>
              <a:rPr lang="fr-FR" sz="2000" dirty="0" err="1">
                <a:latin typeface="Times New Roman" panose="02020603050405020304" pitchFamily="18" charset="0"/>
                <a:cs typeface="Times New Roman" panose="02020603050405020304" pitchFamily="18" charset="0"/>
              </a:rPr>
              <a:t>langages.Add</a:t>
            </a:r>
            <a:r>
              <a:rPr lang="fr-FR" sz="2000" dirty="0">
                <a:latin typeface="Times New Roman" panose="02020603050405020304" pitchFamily="18" charset="0"/>
                <a:cs typeface="Times New Roman" panose="02020603050405020304" pitchFamily="18" charset="0"/>
              </a:rPr>
              <a:t>(3, "Python");  </a:t>
            </a:r>
          </a:p>
          <a:p>
            <a:pPr lvl="2" algn="just"/>
            <a:r>
              <a:rPr lang="fr-FR" sz="2000" dirty="0" err="1">
                <a:latin typeface="Times New Roman" panose="02020603050405020304" pitchFamily="18" charset="0"/>
                <a:cs typeface="Times New Roman" panose="02020603050405020304" pitchFamily="18" charset="0"/>
              </a:rPr>
              <a:t>langages.Add</a:t>
            </a:r>
            <a:r>
              <a:rPr lang="fr-FR" sz="2000" dirty="0">
                <a:latin typeface="Times New Roman" panose="02020603050405020304" pitchFamily="18" charset="0"/>
                <a:cs typeface="Times New Roman" panose="02020603050405020304" pitchFamily="18" charset="0"/>
              </a:rPr>
              <a:t>(4, "C++");  </a:t>
            </a:r>
          </a:p>
          <a:p>
            <a:pPr lvl="2" algn="just"/>
            <a:r>
              <a:rPr lang="fr-FR" sz="2000" dirty="0" err="1">
                <a:latin typeface="Times New Roman" panose="02020603050405020304" pitchFamily="18" charset="0"/>
                <a:cs typeface="Times New Roman" panose="02020603050405020304" pitchFamily="18" charset="0"/>
              </a:rPr>
              <a:t>foreach</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KeyValuePair</a:t>
            </a:r>
            <a:r>
              <a:rPr lang="fr-FR" sz="2000" dirty="0">
                <a:latin typeface="Times New Roman" panose="02020603050405020304" pitchFamily="18" charset="0"/>
                <a:cs typeface="Times New Roman" panose="02020603050405020304" pitchFamily="18" charset="0"/>
              </a:rPr>
              <a:t>&lt;</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string&gt; </a:t>
            </a:r>
            <a:r>
              <a:rPr lang="fr-FR" sz="2000" dirty="0" err="1">
                <a:latin typeface="Times New Roman" panose="02020603050405020304" pitchFamily="18" charset="0"/>
                <a:cs typeface="Times New Roman" panose="02020603050405020304" pitchFamily="18" charset="0"/>
              </a:rPr>
              <a:t>language</a:t>
            </a:r>
            <a:r>
              <a:rPr lang="fr-FR" sz="2000" dirty="0">
                <a:latin typeface="Times New Roman" panose="02020603050405020304" pitchFamily="18" charset="0"/>
                <a:cs typeface="Times New Roman" panose="02020603050405020304" pitchFamily="18" charset="0"/>
              </a:rPr>
              <a:t> in langages) {  </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("Clé: {0}, Valeur: {1}", </a:t>
            </a:r>
            <a:r>
              <a:rPr lang="fr-FR" sz="2000" dirty="0" err="1">
                <a:latin typeface="Times New Roman" panose="02020603050405020304" pitchFamily="18" charset="0"/>
                <a:cs typeface="Times New Roman" panose="02020603050405020304" pitchFamily="18" charset="0"/>
              </a:rPr>
              <a:t>language.Key</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language.Value</a:t>
            </a:r>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439234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4708981"/>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La </a:t>
            </a:r>
            <a:r>
              <a:rPr lang="fr-FR" sz="2000" b="1" dirty="0">
                <a:solidFill>
                  <a:srgbClr val="C00000"/>
                </a:solidFill>
                <a:latin typeface="Times New Roman" panose="02020603050405020304" pitchFamily="18" charset="0"/>
                <a:cs typeface="Times New Roman" panose="02020603050405020304" pitchFamily="18" charset="0"/>
              </a:rPr>
              <a:t>classe </a:t>
            </a:r>
            <a:r>
              <a:rPr lang="fr-FR" sz="2000" b="1" dirty="0" err="1" smtClean="0">
                <a:solidFill>
                  <a:srgbClr val="C00000"/>
                </a:solidFill>
                <a:latin typeface="Times New Roman" panose="02020603050405020304" pitchFamily="18" charset="0"/>
                <a:cs typeface="Times New Roman" panose="02020603050405020304" pitchFamily="18" charset="0"/>
              </a:rPr>
              <a:t>Stack</a:t>
            </a:r>
            <a:r>
              <a:rPr lang="fr-FR" sz="2000" b="1" dirty="0" smtClean="0">
                <a:solidFill>
                  <a:srgbClr val="C00000"/>
                </a:solidFill>
                <a:latin typeface="Times New Roman" panose="02020603050405020304" pitchFamily="18" charset="0"/>
                <a:cs typeface="Times New Roman" panose="02020603050405020304" pitchFamily="18" charset="0"/>
              </a:rPr>
              <a:t>&lt;T&gt;</a:t>
            </a:r>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La classe </a:t>
            </a:r>
            <a:r>
              <a:rPr lang="fr-FR" sz="2000" dirty="0" err="1">
                <a:latin typeface="Times New Roman" panose="02020603050405020304" pitchFamily="18" charset="0"/>
                <a:cs typeface="Times New Roman" panose="02020603050405020304" pitchFamily="18" charset="0"/>
              </a:rPr>
              <a:t>Stack</a:t>
            </a:r>
            <a:r>
              <a:rPr lang="fr-FR" sz="2000" dirty="0">
                <a:latin typeface="Times New Roman" panose="02020603050405020304" pitchFamily="18" charset="0"/>
                <a:cs typeface="Times New Roman" panose="02020603050405020304" pitchFamily="18" charset="0"/>
              </a:rPr>
              <a:t>&lt;T&gt; est une liste LIFO (Last In First Out) et </a:t>
            </a:r>
            <a:r>
              <a:rPr lang="fr-FR" sz="2000" dirty="0" err="1">
                <a:latin typeface="Times New Roman" panose="02020603050405020304" pitchFamily="18" charset="0"/>
                <a:cs typeface="Times New Roman" panose="02020603050405020304" pitchFamily="18" charset="0"/>
              </a:rPr>
              <a:t>et</a:t>
            </a:r>
            <a:r>
              <a:rPr lang="fr-FR" sz="2000" dirty="0">
                <a:latin typeface="Times New Roman" panose="02020603050405020304" pitchFamily="18" charset="0"/>
                <a:cs typeface="Times New Roman" panose="02020603050405020304" pitchFamily="18" charset="0"/>
              </a:rPr>
              <a:t> fournit des fonctionnalités similaires à celles de la classe non générique </a:t>
            </a:r>
            <a:r>
              <a:rPr lang="fr-FR" sz="2000" dirty="0" err="1">
                <a:latin typeface="Times New Roman" panose="02020603050405020304" pitchFamily="18" charset="0"/>
                <a:cs typeface="Times New Roman" panose="02020603050405020304" pitchFamily="18" charset="0"/>
              </a:rPr>
              <a:t>Stack</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Exemple :</a:t>
            </a:r>
          </a:p>
          <a:p>
            <a:pPr lvl="2" algn="just"/>
            <a:r>
              <a:rPr lang="fr-FR" sz="2000" dirty="0" err="1">
                <a:latin typeface="Times New Roman" panose="02020603050405020304" pitchFamily="18" charset="0"/>
                <a:cs typeface="Times New Roman" panose="02020603050405020304" pitchFamily="18" charset="0"/>
              </a:rPr>
              <a:t>Stack</a:t>
            </a:r>
            <a:r>
              <a:rPr lang="fr-FR" sz="2000" dirty="0">
                <a:latin typeface="Times New Roman" panose="02020603050405020304" pitchFamily="18" charset="0"/>
                <a:cs typeface="Times New Roman" panose="02020603050405020304" pitchFamily="18" charset="0"/>
              </a:rPr>
              <a:t>&lt;string&gt; </a:t>
            </a:r>
            <a:r>
              <a:rPr lang="fr-FR" sz="2000" dirty="0" err="1">
                <a:latin typeface="Times New Roman" panose="02020603050405020304" pitchFamily="18" charset="0"/>
                <a:cs typeface="Times New Roman" panose="02020603050405020304" pitchFamily="18" charset="0"/>
              </a:rPr>
              <a:t>languages</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Stack</a:t>
            </a:r>
            <a:r>
              <a:rPr lang="fr-FR" sz="2000" dirty="0">
                <a:latin typeface="Times New Roman" panose="02020603050405020304" pitchFamily="18" charset="0"/>
                <a:cs typeface="Times New Roman" panose="02020603050405020304" pitchFamily="18" charset="0"/>
              </a:rPr>
              <a:t>&lt;string&gt;();  </a:t>
            </a:r>
          </a:p>
          <a:p>
            <a:pPr lvl="2" algn="just"/>
            <a:endParaRPr lang="fr-FR" sz="2000" dirty="0" smtClean="0">
              <a:latin typeface="Times New Roman" panose="02020603050405020304" pitchFamily="18" charset="0"/>
              <a:cs typeface="Times New Roman" panose="02020603050405020304" pitchFamily="18" charset="0"/>
            </a:endParaRPr>
          </a:p>
          <a:p>
            <a:pPr lvl="2" algn="just"/>
            <a:r>
              <a:rPr lang="fr-FR" sz="2000" dirty="0" err="1" smtClean="0">
                <a:latin typeface="Times New Roman" panose="02020603050405020304" pitchFamily="18" charset="0"/>
                <a:cs typeface="Times New Roman" panose="02020603050405020304" pitchFamily="18" charset="0"/>
              </a:rPr>
              <a:t>languages.Push</a:t>
            </a:r>
            <a:r>
              <a:rPr lang="fr-FR" sz="2000" dirty="0">
                <a:latin typeface="Times New Roman" panose="02020603050405020304" pitchFamily="18" charset="0"/>
                <a:cs typeface="Times New Roman" panose="02020603050405020304" pitchFamily="18" charset="0"/>
              </a:rPr>
              <a:t>("Java");  </a:t>
            </a:r>
          </a:p>
          <a:p>
            <a:pPr lvl="2" algn="just"/>
            <a:r>
              <a:rPr lang="fr-FR" sz="2000" dirty="0" err="1">
                <a:latin typeface="Times New Roman" panose="02020603050405020304" pitchFamily="18" charset="0"/>
                <a:cs typeface="Times New Roman" panose="02020603050405020304" pitchFamily="18" charset="0"/>
              </a:rPr>
              <a:t>languages.Push</a:t>
            </a:r>
            <a:r>
              <a:rPr lang="fr-FR" sz="2000" dirty="0">
                <a:latin typeface="Times New Roman" panose="02020603050405020304" pitchFamily="18" charset="0"/>
                <a:cs typeface="Times New Roman" panose="02020603050405020304" pitchFamily="18" charset="0"/>
              </a:rPr>
              <a:t>("C#");  </a:t>
            </a:r>
          </a:p>
          <a:p>
            <a:pPr lvl="2" algn="just"/>
            <a:r>
              <a:rPr lang="fr-FR" sz="2000" dirty="0" err="1">
                <a:latin typeface="Times New Roman" panose="02020603050405020304" pitchFamily="18" charset="0"/>
                <a:cs typeface="Times New Roman" panose="02020603050405020304" pitchFamily="18" charset="0"/>
              </a:rPr>
              <a:t>languages.Push</a:t>
            </a:r>
            <a:r>
              <a:rPr lang="fr-FR" sz="2000" dirty="0">
                <a:latin typeface="Times New Roman" panose="02020603050405020304" pitchFamily="18" charset="0"/>
                <a:cs typeface="Times New Roman" panose="02020603050405020304" pitchFamily="18" charset="0"/>
              </a:rPr>
              <a:t>("Python");  </a:t>
            </a:r>
          </a:p>
          <a:p>
            <a:pPr lvl="2" algn="just"/>
            <a:r>
              <a:rPr lang="fr-FR" sz="2000" dirty="0" err="1">
                <a:latin typeface="Times New Roman" panose="02020603050405020304" pitchFamily="18" charset="0"/>
                <a:cs typeface="Times New Roman" panose="02020603050405020304" pitchFamily="18" charset="0"/>
              </a:rPr>
              <a:t>languages.Push</a:t>
            </a:r>
            <a:r>
              <a:rPr lang="fr-FR" sz="2000" dirty="0">
                <a:latin typeface="Times New Roman" panose="02020603050405020304" pitchFamily="18" charset="0"/>
                <a:cs typeface="Times New Roman" panose="02020603050405020304" pitchFamily="18" charset="0"/>
              </a:rPr>
              <a:t>("C++");  </a:t>
            </a:r>
          </a:p>
          <a:p>
            <a:pPr lvl="2" algn="just"/>
            <a:r>
              <a:rPr lang="fr-FR" sz="2000" dirty="0" err="1">
                <a:latin typeface="Times New Roman" panose="02020603050405020304" pitchFamily="18" charset="0"/>
                <a:cs typeface="Times New Roman" panose="02020603050405020304" pitchFamily="18" charset="0"/>
              </a:rPr>
              <a:t>foreach</a:t>
            </a:r>
            <a:r>
              <a:rPr lang="fr-FR" sz="2000" dirty="0">
                <a:latin typeface="Times New Roman" panose="02020603050405020304" pitchFamily="18" charset="0"/>
                <a:cs typeface="Times New Roman" panose="02020603050405020304" pitchFamily="18" charset="0"/>
              </a:rPr>
              <a:t> (string </a:t>
            </a:r>
            <a:r>
              <a:rPr lang="fr-FR" sz="2000" dirty="0" err="1">
                <a:latin typeface="Times New Roman" panose="02020603050405020304" pitchFamily="18" charset="0"/>
                <a:cs typeface="Times New Roman" panose="02020603050405020304" pitchFamily="18" charset="0"/>
              </a:rPr>
              <a:t>language</a:t>
            </a:r>
            <a:r>
              <a:rPr lang="fr-FR" sz="2000" dirty="0">
                <a:latin typeface="Times New Roman" panose="02020603050405020304" pitchFamily="18" charset="0"/>
                <a:cs typeface="Times New Roman" panose="02020603050405020304" pitchFamily="18" charset="0"/>
              </a:rPr>
              <a:t> in </a:t>
            </a:r>
            <a:r>
              <a:rPr lang="fr-FR" sz="2000" dirty="0" err="1">
                <a:latin typeface="Times New Roman" panose="02020603050405020304" pitchFamily="18" charset="0"/>
                <a:cs typeface="Times New Roman" panose="02020603050405020304" pitchFamily="18" charset="0"/>
              </a:rPr>
              <a:t>languages</a:t>
            </a:r>
            <a:r>
              <a:rPr lang="fr-FR" sz="2000" dirty="0">
                <a:latin typeface="Times New Roman" panose="02020603050405020304" pitchFamily="18" charset="0"/>
                <a:cs typeface="Times New Roman" panose="02020603050405020304" pitchFamily="18" charset="0"/>
              </a:rPr>
              <a:t>) {</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language</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0891581"/>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17. Les collections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4708981"/>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La </a:t>
            </a:r>
            <a:r>
              <a:rPr lang="fr-FR" sz="2000" b="1" dirty="0">
                <a:solidFill>
                  <a:srgbClr val="C00000"/>
                </a:solidFill>
                <a:latin typeface="Times New Roman" panose="02020603050405020304" pitchFamily="18" charset="0"/>
                <a:cs typeface="Times New Roman" panose="02020603050405020304" pitchFamily="18" charset="0"/>
              </a:rPr>
              <a:t>classe Queue&lt;T</a:t>
            </a:r>
            <a:r>
              <a:rPr lang="fr-FR" sz="2000" b="1" dirty="0" smtClean="0">
                <a:solidFill>
                  <a:srgbClr val="C00000"/>
                </a:solidFill>
                <a:latin typeface="Times New Roman" panose="02020603050405020304" pitchFamily="18" charset="0"/>
                <a:cs typeface="Times New Roman" panose="02020603050405020304" pitchFamily="18" charset="0"/>
              </a:rPr>
              <a:t>&gt;</a:t>
            </a:r>
            <a:endParaRPr lang="fr-FR" sz="2000"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La classe Queue&lt;T&gt; est une </a:t>
            </a:r>
            <a:r>
              <a:rPr lang="fr-FR" sz="2000" dirty="0" smtClean="0">
                <a:latin typeface="Times New Roman" panose="02020603050405020304" pitchFamily="18" charset="0"/>
                <a:cs typeface="Times New Roman" panose="02020603050405020304" pitchFamily="18" charset="0"/>
              </a:rPr>
              <a:t>liste </a:t>
            </a:r>
            <a:r>
              <a:rPr lang="fr-FR" sz="2000" dirty="0">
                <a:latin typeface="Times New Roman" panose="02020603050405020304" pitchFamily="18" charset="0"/>
                <a:cs typeface="Times New Roman" panose="02020603050405020304" pitchFamily="18" charset="0"/>
              </a:rPr>
              <a:t>FIFO (First In First Out) et </a:t>
            </a:r>
            <a:r>
              <a:rPr lang="fr-FR" sz="2000" dirty="0" err="1">
                <a:latin typeface="Times New Roman" panose="02020603050405020304" pitchFamily="18" charset="0"/>
                <a:cs typeface="Times New Roman" panose="02020603050405020304" pitchFamily="18" charset="0"/>
              </a:rPr>
              <a:t>et</a:t>
            </a:r>
            <a:r>
              <a:rPr lang="fr-FR" sz="2000" dirty="0">
                <a:latin typeface="Times New Roman" panose="02020603050405020304" pitchFamily="18" charset="0"/>
                <a:cs typeface="Times New Roman" panose="02020603050405020304" pitchFamily="18" charset="0"/>
              </a:rPr>
              <a:t> fournit des fonctionnalités similaires à celles de la classe non générique Queue</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Exemple :</a:t>
            </a:r>
          </a:p>
          <a:p>
            <a:pPr lvl="2" algn="just"/>
            <a:r>
              <a:rPr lang="fr-FR" sz="2000" dirty="0">
                <a:latin typeface="Times New Roman" panose="02020603050405020304" pitchFamily="18" charset="0"/>
                <a:cs typeface="Times New Roman" panose="02020603050405020304" pitchFamily="18" charset="0"/>
              </a:rPr>
              <a:t>Queue&lt;string&gt; </a:t>
            </a:r>
            <a:r>
              <a:rPr lang="fr-FR" sz="2000" dirty="0" err="1">
                <a:latin typeface="Times New Roman" panose="02020603050405020304" pitchFamily="18" charset="0"/>
                <a:cs typeface="Times New Roman" panose="02020603050405020304" pitchFamily="18" charset="0"/>
              </a:rPr>
              <a:t>languages</a:t>
            </a:r>
            <a:r>
              <a:rPr lang="fr-FR" sz="2000" dirty="0">
                <a:latin typeface="Times New Roman" panose="02020603050405020304" pitchFamily="18" charset="0"/>
                <a:cs typeface="Times New Roman" panose="02020603050405020304" pitchFamily="18" charset="0"/>
              </a:rPr>
              <a:t> = new Queue&lt;string&gt;();  </a:t>
            </a:r>
          </a:p>
          <a:p>
            <a:pPr lvl="2" algn="just"/>
            <a:endParaRPr lang="fr-FR" sz="2000" dirty="0" smtClean="0">
              <a:latin typeface="Times New Roman" panose="02020603050405020304" pitchFamily="18" charset="0"/>
              <a:cs typeface="Times New Roman" panose="02020603050405020304" pitchFamily="18" charset="0"/>
            </a:endParaRPr>
          </a:p>
          <a:p>
            <a:pPr lvl="2" algn="just"/>
            <a:r>
              <a:rPr lang="fr-FR" sz="2000" dirty="0" err="1" smtClean="0">
                <a:latin typeface="Times New Roman" panose="02020603050405020304" pitchFamily="18" charset="0"/>
                <a:cs typeface="Times New Roman" panose="02020603050405020304" pitchFamily="18" charset="0"/>
              </a:rPr>
              <a:t>languages.Enqueue</a:t>
            </a:r>
            <a:r>
              <a:rPr lang="fr-FR" sz="2000" dirty="0">
                <a:latin typeface="Times New Roman" panose="02020603050405020304" pitchFamily="18" charset="0"/>
                <a:cs typeface="Times New Roman" panose="02020603050405020304" pitchFamily="18" charset="0"/>
              </a:rPr>
              <a:t>("Java");  </a:t>
            </a:r>
          </a:p>
          <a:p>
            <a:pPr lvl="2" algn="just"/>
            <a:r>
              <a:rPr lang="fr-FR" sz="2000" dirty="0" err="1">
                <a:latin typeface="Times New Roman" panose="02020603050405020304" pitchFamily="18" charset="0"/>
                <a:cs typeface="Times New Roman" panose="02020603050405020304" pitchFamily="18" charset="0"/>
              </a:rPr>
              <a:t>languages.Enqueue</a:t>
            </a:r>
            <a:r>
              <a:rPr lang="fr-FR" sz="2000" dirty="0">
                <a:latin typeface="Times New Roman" panose="02020603050405020304" pitchFamily="18" charset="0"/>
                <a:cs typeface="Times New Roman" panose="02020603050405020304" pitchFamily="18" charset="0"/>
              </a:rPr>
              <a:t>("C#");  </a:t>
            </a:r>
          </a:p>
          <a:p>
            <a:pPr lvl="2" algn="just"/>
            <a:r>
              <a:rPr lang="fr-FR" sz="2000" dirty="0" err="1">
                <a:latin typeface="Times New Roman" panose="02020603050405020304" pitchFamily="18" charset="0"/>
                <a:cs typeface="Times New Roman" panose="02020603050405020304" pitchFamily="18" charset="0"/>
              </a:rPr>
              <a:t>languages.Enqueue</a:t>
            </a:r>
            <a:r>
              <a:rPr lang="fr-FR" sz="2000" dirty="0">
                <a:latin typeface="Times New Roman" panose="02020603050405020304" pitchFamily="18" charset="0"/>
                <a:cs typeface="Times New Roman" panose="02020603050405020304" pitchFamily="18" charset="0"/>
              </a:rPr>
              <a:t>("Python");  </a:t>
            </a:r>
          </a:p>
          <a:p>
            <a:pPr lvl="2" algn="just"/>
            <a:r>
              <a:rPr lang="fr-FR" sz="2000" dirty="0" err="1">
                <a:latin typeface="Times New Roman" panose="02020603050405020304" pitchFamily="18" charset="0"/>
                <a:cs typeface="Times New Roman" panose="02020603050405020304" pitchFamily="18" charset="0"/>
              </a:rPr>
              <a:t>languages.Enqueue</a:t>
            </a:r>
            <a:r>
              <a:rPr lang="fr-FR" sz="2000" dirty="0">
                <a:latin typeface="Times New Roman" panose="02020603050405020304" pitchFamily="18" charset="0"/>
                <a:cs typeface="Times New Roman" panose="02020603050405020304" pitchFamily="18" charset="0"/>
              </a:rPr>
              <a:t>("C++"); </a:t>
            </a:r>
          </a:p>
          <a:p>
            <a:pPr lvl="2" algn="just"/>
            <a:r>
              <a:rPr lang="fr-FR" sz="2000" dirty="0" err="1">
                <a:latin typeface="Times New Roman" panose="02020603050405020304" pitchFamily="18" charset="0"/>
                <a:cs typeface="Times New Roman" panose="02020603050405020304" pitchFamily="18" charset="0"/>
              </a:rPr>
              <a:t>foreach</a:t>
            </a:r>
            <a:r>
              <a:rPr lang="fr-FR" sz="2000" dirty="0">
                <a:latin typeface="Times New Roman" panose="02020603050405020304" pitchFamily="18" charset="0"/>
                <a:cs typeface="Times New Roman" panose="02020603050405020304" pitchFamily="18" charset="0"/>
              </a:rPr>
              <a:t> (string </a:t>
            </a:r>
            <a:r>
              <a:rPr lang="fr-FR" sz="2000" dirty="0" err="1">
                <a:latin typeface="Times New Roman" panose="02020603050405020304" pitchFamily="18" charset="0"/>
                <a:cs typeface="Times New Roman" panose="02020603050405020304" pitchFamily="18" charset="0"/>
              </a:rPr>
              <a:t>language</a:t>
            </a:r>
            <a:r>
              <a:rPr lang="fr-FR" sz="2000" dirty="0">
                <a:latin typeface="Times New Roman" panose="02020603050405020304" pitchFamily="18" charset="0"/>
                <a:cs typeface="Times New Roman" panose="02020603050405020304" pitchFamily="18" charset="0"/>
              </a:rPr>
              <a:t> in </a:t>
            </a:r>
            <a:r>
              <a:rPr lang="fr-FR" sz="2000" dirty="0" err="1">
                <a:latin typeface="Times New Roman" panose="02020603050405020304" pitchFamily="18" charset="0"/>
                <a:cs typeface="Times New Roman" panose="02020603050405020304" pitchFamily="18" charset="0"/>
              </a:rPr>
              <a:t>languages</a:t>
            </a:r>
            <a:r>
              <a:rPr lang="fr-FR" sz="2000" dirty="0">
                <a:latin typeface="Times New Roman" panose="02020603050405020304" pitchFamily="18" charset="0"/>
                <a:cs typeface="Times New Roman" panose="02020603050405020304" pitchFamily="18" charset="0"/>
              </a:rPr>
              <a:t>) {  </a:t>
            </a:r>
          </a:p>
          <a:p>
            <a:pPr lvl="2"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language</a:t>
            </a:r>
            <a:r>
              <a:rPr lang="fr-FR" sz="2000" dirty="0">
                <a:latin typeface="Times New Roman" panose="02020603050405020304" pitchFamily="18" charset="0"/>
                <a:cs typeface="Times New Roman" panose="02020603050405020304" pitchFamily="18" charset="0"/>
              </a:rPr>
              <a:t>);</a:t>
            </a:r>
          </a:p>
          <a:p>
            <a:pPr lvl="2" algn="just"/>
            <a:r>
              <a:rPr lang="fr-FR" sz="2000" dirty="0">
                <a:latin typeface="Times New Roman" panose="02020603050405020304" pitchFamily="18" charset="0"/>
                <a:cs typeface="Times New Roman" panose="02020603050405020304" pitchFamily="18" charset="0"/>
              </a:rPr>
              <a:t>}</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7604127"/>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err="1"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TPs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9633406"/>
          </a:xfrm>
          <a:prstGeom prst="rect">
            <a:avLst/>
          </a:prstGeom>
          <a:noFill/>
        </p:spPr>
        <p:txBody>
          <a:bodyPr wrap="square" rtlCol="0">
            <a:spAutoFit/>
          </a:bodyPr>
          <a:lstStyle/>
          <a:p>
            <a:r>
              <a:rPr lang="fr-FR" sz="2000" b="1" dirty="0">
                <a:latin typeface="Times New Roman" panose="02020603050405020304" pitchFamily="18" charset="0"/>
                <a:cs typeface="Times New Roman" panose="02020603050405020304" pitchFamily="18" charset="0"/>
              </a:rPr>
              <a:t>Exercice </a:t>
            </a:r>
            <a:r>
              <a:rPr lang="fr-FR" sz="2000" b="1" dirty="0" smtClean="0">
                <a:latin typeface="Times New Roman" panose="02020603050405020304" pitchFamily="18" charset="0"/>
                <a:cs typeface="Times New Roman" panose="02020603050405020304" pitchFamily="18" charset="0"/>
              </a:rPr>
              <a:t>11 : </a:t>
            </a:r>
            <a:r>
              <a:rPr lang="fr-FR" sz="2000" dirty="0" smtClean="0">
                <a:latin typeface="Times New Roman" panose="02020603050405020304" pitchFamily="18" charset="0"/>
                <a:cs typeface="Times New Roman" panose="02020603050405020304" pitchFamily="18" charset="0"/>
              </a:rPr>
              <a:t>Gestion </a:t>
            </a:r>
            <a:r>
              <a:rPr lang="fr-FR" sz="2000" dirty="0">
                <a:latin typeface="Times New Roman" panose="02020603050405020304" pitchFamily="18" charset="0"/>
                <a:cs typeface="Times New Roman" panose="02020603050405020304" pitchFamily="18" charset="0"/>
              </a:rPr>
              <a:t>d’un centre de  </a:t>
            </a:r>
            <a:r>
              <a:rPr lang="fr-FR" sz="2000" dirty="0" smtClean="0">
                <a:latin typeface="Times New Roman" panose="02020603050405020304" pitchFamily="18" charset="0"/>
                <a:cs typeface="Times New Roman" panose="02020603050405020304" pitchFamily="18" charset="0"/>
              </a:rPr>
              <a:t>formation</a:t>
            </a:r>
          </a:p>
          <a:p>
            <a:r>
              <a:rPr lang="fr-FR" sz="2000" dirty="0" smtClean="0">
                <a:latin typeface="Times New Roman" panose="02020603050405020304" pitchFamily="18" charset="0"/>
                <a:cs typeface="Times New Roman" panose="02020603050405020304" pitchFamily="18" charset="0"/>
              </a:rPr>
              <a:t>La </a:t>
            </a:r>
            <a:r>
              <a:rPr lang="fr-FR" sz="2000" dirty="0">
                <a:latin typeface="Times New Roman" panose="02020603050405020304" pitchFamily="18" charset="0"/>
                <a:cs typeface="Times New Roman" panose="02020603050405020304" pitchFamily="18" charset="0"/>
              </a:rPr>
              <a:t>scolarité désire </a:t>
            </a:r>
            <a:r>
              <a:rPr lang="fr-FR" sz="2000" dirty="0" smtClean="0">
                <a:latin typeface="Times New Roman" panose="02020603050405020304" pitchFamily="18" charset="0"/>
                <a:cs typeface="Times New Roman" panose="02020603050405020304" pitchFamily="18" charset="0"/>
              </a:rPr>
              <a:t>informatiser son </a:t>
            </a:r>
            <a:r>
              <a:rPr lang="fr-FR" sz="2000" dirty="0">
                <a:latin typeface="Times New Roman" panose="02020603050405020304" pitchFamily="18" charset="0"/>
                <a:cs typeface="Times New Roman" panose="02020603050405020304" pitchFamily="18" charset="0"/>
              </a:rPr>
              <a:t>système de gestion du centre de </a:t>
            </a:r>
            <a:r>
              <a:rPr lang="fr-FR" sz="2000" dirty="0" smtClean="0">
                <a:latin typeface="Times New Roman" panose="02020603050405020304" pitchFamily="18" charset="0"/>
                <a:cs typeface="Times New Roman" panose="02020603050405020304" pitchFamily="18" charset="0"/>
              </a:rPr>
              <a:t>formation. </a:t>
            </a:r>
            <a:r>
              <a:rPr lang="fr-FR" sz="2000" dirty="0">
                <a:latin typeface="Times New Roman" panose="02020603050405020304" pitchFamily="18" charset="0"/>
                <a:cs typeface="Times New Roman" panose="02020603050405020304" pitchFamily="18" charset="0"/>
              </a:rPr>
              <a:t>E</a:t>
            </a:r>
            <a:r>
              <a:rPr lang="fr-FR" sz="2000" dirty="0" smtClean="0">
                <a:latin typeface="Times New Roman" panose="02020603050405020304" pitchFamily="18" charset="0"/>
                <a:cs typeface="Times New Roman" panose="02020603050405020304" pitchFamily="18" charset="0"/>
              </a:rPr>
              <a:t>lle </a:t>
            </a:r>
            <a:r>
              <a:rPr lang="fr-FR" sz="2000" dirty="0">
                <a:latin typeface="Times New Roman" panose="02020603050405020304" pitchFamily="18" charset="0"/>
                <a:cs typeface="Times New Roman" panose="02020603050405020304" pitchFamily="18" charset="0"/>
              </a:rPr>
              <a:t>a opté pour une modélisation objet  qui permet de faire ce qui suit </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1. Le stagiaire </a:t>
            </a:r>
            <a:r>
              <a:rPr lang="fr-FR" sz="2000" dirty="0">
                <a:latin typeface="Times New Roman" panose="02020603050405020304" pitchFamily="18" charset="0"/>
                <a:cs typeface="Times New Roman" panose="02020603050405020304" pitchFamily="18" charset="0"/>
              </a:rPr>
              <a:t>est </a:t>
            </a:r>
            <a:r>
              <a:rPr lang="fr-FR" sz="2000" dirty="0" smtClean="0">
                <a:latin typeface="Times New Roman" panose="02020603050405020304" pitchFamily="18" charset="0"/>
                <a:cs typeface="Times New Roman" panose="02020603050405020304" pitchFamily="18" charset="0"/>
              </a:rPr>
              <a:t>identifié </a:t>
            </a:r>
            <a:r>
              <a:rPr lang="fr-FR" sz="2000" dirty="0">
                <a:latin typeface="Times New Roman" panose="02020603050405020304" pitchFamily="18" charset="0"/>
                <a:cs typeface="Times New Roman" panose="02020603050405020304" pitchFamily="18" charset="0"/>
              </a:rPr>
              <a:t>par ce qui suit </a:t>
            </a:r>
            <a:r>
              <a:rPr lang="fr-FR" sz="2000" dirty="0" smtClean="0">
                <a:latin typeface="Times New Roman" panose="02020603050405020304" pitchFamily="18" charset="0"/>
                <a:cs typeface="Times New Roman" panose="02020603050405020304" pitchFamily="18" charset="0"/>
              </a:rPr>
              <a:t>: matricule, nom, </a:t>
            </a:r>
            <a:r>
              <a:rPr lang="fr-FR" sz="2000" dirty="0" err="1" smtClean="0">
                <a:latin typeface="Times New Roman" panose="02020603050405020304" pitchFamily="18" charset="0"/>
                <a:cs typeface="Times New Roman" panose="02020603050405020304" pitchFamily="18" charset="0"/>
              </a:rPr>
              <a:t>prenom</a:t>
            </a:r>
            <a:r>
              <a:rPr lang="fr-FR" sz="2000" dirty="0" smtClean="0">
                <a:latin typeface="Times New Roman" panose="02020603050405020304" pitchFamily="18" charset="0"/>
                <a:cs typeface="Times New Roman" panose="02020603050405020304" pitchFamily="18" charset="0"/>
              </a:rPr>
              <a:t>, date  naissance, </a:t>
            </a:r>
            <a:r>
              <a:rPr lang="fr-FR" sz="2000" dirty="0" err="1" smtClean="0">
                <a:latin typeface="Times New Roman" panose="02020603050405020304" pitchFamily="18" charset="0"/>
                <a:cs typeface="Times New Roman" panose="02020603050405020304" pitchFamily="18" charset="0"/>
              </a:rPr>
              <a:t>cin</a:t>
            </a:r>
            <a:r>
              <a:rPr lang="fr-FR" sz="2000" dirty="0" smtClean="0">
                <a:latin typeface="Times New Roman" panose="02020603050405020304" pitchFamily="18" charset="0"/>
                <a:cs typeface="Times New Roman" panose="02020603050405020304" pitchFamily="18" charset="0"/>
              </a:rPr>
              <a:t>, niveau, branche, nombre </a:t>
            </a:r>
            <a:r>
              <a:rPr lang="fr-FR" sz="2000" dirty="0">
                <a:latin typeface="Times New Roman" panose="02020603050405020304" pitchFamily="18" charset="0"/>
                <a:cs typeface="Times New Roman" panose="02020603050405020304" pitchFamily="18" charset="0"/>
              </a:rPr>
              <a:t>d’heures </a:t>
            </a:r>
            <a:r>
              <a:rPr lang="fr-FR" sz="2000" dirty="0" smtClean="0">
                <a:latin typeface="Times New Roman" panose="02020603050405020304" pitchFamily="18" charset="0"/>
                <a:cs typeface="Times New Roman" panose="02020603050405020304" pitchFamily="18" charset="0"/>
              </a:rPr>
              <a:t>d’absence, nombre d’avertissement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2. Les  </a:t>
            </a:r>
            <a:r>
              <a:rPr lang="fr-FR" sz="2000" dirty="0">
                <a:latin typeface="Times New Roman" panose="02020603050405020304" pitchFamily="18" charset="0"/>
                <a:cs typeface="Times New Roman" panose="02020603050405020304" pitchFamily="18" charset="0"/>
              </a:rPr>
              <a:t>employés du centre(membres d’administration et formateurs)  sont identifié par ce qui  suit </a:t>
            </a:r>
            <a:r>
              <a:rPr lang="fr-FR" sz="2000" dirty="0" smtClean="0">
                <a:latin typeface="Times New Roman" panose="02020603050405020304" pitchFamily="18" charset="0"/>
                <a:cs typeface="Times New Roman" panose="02020603050405020304" pitchFamily="18" charset="0"/>
              </a:rPr>
              <a:t>:, matricule, nom, </a:t>
            </a:r>
            <a:r>
              <a:rPr lang="fr-FR" sz="2000" dirty="0" err="1" smtClean="0">
                <a:latin typeface="Times New Roman" panose="02020603050405020304" pitchFamily="18" charset="0"/>
                <a:cs typeface="Times New Roman" panose="02020603050405020304" pitchFamily="18" charset="0"/>
              </a:rPr>
              <a:t>prenom</a:t>
            </a:r>
            <a:r>
              <a:rPr lang="fr-FR" sz="2000" dirty="0" smtClean="0">
                <a:latin typeface="Times New Roman" panose="02020603050405020304" pitchFamily="18" charset="0"/>
                <a:cs typeface="Times New Roman" panose="02020603050405020304" pitchFamily="18" charset="0"/>
              </a:rPr>
              <a:t>, date </a:t>
            </a:r>
            <a:r>
              <a:rPr lang="fr-FR" sz="2000" dirty="0">
                <a:latin typeface="Times New Roman" panose="02020603050405020304" pitchFamily="18" charset="0"/>
                <a:cs typeface="Times New Roman" panose="02020603050405020304" pitchFamily="18" charset="0"/>
              </a:rPr>
              <a:t>de </a:t>
            </a:r>
            <a:r>
              <a:rPr lang="fr-FR" sz="2000" dirty="0" smtClean="0">
                <a:latin typeface="Times New Roman" panose="02020603050405020304" pitchFamily="18" charset="0"/>
                <a:cs typeface="Times New Roman" panose="02020603050405020304" pitchFamily="18" charset="0"/>
              </a:rPr>
              <a:t>naissance, date d’embauche, salaire, heure </a:t>
            </a:r>
            <a:r>
              <a:rPr lang="fr-FR" sz="2000" dirty="0" err="1">
                <a:latin typeface="Times New Roman" panose="02020603050405020304" pitchFamily="18" charset="0"/>
                <a:cs typeface="Times New Roman" panose="02020603050405020304" pitchFamily="18" charset="0"/>
              </a:rPr>
              <a:t>s</a:t>
            </a:r>
            <a:r>
              <a:rPr lang="fr-FR" sz="2000" dirty="0" err="1" smtClean="0">
                <a:latin typeface="Times New Roman" panose="02020603050405020304" pitchFamily="18" charset="0"/>
                <a:cs typeface="Times New Roman" panose="02020603050405020304" pitchFamily="18" charset="0"/>
              </a:rPr>
              <a:t>upplementaire</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Seuls </a:t>
            </a:r>
            <a:r>
              <a:rPr lang="fr-FR" sz="2000" dirty="0">
                <a:latin typeface="Times New Roman" panose="02020603050405020304" pitchFamily="18" charset="0"/>
                <a:cs typeface="Times New Roman" panose="02020603050405020304" pitchFamily="18" charset="0"/>
              </a:rPr>
              <a:t>les formateurs ont une spécialité et un code d’emploi </a:t>
            </a:r>
            <a:r>
              <a:rPr lang="fr-FR" sz="2000" dirty="0" smtClean="0">
                <a:latin typeface="Times New Roman" panose="02020603050405020304" pitchFamily="18" charset="0"/>
                <a:cs typeface="Times New Roman" panose="02020603050405020304" pitchFamily="18" charset="0"/>
              </a:rPr>
              <a:t>du temps.</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3. Chaque </a:t>
            </a:r>
            <a:r>
              <a:rPr lang="fr-FR" sz="2000" dirty="0">
                <a:latin typeface="Times New Roman" panose="02020603050405020304" pitchFamily="18" charset="0"/>
                <a:cs typeface="Times New Roman" panose="02020603050405020304" pitchFamily="18" charset="0"/>
              </a:rPr>
              <a:t>formateur est affecté à une salle qui est identifiée  comme suit </a:t>
            </a:r>
            <a:r>
              <a:rPr lang="fr-FR" sz="2000" dirty="0" smtClean="0">
                <a:latin typeface="Times New Roman" panose="02020603050405020304" pitchFamily="18" charset="0"/>
                <a:cs typeface="Times New Roman" panose="02020603050405020304" pitchFamily="18" charset="0"/>
              </a:rPr>
              <a:t>: numéro, type </a:t>
            </a:r>
            <a:r>
              <a:rPr lang="fr-FR" sz="2000" dirty="0">
                <a:latin typeface="Times New Roman" panose="02020603050405020304" pitchFamily="18" charset="0"/>
                <a:cs typeface="Times New Roman" panose="02020603050405020304" pitchFamily="18" charset="0"/>
              </a:rPr>
              <a:t>(spécialisé ou de </a:t>
            </a:r>
            <a:r>
              <a:rPr lang="fr-FR" sz="2000" dirty="0" smtClean="0">
                <a:latin typeface="Times New Roman" panose="02020603050405020304" pitchFamily="18" charset="0"/>
                <a:cs typeface="Times New Roman" panose="02020603050405020304" pitchFamily="18" charset="0"/>
              </a:rPr>
              <a:t>cours), nombre </a:t>
            </a:r>
            <a:r>
              <a:rPr lang="fr-FR" sz="2000" dirty="0">
                <a:latin typeface="Times New Roman" panose="02020603050405020304" pitchFamily="18" charset="0"/>
                <a:cs typeface="Times New Roman" panose="02020603050405020304" pitchFamily="18" charset="0"/>
              </a:rPr>
              <a:t>de </a:t>
            </a:r>
            <a:r>
              <a:rPr lang="fr-FR" sz="2000" dirty="0" smtClean="0">
                <a:latin typeface="Times New Roman" panose="02020603050405020304" pitchFamily="18" charset="0"/>
                <a:cs typeface="Times New Roman" panose="02020603050405020304" pitchFamily="18" charset="0"/>
              </a:rPr>
              <a:t>chaise, nombre </a:t>
            </a:r>
            <a:r>
              <a:rPr lang="fr-FR" sz="2000" dirty="0">
                <a:latin typeface="Times New Roman" panose="02020603050405020304" pitchFamily="18" charset="0"/>
                <a:cs typeface="Times New Roman" panose="02020603050405020304" pitchFamily="18" charset="0"/>
              </a:rPr>
              <a:t>de </a:t>
            </a:r>
            <a:r>
              <a:rPr lang="fr-FR" sz="2000" dirty="0" smtClean="0">
                <a:latin typeface="Times New Roman" panose="02020603050405020304" pitchFamily="18" charset="0"/>
                <a:cs typeface="Times New Roman" panose="02020603050405020304" pitchFamily="18" charset="0"/>
              </a:rPr>
              <a:t>table</a:t>
            </a:r>
            <a:endParaRPr lang="fr-FR" sz="2000" dirty="0">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Nous allons pour ce faire modéliser </a:t>
            </a:r>
            <a:r>
              <a:rPr lang="fr-FR" sz="2000" dirty="0" smtClean="0">
                <a:latin typeface="Times New Roman" panose="02020603050405020304" pitchFamily="18" charset="0"/>
                <a:cs typeface="Times New Roman" panose="02020603050405020304" pitchFamily="18" charset="0"/>
              </a:rPr>
              <a:t>successivement </a:t>
            </a:r>
            <a:r>
              <a:rPr lang="fr-FR" sz="2000" dirty="0">
                <a:latin typeface="Times New Roman" panose="02020603050405020304" pitchFamily="18" charset="0"/>
                <a:cs typeface="Times New Roman" panose="02020603050405020304" pitchFamily="18" charset="0"/>
              </a:rPr>
              <a:t>les stagiaires, les employés du centre, les formateurs, les salles par </a:t>
            </a:r>
            <a:r>
              <a:rPr lang="fr-FR" sz="2000" dirty="0" smtClean="0">
                <a:latin typeface="Times New Roman" panose="02020603050405020304" pitchFamily="18" charset="0"/>
                <a:cs typeface="Times New Roman" panose="02020603050405020304" pitchFamily="18" charset="0"/>
              </a:rPr>
              <a:t>les </a:t>
            </a:r>
            <a:r>
              <a:rPr lang="fr-FR" sz="2000" dirty="0">
                <a:latin typeface="Times New Roman" panose="02020603050405020304" pitchFamily="18" charset="0"/>
                <a:cs typeface="Times New Roman" panose="02020603050405020304" pitchFamily="18" charset="0"/>
              </a:rPr>
              <a:t>classes Stagiaire, </a:t>
            </a:r>
            <a:r>
              <a:rPr lang="fr-FR" sz="2000" dirty="0" err="1" smtClean="0">
                <a:latin typeface="Times New Roman" panose="02020603050405020304" pitchFamily="18" charset="0"/>
                <a:cs typeface="Times New Roman" panose="02020603050405020304" pitchFamily="18" charset="0"/>
              </a:rPr>
              <a:t>Employe</a:t>
            </a:r>
            <a:r>
              <a:rPr lang="fr-FR" sz="20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Formateur et Salle</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Nous </a:t>
            </a:r>
            <a:r>
              <a:rPr lang="fr-FR" sz="2000" dirty="0">
                <a:latin typeface="Times New Roman" panose="02020603050405020304" pitchFamily="18" charset="0"/>
                <a:cs typeface="Times New Roman" panose="02020603050405020304" pitchFamily="18" charset="0"/>
              </a:rPr>
              <a:t>allons factoriser les attributs communs aux stagiaires et aux employés dans une classe Personne. Ainsi   la  classe </a:t>
            </a:r>
            <a:r>
              <a:rPr lang="fr-FR" sz="2000" dirty="0" smtClean="0">
                <a:latin typeface="Times New Roman" panose="02020603050405020304" pitchFamily="18" charset="0"/>
                <a:cs typeface="Times New Roman" panose="02020603050405020304" pitchFamily="18" charset="0"/>
              </a:rPr>
              <a:t>Stagiaire </a:t>
            </a:r>
            <a:r>
              <a:rPr lang="fr-FR" sz="2000" dirty="0">
                <a:latin typeface="Times New Roman" panose="02020603050405020304" pitchFamily="18" charset="0"/>
                <a:cs typeface="Times New Roman" panose="02020603050405020304" pitchFamily="18" charset="0"/>
              </a:rPr>
              <a:t>et  la classe </a:t>
            </a:r>
            <a:r>
              <a:rPr lang="fr-FR" sz="2000" dirty="0" err="1">
                <a:latin typeface="Times New Roman" panose="02020603050405020304" pitchFamily="18" charset="0"/>
                <a:cs typeface="Times New Roman" panose="02020603050405020304" pitchFamily="18" charset="0"/>
              </a:rPr>
              <a:t>Employe</a:t>
            </a:r>
            <a:r>
              <a:rPr lang="fr-FR" sz="2000" dirty="0">
                <a:latin typeface="Times New Roman" panose="02020603050405020304" pitchFamily="18" charset="0"/>
                <a:cs typeface="Times New Roman" panose="02020603050405020304" pitchFamily="18" charset="0"/>
              </a:rPr>
              <a:t> vont hériter de cette classe Personne</a:t>
            </a:r>
          </a:p>
          <a:p>
            <a:r>
              <a:rPr lang="fr-FR" sz="2000" dirty="0">
                <a:latin typeface="Times New Roman" panose="02020603050405020304" pitchFamily="18" charset="0"/>
                <a:cs typeface="Times New Roman" panose="02020603050405020304" pitchFamily="18" charset="0"/>
              </a:rPr>
              <a:t>La classe Formateur est la classe fille de la classe </a:t>
            </a:r>
            <a:r>
              <a:rPr lang="fr-FR" sz="2000" dirty="0" err="1" smtClean="0">
                <a:latin typeface="Times New Roman" panose="02020603050405020304" pitchFamily="18" charset="0"/>
                <a:cs typeface="Times New Roman" panose="02020603050405020304" pitchFamily="18" charset="0"/>
              </a:rPr>
              <a:t>Employe</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b="1" dirty="0">
                <a:latin typeface="Times New Roman" panose="02020603050405020304" pitchFamily="18" charset="0"/>
                <a:cs typeface="Times New Roman" panose="02020603050405020304" pitchFamily="18" charset="0"/>
              </a:rPr>
              <a:t>Q1. </a:t>
            </a:r>
            <a:r>
              <a:rPr lang="fr-FR" sz="2000" dirty="0" smtClean="0">
                <a:latin typeface="Times New Roman" panose="02020603050405020304" pitchFamily="18" charset="0"/>
                <a:cs typeface="Times New Roman" panose="02020603050405020304" pitchFamily="18" charset="0"/>
              </a:rPr>
              <a:t>Réaliser </a:t>
            </a:r>
            <a:r>
              <a:rPr lang="fr-FR" sz="2000" dirty="0">
                <a:latin typeface="Times New Roman" panose="02020603050405020304" pitchFamily="18" charset="0"/>
                <a:cs typeface="Times New Roman" panose="02020603050405020304" pitchFamily="18" charset="0"/>
              </a:rPr>
              <a:t>l’ensemble des classes précédentes en choisissant pour chacun des attribut le type convenable. Les attributs sont tous privés d’où la nécessité d’implémenter des propriétés pour chacun des attributs</a:t>
            </a:r>
          </a:p>
          <a:p>
            <a:r>
              <a:rPr lang="fr-FR" sz="2000" b="1" dirty="0">
                <a:latin typeface="Times New Roman" panose="02020603050405020304" pitchFamily="18" charset="0"/>
                <a:cs typeface="Times New Roman" panose="02020603050405020304" pitchFamily="18" charset="0"/>
              </a:rPr>
              <a:t>Q2. </a:t>
            </a:r>
            <a:r>
              <a:rPr lang="fr-FR" sz="2000" dirty="0">
                <a:latin typeface="Times New Roman" panose="02020603050405020304" pitchFamily="18" charset="0"/>
                <a:cs typeface="Times New Roman" panose="02020603050405020304" pitchFamily="18" charset="0"/>
              </a:rPr>
              <a:t>Nous allons réaliser une interface </a:t>
            </a:r>
            <a:r>
              <a:rPr lang="fr-FR" sz="2000" dirty="0" err="1">
                <a:latin typeface="Times New Roman" panose="02020603050405020304" pitchFamily="18" charset="0"/>
                <a:cs typeface="Times New Roman" panose="02020603050405020304" pitchFamily="18" charset="0"/>
              </a:rPr>
              <a:t>Icentre</a:t>
            </a:r>
            <a:r>
              <a:rPr lang="fr-FR" sz="2000" dirty="0">
                <a:latin typeface="Times New Roman" panose="02020603050405020304" pitchFamily="18" charset="0"/>
                <a:cs typeface="Times New Roman" panose="02020603050405020304" pitchFamily="18" charset="0"/>
              </a:rPr>
              <a:t> comportant les différentes méthodes à implémenter :</a:t>
            </a:r>
          </a:p>
          <a:p>
            <a:r>
              <a:rPr lang="fr-FR" sz="2000" dirty="0" smtClean="0">
                <a:latin typeface="Times New Roman" panose="02020603050405020304" pitchFamily="18" charset="0"/>
                <a:cs typeface="Times New Roman" panose="02020603050405020304" pitchFamily="18" charset="0"/>
              </a:rPr>
              <a:t>1. Int </a:t>
            </a:r>
            <a:r>
              <a:rPr lang="fr-FR" sz="2000" dirty="0" err="1">
                <a:latin typeface="Times New Roman" panose="02020603050405020304" pitchFamily="18" charset="0"/>
                <a:cs typeface="Times New Roman" panose="02020603050405020304" pitchFamily="18" charset="0"/>
              </a:rPr>
              <a:t>CalculerAge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DateTime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dateCourante</a:t>
            </a:r>
            <a:r>
              <a:rPr lang="fr-FR" sz="2000" dirty="0">
                <a:latin typeface="Times New Roman" panose="02020603050405020304" pitchFamily="18" charset="0"/>
                <a:cs typeface="Times New Roman" panose="02020603050405020304" pitchFamily="18" charset="0"/>
              </a:rPr>
              <a:t>) : cette méthode prend en paramètre la date courante à partir de laquelle </a:t>
            </a:r>
            <a:r>
              <a:rPr lang="fr-FR" sz="2000" dirty="0" err="1">
                <a:latin typeface="Times New Roman" panose="02020603050405020304" pitchFamily="18" charset="0"/>
                <a:cs typeface="Times New Roman" panose="02020603050405020304" pitchFamily="18" charset="0"/>
              </a:rPr>
              <a:t>l’age</a:t>
            </a:r>
            <a:r>
              <a:rPr lang="fr-FR" sz="2000" dirty="0">
                <a:latin typeface="Times New Roman" panose="02020603050405020304" pitchFamily="18" charset="0"/>
                <a:cs typeface="Times New Roman" panose="02020603050405020304" pitchFamily="18" charset="0"/>
              </a:rPr>
              <a:t> sera calculé et retourne </a:t>
            </a:r>
            <a:r>
              <a:rPr lang="fr-FR" sz="2000" dirty="0" err="1">
                <a:latin typeface="Times New Roman" panose="02020603050405020304" pitchFamily="18" charset="0"/>
                <a:cs typeface="Times New Roman" panose="02020603050405020304" pitchFamily="18" charset="0"/>
              </a:rPr>
              <a:t>l’age</a:t>
            </a:r>
            <a:r>
              <a:rPr lang="fr-FR" sz="2000" dirty="0">
                <a:latin typeface="Times New Roman" panose="02020603050405020304" pitchFamily="18" charset="0"/>
                <a:cs typeface="Times New Roman" panose="02020603050405020304" pitchFamily="18" charset="0"/>
              </a:rPr>
              <a:t> de la personne , cette méthode sera implémentée par la classe Personne</a:t>
            </a:r>
          </a:p>
          <a:p>
            <a:r>
              <a:rPr lang="fr-FR" sz="2000" dirty="0" smtClean="0">
                <a:latin typeface="Times New Roman" panose="02020603050405020304" pitchFamily="18" charset="0"/>
                <a:cs typeface="Times New Roman" panose="02020603050405020304" pitchFamily="18" charset="0"/>
              </a:rPr>
              <a:t>2. Double </a:t>
            </a:r>
            <a:r>
              <a:rPr lang="fr-FR" sz="2000" dirty="0" err="1">
                <a:latin typeface="Times New Roman" panose="02020603050405020304" pitchFamily="18" charset="0"/>
                <a:cs typeface="Times New Roman" panose="02020603050405020304" pitchFamily="18" charset="0"/>
              </a:rPr>
              <a:t>calculTotalSalair</a:t>
            </a:r>
            <a:r>
              <a:rPr lang="fr-FR" sz="2000" dirty="0">
                <a:latin typeface="Times New Roman" panose="02020603050405020304" pitchFamily="18" charset="0"/>
                <a:cs typeface="Times New Roman" panose="02020603050405020304" pitchFamily="18" charset="0"/>
              </a:rPr>
              <a:t>(double </a:t>
            </a:r>
            <a:r>
              <a:rPr lang="fr-FR" sz="2000" dirty="0" err="1">
                <a:latin typeface="Times New Roman" panose="02020603050405020304" pitchFamily="18" charset="0"/>
                <a:cs typeface="Times New Roman" panose="02020603050405020304" pitchFamily="18" charset="0"/>
              </a:rPr>
              <a:t>remHeure</a:t>
            </a:r>
            <a:r>
              <a:rPr lang="fr-FR" sz="2000" dirty="0">
                <a:latin typeface="Times New Roman" panose="02020603050405020304" pitchFamily="18" charset="0"/>
                <a:cs typeface="Times New Roman" panose="02020603050405020304" pitchFamily="18" charset="0"/>
              </a:rPr>
              <a:t>) : cette méthode prend  en paramètre la rémunération par heure et donnera en retour le salaire total (</a:t>
            </a:r>
            <a:r>
              <a:rPr lang="fr-FR" sz="2000" dirty="0" err="1">
                <a:latin typeface="Times New Roman" panose="02020603050405020304" pitchFamily="18" charset="0"/>
                <a:cs typeface="Times New Roman" panose="02020603050405020304" pitchFamily="18" charset="0"/>
              </a:rPr>
              <a:t>salaire+remHeure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nbrHeureSup</a:t>
            </a:r>
            <a:r>
              <a:rPr lang="fr-FR" sz="2000" dirty="0">
                <a:latin typeface="Times New Roman" panose="02020603050405020304" pitchFamily="18" charset="0"/>
                <a:cs typeface="Times New Roman" panose="02020603050405020304" pitchFamily="18" charset="0"/>
              </a:rPr>
              <a:t>), cette méthode sera implémenté par la classe </a:t>
            </a:r>
            <a:r>
              <a:rPr lang="fr-FR" sz="2000" dirty="0" err="1">
                <a:latin typeface="Times New Roman" panose="02020603050405020304" pitchFamily="18" charset="0"/>
                <a:cs typeface="Times New Roman" panose="02020603050405020304" pitchFamily="18" charset="0"/>
              </a:rPr>
              <a:t>Employe</a:t>
            </a:r>
            <a:endParaRPr lang="fr-FR" sz="2000" dirty="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3. String </a:t>
            </a:r>
            <a:r>
              <a:rPr lang="fr-FR" sz="2000" dirty="0" err="1">
                <a:latin typeface="Times New Roman" panose="02020603050405020304" pitchFamily="18" charset="0"/>
                <a:cs typeface="Times New Roman" panose="02020603050405020304" pitchFamily="18" charset="0"/>
              </a:rPr>
              <a:t>toString</a:t>
            </a:r>
            <a:r>
              <a:rPr lang="fr-FR" sz="2000" dirty="0">
                <a:latin typeface="Times New Roman" panose="02020603050405020304" pitchFamily="18" charset="0"/>
                <a:cs typeface="Times New Roman" panose="02020603050405020304" pitchFamily="18" charset="0"/>
              </a:rPr>
              <a:t>() : cette méthode doit retourner le nom et prénom séparé par une tabulation et concaténé avec </a:t>
            </a:r>
            <a:r>
              <a:rPr lang="fr-FR" sz="2000" dirty="0" smtClean="0">
                <a:latin typeface="Times New Roman" panose="02020603050405020304" pitchFamily="18" charset="0"/>
                <a:cs typeface="Times New Roman" panose="02020603050405020304" pitchFamily="18" charset="0"/>
              </a:rPr>
              <a:t> le </a:t>
            </a:r>
            <a:r>
              <a:rPr lang="fr-FR" sz="2000" dirty="0">
                <a:latin typeface="Times New Roman" panose="02020603050405020304" pitchFamily="18" charset="0"/>
                <a:cs typeface="Times New Roman" panose="02020603050405020304" pitchFamily="18" charset="0"/>
              </a:rPr>
              <a:t>matricule séparé par ’:’ , cette méthode sera implémentée par la classe Personne </a:t>
            </a:r>
          </a:p>
          <a:p>
            <a:r>
              <a:rPr lang="fr-FR" sz="2000" dirty="0" smtClean="0">
                <a:latin typeface="Times New Roman" panose="02020603050405020304" pitchFamily="18" charset="0"/>
                <a:cs typeface="Times New Roman" panose="02020603050405020304" pitchFamily="18" charset="0"/>
              </a:rPr>
              <a:t>4. </a:t>
            </a:r>
            <a:r>
              <a:rPr lang="fr-FR" sz="2000" dirty="0" err="1" smtClean="0">
                <a:latin typeface="Times New Roman" panose="02020603050405020304" pitchFamily="18" charset="0"/>
                <a:cs typeface="Times New Roman" panose="02020603050405020304" pitchFamily="18" charset="0"/>
              </a:rPr>
              <a:t>Bool</a:t>
            </a:r>
            <a:r>
              <a:rPr lang="fr-FR" sz="2000" dirty="0" smtClean="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equals</a:t>
            </a:r>
            <a:r>
              <a:rPr lang="fr-FR" sz="2000" dirty="0">
                <a:latin typeface="Times New Roman" panose="02020603050405020304" pitchFamily="18" charset="0"/>
                <a:cs typeface="Times New Roman" panose="02020603050405020304" pitchFamily="18" charset="0"/>
              </a:rPr>
              <a:t>(Salle s) : cette méthode permet de comparer deux salles en ayant comme critère le nombre de table puis le type de la salle</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Réaliser l’interface </a:t>
            </a:r>
            <a:r>
              <a:rPr lang="fr-FR" sz="2000" dirty="0" err="1">
                <a:latin typeface="Times New Roman" panose="02020603050405020304" pitchFamily="18" charset="0"/>
                <a:cs typeface="Times New Roman" panose="02020603050405020304" pitchFamily="18" charset="0"/>
              </a:rPr>
              <a:t>Icentre</a:t>
            </a:r>
            <a:r>
              <a:rPr lang="fr-FR" sz="2000" dirty="0">
                <a:latin typeface="Times New Roman" panose="02020603050405020304" pitchFamily="18" charset="0"/>
                <a:cs typeface="Times New Roman" panose="02020603050405020304" pitchFamily="18" charset="0"/>
              </a:rPr>
              <a:t>, et implémenter ces méthodes dans les classes correspondantes</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r>
              <a:rPr lang="fr-FR" sz="2000" b="1" dirty="0">
                <a:latin typeface="Times New Roman" panose="02020603050405020304" pitchFamily="18" charset="0"/>
                <a:cs typeface="Times New Roman" panose="02020603050405020304" pitchFamily="18" charset="0"/>
              </a:rPr>
              <a:t>Q3. </a:t>
            </a:r>
            <a:r>
              <a:rPr lang="fr-FR" sz="2000" dirty="0">
                <a:latin typeface="Times New Roman" panose="02020603050405020304" pitchFamily="18" charset="0"/>
                <a:cs typeface="Times New Roman" panose="02020603050405020304" pitchFamily="18" charset="0"/>
              </a:rPr>
              <a:t>Réaliser un menu qui permet de calculer </a:t>
            </a:r>
            <a:r>
              <a:rPr lang="fr-FR" sz="2000" dirty="0" err="1">
                <a:latin typeface="Times New Roman" panose="02020603050405020304" pitchFamily="18" charset="0"/>
                <a:cs typeface="Times New Roman" panose="02020603050405020304" pitchFamily="18" charset="0"/>
              </a:rPr>
              <a:t>l’age</a:t>
            </a:r>
            <a:r>
              <a:rPr lang="fr-FR" sz="2000" dirty="0">
                <a:latin typeface="Times New Roman" panose="02020603050405020304" pitchFamily="18" charset="0"/>
                <a:cs typeface="Times New Roman" panose="02020603050405020304" pitchFamily="18" charset="0"/>
              </a:rPr>
              <a:t> d’une personne, de calculer le salaire total d’un employé et de </a:t>
            </a:r>
            <a:r>
              <a:rPr lang="fr-FR" sz="2000" dirty="0" smtClean="0">
                <a:latin typeface="Times New Roman" panose="02020603050405020304" pitchFamily="18" charset="0"/>
                <a:cs typeface="Times New Roman" panose="02020603050405020304" pitchFamily="18" charset="0"/>
              </a:rPr>
              <a:t>vérifier </a:t>
            </a:r>
            <a:r>
              <a:rPr lang="fr-FR" sz="2000" dirty="0">
                <a:latin typeface="Times New Roman" panose="02020603050405020304" pitchFamily="18" charset="0"/>
                <a:cs typeface="Times New Roman" panose="02020603050405020304" pitchFamily="18" charset="0"/>
              </a:rPr>
              <a:t>l’égalité de deux salles </a:t>
            </a:r>
          </a:p>
        </p:txBody>
      </p:sp>
    </p:spTree>
    <p:extLst>
      <p:ext uri="{BB962C8B-B14F-4D97-AF65-F5344CB8AC3E}">
        <p14:creationId xmlns:p14="http://schemas.microsoft.com/office/powerpoint/2010/main" val="431075032"/>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err="1"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TPs</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3170099"/>
          </a:xfrm>
          <a:prstGeom prst="rect">
            <a:avLst/>
          </a:prstGeom>
          <a:noFill/>
        </p:spPr>
        <p:txBody>
          <a:bodyPr wrap="square" rtlCol="0">
            <a:spAutoFit/>
          </a:bodyPr>
          <a:lstStyle/>
          <a:p>
            <a:r>
              <a:rPr lang="fr-FR" sz="2000" b="1" dirty="0">
                <a:latin typeface="Times New Roman" panose="02020603050405020304" pitchFamily="18" charset="0"/>
                <a:cs typeface="Times New Roman" panose="02020603050405020304" pitchFamily="18" charset="0"/>
              </a:rPr>
              <a:t>Exercice </a:t>
            </a:r>
            <a:r>
              <a:rPr lang="fr-FR" sz="2000" b="1" dirty="0" smtClean="0">
                <a:latin typeface="Times New Roman" panose="02020603050405020304" pitchFamily="18" charset="0"/>
                <a:cs typeface="Times New Roman" panose="02020603050405020304" pitchFamily="18" charset="0"/>
              </a:rPr>
              <a:t>12 : </a:t>
            </a:r>
            <a:r>
              <a:rPr lang="fr-FR" sz="2000" dirty="0" smtClean="0">
                <a:latin typeface="Times New Roman" panose="02020603050405020304" pitchFamily="18" charset="0"/>
                <a:cs typeface="Times New Roman" panose="02020603050405020304" pitchFamily="18" charset="0"/>
              </a:rPr>
              <a:t>Gestion d’un centre de  formation</a:t>
            </a:r>
          </a:p>
          <a:p>
            <a:endParaRPr lang="fr-FR" sz="2000" dirty="0" smtClean="0">
              <a:latin typeface="Times New Roman" panose="02020603050405020304" pitchFamily="18" charset="0"/>
              <a:cs typeface="Times New Roman" panose="02020603050405020304" pitchFamily="18" charset="0"/>
            </a:endParaRPr>
          </a:p>
          <a:p>
            <a:r>
              <a:rPr lang="fr-FR" sz="2000" dirty="0" smtClean="0">
                <a:latin typeface="Times New Roman" panose="02020603050405020304" pitchFamily="18" charset="0"/>
                <a:cs typeface="Times New Roman" panose="02020603050405020304" pitchFamily="18" charset="0"/>
              </a:rPr>
              <a:t>Tester </a:t>
            </a:r>
            <a:r>
              <a:rPr lang="fr-FR" sz="2000" dirty="0">
                <a:latin typeface="Times New Roman" panose="02020603050405020304" pitchFamily="18" charset="0"/>
                <a:cs typeface="Times New Roman" panose="02020603050405020304" pitchFamily="18" charset="0"/>
              </a:rPr>
              <a:t>quelques méthodes sur les différentes collections : </a:t>
            </a:r>
            <a:r>
              <a:rPr lang="fr-FR" sz="2000" dirty="0" err="1">
                <a:latin typeface="Times New Roman" panose="02020603050405020304" pitchFamily="18" charset="0"/>
                <a:cs typeface="Times New Roman" panose="02020603050405020304" pitchFamily="18" charset="0"/>
              </a:rPr>
              <a:t>ArrayList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Hashtable</a:t>
            </a:r>
            <a:r>
              <a:rPr lang="fr-FR" sz="2000" dirty="0">
                <a:latin typeface="Times New Roman" panose="02020603050405020304" pitchFamily="18" charset="0"/>
                <a:cs typeface="Times New Roman" panose="02020603050405020304" pitchFamily="18" charset="0"/>
              </a:rPr>
              <a:t>, </a:t>
            </a:r>
            <a:r>
              <a:rPr lang="fr-FR" sz="2000" dirty="0" err="1" smtClean="0">
                <a:latin typeface="Times New Roman" panose="02020603050405020304" pitchFamily="18" charset="0"/>
                <a:cs typeface="Times New Roman" panose="02020603050405020304" pitchFamily="18" charset="0"/>
              </a:rPr>
              <a:t>SortedList</a:t>
            </a:r>
            <a:r>
              <a:rPr lang="fr-FR" sz="2000" dirty="0" smtClean="0">
                <a:latin typeface="Times New Roman" panose="02020603050405020304" pitchFamily="18" charset="0"/>
                <a:cs typeface="Times New Roman" panose="02020603050405020304" pitchFamily="18" charset="0"/>
              </a:rPr>
              <a:t>,…</a:t>
            </a:r>
          </a:p>
          <a:p>
            <a:endParaRPr lang="fr-FR" sz="2000" dirty="0">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A partir de la classe </a:t>
            </a:r>
            <a:r>
              <a:rPr lang="fr-FR" sz="2000" dirty="0" err="1">
                <a:latin typeface="Times New Roman" panose="02020603050405020304" pitchFamily="18" charset="0"/>
                <a:cs typeface="Times New Roman" panose="02020603050405020304" pitchFamily="18" charset="0"/>
              </a:rPr>
              <a:t>Employe</a:t>
            </a:r>
            <a:r>
              <a:rPr lang="fr-FR" sz="2000" dirty="0">
                <a:latin typeface="Times New Roman" panose="02020603050405020304" pitchFamily="18" charset="0"/>
                <a:cs typeface="Times New Roman" panose="02020603050405020304" pitchFamily="18" charset="0"/>
              </a:rPr>
              <a:t> implémentée dans le T.P précédent, dans la fonction Main de l'application, </a:t>
            </a:r>
          </a:p>
          <a:p>
            <a:r>
              <a:rPr lang="fr-FR" sz="2000" dirty="0">
                <a:latin typeface="Times New Roman" panose="02020603050405020304" pitchFamily="18" charset="0"/>
                <a:cs typeface="Times New Roman" panose="02020603050405020304" pitchFamily="18" charset="0"/>
              </a:rPr>
              <a:t>• Créer une instance d'une collection </a:t>
            </a:r>
            <a:r>
              <a:rPr lang="fr-FR" sz="2000" dirty="0" err="1">
                <a:latin typeface="Times New Roman" panose="02020603050405020304" pitchFamily="18" charset="0"/>
                <a:cs typeface="Times New Roman" panose="02020603050405020304" pitchFamily="18" charset="0"/>
              </a:rPr>
              <a:t>SortedList</a:t>
            </a:r>
            <a:r>
              <a:rPr lang="fr-FR" sz="2000" dirty="0">
                <a:latin typeface="Times New Roman" panose="02020603050405020304" pitchFamily="18" charset="0"/>
                <a:cs typeface="Times New Roman" panose="02020603050405020304" pitchFamily="18" charset="0"/>
              </a:rPr>
              <a:t> dans laquelle on va ranger des instances de la classe </a:t>
            </a:r>
            <a:r>
              <a:rPr lang="fr-FR" sz="2000" dirty="0" err="1">
                <a:latin typeface="Times New Roman" panose="02020603050405020304" pitchFamily="18" charset="0"/>
                <a:cs typeface="Times New Roman" panose="02020603050405020304" pitchFamily="18" charset="0"/>
              </a:rPr>
              <a:t>Employe</a:t>
            </a:r>
            <a:r>
              <a:rPr lang="fr-FR" sz="2000" dirty="0">
                <a:latin typeface="Times New Roman" panose="02020603050405020304" pitchFamily="18" charset="0"/>
                <a:cs typeface="Times New Roman" panose="02020603050405020304" pitchFamily="18" charset="0"/>
              </a:rPr>
              <a:t> repérées par leur numéro de matricule.</a:t>
            </a:r>
          </a:p>
          <a:p>
            <a:r>
              <a:rPr lang="fr-FR" sz="2000" dirty="0">
                <a:latin typeface="Times New Roman" panose="02020603050405020304" pitchFamily="18" charset="0"/>
                <a:cs typeface="Times New Roman" panose="02020603050405020304" pitchFamily="18" charset="0"/>
              </a:rPr>
              <a:t>• Créer au moins cinq instances de la classe </a:t>
            </a:r>
            <a:r>
              <a:rPr lang="fr-FR" sz="2000" dirty="0" err="1">
                <a:latin typeface="Times New Roman" panose="02020603050405020304" pitchFamily="18" charset="0"/>
                <a:cs typeface="Times New Roman" panose="02020603050405020304" pitchFamily="18" charset="0"/>
              </a:rPr>
              <a:t>Employe</a:t>
            </a:r>
            <a:r>
              <a:rPr lang="fr-FR" sz="2000" dirty="0">
                <a:latin typeface="Times New Roman" panose="02020603050405020304" pitchFamily="18" charset="0"/>
                <a:cs typeface="Times New Roman" panose="02020603050405020304" pitchFamily="18" charset="0"/>
              </a:rPr>
              <a:t> et les insérer dans la collection.</a:t>
            </a:r>
          </a:p>
          <a:p>
            <a:r>
              <a:rPr lang="fr-FR" sz="2000" dirty="0">
                <a:latin typeface="Times New Roman" panose="02020603050405020304" pitchFamily="18" charset="0"/>
                <a:cs typeface="Times New Roman" panose="02020603050405020304" pitchFamily="18" charset="0"/>
              </a:rPr>
              <a:t>• Faire l'itération de la collection pour afficher son contenu par ordre croissant des numéros de matricules.</a:t>
            </a:r>
          </a:p>
          <a:p>
            <a:r>
              <a:rPr lang="fr-FR" sz="2000" dirty="0">
                <a:latin typeface="Times New Roman" panose="02020603050405020304" pitchFamily="18" charset="0"/>
                <a:cs typeface="Times New Roman" panose="02020603050405020304" pitchFamily="18" charset="0"/>
              </a:rPr>
              <a:t>• Chercher un salarié dans la collection en fournissant son matricule.</a:t>
            </a:r>
          </a:p>
        </p:txBody>
      </p:sp>
    </p:spTree>
    <p:extLst>
      <p:ext uri="{BB962C8B-B14F-4D97-AF65-F5344CB8AC3E}">
        <p14:creationId xmlns:p14="http://schemas.microsoft.com/office/powerpoint/2010/main" val="418168932"/>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18</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Les expressions régulières </a:t>
            </a: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Classe </a:t>
            </a:r>
            <a:r>
              <a:rPr lang="fr-FR" sz="4000" b="1" dirty="0" err="1"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Regex</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5324535"/>
          </a:xfrm>
          <a:prstGeom prst="rect">
            <a:avLst/>
          </a:prstGeom>
          <a:noFill/>
        </p:spPr>
        <p:txBody>
          <a:bodyPr wrap="square" rtlCol="0">
            <a:spAutoFit/>
          </a:bodyPr>
          <a:lstStyle/>
          <a:p>
            <a:pPr algn="just"/>
            <a:r>
              <a:rPr lang="fr-FR" sz="2000" dirty="0">
                <a:latin typeface="Times New Roman" panose="02020603050405020304" pitchFamily="18" charset="0"/>
                <a:cs typeface="Times New Roman" panose="02020603050405020304" pitchFamily="18" charset="0"/>
              </a:rPr>
              <a:t>Les </a:t>
            </a:r>
            <a:r>
              <a:rPr lang="fr-FR" sz="2000" b="1" dirty="0">
                <a:latin typeface="Times New Roman" panose="02020603050405020304" pitchFamily="18" charset="0"/>
                <a:cs typeface="Times New Roman" panose="02020603050405020304" pitchFamily="18" charset="0"/>
              </a:rPr>
              <a:t>expressions régulières </a:t>
            </a:r>
            <a:r>
              <a:rPr lang="fr-FR" sz="2000" dirty="0">
                <a:latin typeface="Times New Roman" panose="02020603050405020304" pitchFamily="18" charset="0"/>
                <a:cs typeface="Times New Roman" panose="02020603050405020304" pitchFamily="18" charset="0"/>
              </a:rPr>
              <a:t>(également appelées </a:t>
            </a:r>
            <a:r>
              <a:rPr lang="fr-FR" sz="2000" b="1" dirty="0" err="1">
                <a:latin typeface="Times New Roman" panose="02020603050405020304" pitchFamily="18" charset="0"/>
                <a:cs typeface="Times New Roman" panose="02020603050405020304" pitchFamily="18" charset="0"/>
              </a:rPr>
              <a:t>Regex</a:t>
            </a:r>
            <a:r>
              <a:rPr lang="fr-FR" sz="2000" dirty="0">
                <a:latin typeface="Times New Roman" panose="02020603050405020304" pitchFamily="18" charset="0"/>
                <a:cs typeface="Times New Roman" panose="02020603050405020304" pitchFamily="18" charset="0"/>
              </a:rPr>
              <a:t> ou </a:t>
            </a:r>
            <a:r>
              <a:rPr lang="fr-FR" sz="2000" b="1" dirty="0" err="1">
                <a:latin typeface="Times New Roman" panose="02020603050405020304" pitchFamily="18" charset="0"/>
                <a:cs typeface="Times New Roman" panose="02020603050405020304" pitchFamily="18" charset="0"/>
              </a:rPr>
              <a:t>Regexp</a:t>
            </a:r>
            <a:r>
              <a:rPr lang="fr-FR" sz="2000" dirty="0">
                <a:latin typeface="Times New Roman" panose="02020603050405020304" pitchFamily="18" charset="0"/>
                <a:cs typeface="Times New Roman" panose="02020603050405020304" pitchFamily="18" charset="0"/>
              </a:rPr>
              <a:t>) sont une traduction </a:t>
            </a:r>
            <a:r>
              <a:rPr lang="fr-FR" sz="2000" dirty="0" err="1" smtClean="0">
                <a:latin typeface="Times New Roman" panose="02020603050405020304" pitchFamily="18" charset="0"/>
                <a:cs typeface="Times New Roman" panose="02020603050405020304" pitchFamily="18" charset="0"/>
              </a:rPr>
              <a:t>contreversée</a:t>
            </a:r>
            <a:r>
              <a:rPr lang="fr-FR" sz="20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de </a:t>
            </a:r>
            <a:r>
              <a:rPr lang="fr-FR" sz="2000" b="1" dirty="0">
                <a:latin typeface="Times New Roman" panose="02020603050405020304" pitchFamily="18" charset="0"/>
                <a:cs typeface="Times New Roman" panose="02020603050405020304" pitchFamily="18" charset="0"/>
              </a:rPr>
              <a:t>"</a:t>
            </a:r>
            <a:r>
              <a:rPr lang="fr-FR" sz="2000" b="1" dirty="0" err="1">
                <a:latin typeface="Times New Roman" panose="02020603050405020304" pitchFamily="18" charset="0"/>
                <a:cs typeface="Times New Roman" panose="02020603050405020304" pitchFamily="18" charset="0"/>
              </a:rPr>
              <a:t>regular</a:t>
            </a:r>
            <a:r>
              <a:rPr lang="fr-FR" sz="2000" b="1" dirty="0">
                <a:latin typeface="Times New Roman" panose="02020603050405020304" pitchFamily="18" charset="0"/>
                <a:cs typeface="Times New Roman" panose="02020603050405020304" pitchFamily="18" charset="0"/>
              </a:rPr>
              <a:t> expressions"</a:t>
            </a:r>
            <a:r>
              <a:rPr lang="fr-FR" sz="2000" dirty="0">
                <a:latin typeface="Times New Roman" panose="02020603050405020304" pitchFamily="18" charset="0"/>
                <a:cs typeface="Times New Roman" panose="02020603050405020304" pitchFamily="18" charset="0"/>
              </a:rPr>
              <a:t> que les puristes </a:t>
            </a:r>
            <a:r>
              <a:rPr lang="fr-FR" sz="2000" dirty="0" smtClean="0">
                <a:latin typeface="Times New Roman" panose="02020603050405020304" pitchFamily="18" charset="0"/>
                <a:cs typeface="Times New Roman" panose="02020603050405020304" pitchFamily="18" charset="0"/>
              </a:rPr>
              <a:t>appelleront </a:t>
            </a:r>
            <a:r>
              <a:rPr lang="fr-FR" sz="2000" dirty="0">
                <a:latin typeface="Times New Roman" panose="02020603050405020304" pitchFamily="18" charset="0"/>
                <a:cs typeface="Times New Roman" panose="02020603050405020304" pitchFamily="18" charset="0"/>
              </a:rPr>
              <a:t>les expressions rationnelles. </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La </a:t>
            </a:r>
            <a:r>
              <a:rPr lang="fr-FR" sz="2000" dirty="0">
                <a:latin typeface="Times New Roman" panose="02020603050405020304" pitchFamily="18" charset="0"/>
                <a:cs typeface="Times New Roman" panose="02020603050405020304" pitchFamily="18" charset="0"/>
              </a:rPr>
              <a:t>classe </a:t>
            </a:r>
            <a:r>
              <a:rPr lang="fr-FR" sz="2000" b="1" dirty="0" err="1">
                <a:latin typeface="Times New Roman" panose="02020603050405020304" pitchFamily="18" charset="0"/>
                <a:cs typeface="Times New Roman" panose="02020603050405020304" pitchFamily="18" charset="0"/>
              </a:rPr>
              <a:t>Regex</a:t>
            </a:r>
            <a:r>
              <a:rPr lang="fr-FR" sz="2000" dirty="0">
                <a:latin typeface="Times New Roman" panose="02020603050405020304" pitchFamily="18" charset="0"/>
                <a:cs typeface="Times New Roman" panose="02020603050405020304" pitchFamily="18" charset="0"/>
              </a:rPr>
              <a:t> est une classe </a:t>
            </a:r>
            <a:r>
              <a:rPr lang="fr-FR" sz="2000" dirty="0" smtClean="0">
                <a:latin typeface="Times New Roman" panose="02020603050405020304" pitchFamily="18" charset="0"/>
                <a:cs typeface="Times New Roman" panose="02020603050405020304" pitchFamily="18" charset="0"/>
              </a:rPr>
              <a:t>permettant </a:t>
            </a:r>
            <a:r>
              <a:rPr lang="fr-FR" sz="2000" dirty="0">
                <a:latin typeface="Times New Roman" panose="02020603050405020304" pitchFamily="18" charset="0"/>
                <a:cs typeface="Times New Roman" panose="02020603050405020304" pitchFamily="18" charset="0"/>
              </a:rPr>
              <a:t>de vérifier la syntaxe d'une chaîne de caractères. </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Les </a:t>
            </a:r>
            <a:r>
              <a:rPr lang="fr-FR" sz="2000" dirty="0" err="1">
                <a:latin typeface="Times New Roman" panose="02020603050405020304" pitchFamily="18" charset="0"/>
                <a:cs typeface="Times New Roman" panose="02020603050405020304" pitchFamily="18" charset="0"/>
              </a:rPr>
              <a:t>Regex</a:t>
            </a:r>
            <a:r>
              <a:rPr lang="fr-FR" sz="2000" dirty="0">
                <a:latin typeface="Times New Roman" panose="02020603050405020304" pitchFamily="18" charset="0"/>
                <a:cs typeface="Times New Roman" panose="02020603050405020304" pitchFamily="18" charset="0"/>
              </a:rPr>
              <a:t> sont utilisées pour trois </a:t>
            </a:r>
            <a:r>
              <a:rPr lang="fr-FR" sz="2000" dirty="0" smtClean="0">
                <a:latin typeface="Times New Roman" panose="02020603050405020304" pitchFamily="18" charset="0"/>
                <a:cs typeface="Times New Roman" panose="02020603050405020304" pitchFamily="18" charset="0"/>
              </a:rPr>
              <a:t>grands types </a:t>
            </a:r>
            <a:r>
              <a:rPr lang="fr-FR" sz="2000" dirty="0">
                <a:latin typeface="Times New Roman" panose="02020603050405020304" pitchFamily="18" charset="0"/>
                <a:cs typeface="Times New Roman" panose="02020603050405020304" pitchFamily="18" charset="0"/>
              </a:rPr>
              <a:t>d'action :</a:t>
            </a:r>
          </a:p>
          <a:p>
            <a:pPr algn="just"/>
            <a:r>
              <a:rPr lang="fr-FR" sz="2000" dirty="0" smtClean="0">
                <a:latin typeface="Times New Roman" panose="02020603050405020304" pitchFamily="18" charset="0"/>
                <a:cs typeface="Times New Roman" panose="02020603050405020304" pitchFamily="18" charset="0"/>
              </a:rPr>
              <a:t>- </a:t>
            </a:r>
            <a:r>
              <a:rPr lang="fr-FR" sz="2000" b="1" dirty="0" smtClean="0">
                <a:latin typeface="Times New Roman" panose="02020603050405020304" pitchFamily="18" charset="0"/>
                <a:cs typeface="Times New Roman" panose="02020603050405020304" pitchFamily="18" charset="0"/>
              </a:rPr>
              <a:t>Vérifier la syntaxe </a:t>
            </a:r>
            <a:r>
              <a:rPr lang="fr-FR" sz="2000" dirty="0" smtClean="0">
                <a:latin typeface="Times New Roman" panose="02020603050405020304" pitchFamily="18" charset="0"/>
                <a:cs typeface="Times New Roman" panose="02020603050405020304" pitchFamily="18" charset="0"/>
              </a:rPr>
              <a:t>(forme) </a:t>
            </a:r>
            <a:r>
              <a:rPr lang="fr-FR" sz="2000" dirty="0">
                <a:latin typeface="Times New Roman" panose="02020603050405020304" pitchFamily="18" charset="0"/>
                <a:cs typeface="Times New Roman" panose="02020603050405020304" pitchFamily="18" charset="0"/>
              </a:rPr>
              <a:t>d'une chaîne de caractères (ex : numéro de téléphone de forme  +2126…….)</a:t>
            </a:r>
          </a:p>
          <a:p>
            <a:pPr algn="just"/>
            <a:r>
              <a:rPr lang="fr-FR" sz="2000" dirty="0">
                <a:latin typeface="Times New Roman" panose="02020603050405020304" pitchFamily="18" charset="0"/>
                <a:cs typeface="Times New Roman" panose="02020603050405020304" pitchFamily="18" charset="0"/>
              </a:rPr>
              <a:t>- </a:t>
            </a:r>
            <a:r>
              <a:rPr lang="fr-FR" sz="2000" b="1" dirty="0">
                <a:latin typeface="Times New Roman" panose="02020603050405020304" pitchFamily="18" charset="0"/>
                <a:cs typeface="Times New Roman" panose="02020603050405020304" pitchFamily="18" charset="0"/>
              </a:rPr>
              <a:t>Remplacer une </a:t>
            </a:r>
            <a:r>
              <a:rPr lang="fr-FR" sz="2000" b="1" dirty="0" smtClean="0">
                <a:latin typeface="Times New Roman" panose="02020603050405020304" pitchFamily="18" charset="0"/>
                <a:cs typeface="Times New Roman" panose="02020603050405020304" pitchFamily="18" charset="0"/>
              </a:rPr>
              <a:t>partie </a:t>
            </a:r>
            <a:r>
              <a:rPr lang="fr-FR" sz="2000" b="1" dirty="0">
                <a:latin typeface="Times New Roman" panose="02020603050405020304" pitchFamily="18" charset="0"/>
                <a:cs typeface="Times New Roman" panose="02020603050405020304" pitchFamily="18" charset="0"/>
              </a:rPr>
              <a:t>de la chaîne </a:t>
            </a:r>
            <a:r>
              <a:rPr lang="fr-FR" sz="2000" dirty="0">
                <a:latin typeface="Times New Roman" panose="02020603050405020304" pitchFamily="18" charset="0"/>
                <a:cs typeface="Times New Roman" panose="02020603050405020304" pitchFamily="18" charset="0"/>
              </a:rPr>
              <a:t>par un élément spécifique.</a:t>
            </a:r>
          </a:p>
          <a:p>
            <a:pPr algn="just"/>
            <a:r>
              <a:rPr lang="fr-FR" sz="2000" dirty="0" smtClean="0">
                <a:latin typeface="Times New Roman" panose="02020603050405020304" pitchFamily="18" charset="0"/>
                <a:cs typeface="Times New Roman" panose="02020603050405020304" pitchFamily="18" charset="0"/>
              </a:rPr>
              <a:t>- </a:t>
            </a:r>
            <a:r>
              <a:rPr lang="fr-FR" sz="2000" b="1" dirty="0" smtClean="0">
                <a:latin typeface="Times New Roman" panose="02020603050405020304" pitchFamily="18" charset="0"/>
                <a:cs typeface="Times New Roman" panose="02020603050405020304" pitchFamily="18" charset="0"/>
              </a:rPr>
              <a:t>Découper </a:t>
            </a:r>
            <a:r>
              <a:rPr lang="fr-FR" sz="2000" b="1" dirty="0">
                <a:latin typeface="Times New Roman" panose="02020603050405020304" pitchFamily="18" charset="0"/>
                <a:cs typeface="Times New Roman" panose="02020603050405020304" pitchFamily="18" charset="0"/>
              </a:rPr>
              <a:t>une chaîne </a:t>
            </a:r>
            <a:r>
              <a:rPr lang="fr-FR" sz="2000" dirty="0">
                <a:latin typeface="Times New Roman" panose="02020603050405020304" pitchFamily="18" charset="0"/>
                <a:cs typeface="Times New Roman" panose="02020603050405020304" pitchFamily="18" charset="0"/>
              </a:rPr>
              <a:t>de caractères</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L’utilisation la plus courante est de vérifier la syntaxe d'une chaîne, c'est-à-dire contrôler qu'elle respecte un format prédéfini et normé, décrit par les combinaisons d'opérateurs et de valeurs de la chaîne </a:t>
            </a:r>
            <a:r>
              <a:rPr lang="fr-FR" sz="2000" dirty="0" err="1">
                <a:latin typeface="Times New Roman" panose="02020603050405020304" pitchFamily="18" charset="0"/>
                <a:cs typeface="Times New Roman" panose="02020603050405020304" pitchFamily="18" charset="0"/>
              </a:rPr>
              <a:t>Regex</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Les </a:t>
            </a:r>
            <a:r>
              <a:rPr lang="fr-FR" sz="2000" dirty="0" err="1">
                <a:latin typeface="Times New Roman" panose="02020603050405020304" pitchFamily="18" charset="0"/>
                <a:cs typeface="Times New Roman" panose="02020603050405020304" pitchFamily="18" charset="0"/>
              </a:rPr>
              <a:t>Regex</a:t>
            </a:r>
            <a:r>
              <a:rPr lang="fr-FR" sz="2000" dirty="0">
                <a:latin typeface="Times New Roman" panose="02020603050405020304" pitchFamily="18" charset="0"/>
                <a:cs typeface="Times New Roman" panose="02020603050405020304" pitchFamily="18" charset="0"/>
              </a:rPr>
              <a:t> sont donc une suite de motifs qui se composent de méta caractères, de classes sous  .NET et d'alias</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Voici une série de méta caractères pouvant être utilisés et ayant chacun une correspondance bien précise.</a:t>
            </a:r>
          </a:p>
        </p:txBody>
      </p:sp>
    </p:spTree>
    <p:extLst>
      <p:ext uri="{BB962C8B-B14F-4D97-AF65-F5344CB8AC3E}">
        <p14:creationId xmlns:p14="http://schemas.microsoft.com/office/powerpoint/2010/main" val="1938612440"/>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18. Les expressions régulières - Classe </a:t>
            </a:r>
            <a:r>
              <a:rPr lang="fr-FR" sz="4000" b="1"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Regex</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00" y="1484572"/>
            <a:ext cx="12240000" cy="5373428"/>
          </a:xfrm>
          <a:prstGeom prst="rect">
            <a:avLst/>
          </a:prstGeom>
        </p:spPr>
      </p:pic>
    </p:spTree>
    <p:extLst>
      <p:ext uri="{BB962C8B-B14F-4D97-AF65-F5344CB8AC3E}">
        <p14:creationId xmlns:p14="http://schemas.microsoft.com/office/powerpoint/2010/main" val="534208245"/>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18. Les expressions régulières - Classe </a:t>
            </a:r>
            <a:r>
              <a:rPr lang="fr-FR" sz="4000" b="1"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Regex</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89896"/>
            <a:ext cx="12240000" cy="5068104"/>
          </a:xfrm>
          <a:prstGeom prst="rect">
            <a:avLst/>
          </a:prstGeom>
        </p:spPr>
      </p:pic>
    </p:spTree>
    <p:extLst>
      <p:ext uri="{BB962C8B-B14F-4D97-AF65-F5344CB8AC3E}">
        <p14:creationId xmlns:p14="http://schemas.microsoft.com/office/powerpoint/2010/main" val="2230790647"/>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18. Les expressions régulières - Classe </a:t>
            </a:r>
            <a:r>
              <a:rPr lang="fr-FR" sz="4000" b="1"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Regex</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5632311"/>
          </a:xfrm>
          <a:prstGeom prst="rect">
            <a:avLst/>
          </a:prstGeom>
          <a:noFill/>
        </p:spPr>
        <p:txBody>
          <a:bodyPr wrap="square" rtlCol="0">
            <a:spAutoFit/>
          </a:bodyPr>
          <a:lstStyle/>
          <a:p>
            <a:pPr algn="just"/>
            <a:r>
              <a:rPr lang="fr-FR" sz="2000" b="1" dirty="0" smtClean="0">
                <a:latin typeface="Times New Roman" panose="02020603050405020304" pitchFamily="18" charset="0"/>
                <a:cs typeface="Times New Roman" panose="02020603050405020304" pitchFamily="18" charset="0"/>
              </a:rPr>
              <a:t>Validation d'une chaîne</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La validation d'une chaîne de caractères se fait grâce à la méthode </a:t>
            </a:r>
            <a:r>
              <a:rPr lang="fr-FR" sz="2000" dirty="0" err="1">
                <a:latin typeface="Times New Roman" panose="02020603050405020304" pitchFamily="18" charset="0"/>
                <a:cs typeface="Times New Roman" panose="02020603050405020304" pitchFamily="18" charset="0"/>
              </a:rPr>
              <a:t>IsMatch</a:t>
            </a:r>
            <a:r>
              <a:rPr lang="fr-FR" sz="2000" dirty="0">
                <a:latin typeface="Times New Roman" panose="02020603050405020304" pitchFamily="18" charset="0"/>
                <a:cs typeface="Times New Roman" panose="02020603050405020304" pitchFamily="18" charset="0"/>
              </a:rPr>
              <a:t>() qui retourne une  valeur booléenne égale à </a:t>
            </a:r>
            <a:r>
              <a:rPr lang="fr-FR" sz="2000" dirty="0" err="1">
                <a:latin typeface="Times New Roman" panose="02020603050405020304" pitchFamily="18" charset="0"/>
                <a:cs typeface="Times New Roman" panose="02020603050405020304" pitchFamily="18" charset="0"/>
              </a:rPr>
              <a:t>true</a:t>
            </a:r>
            <a:r>
              <a:rPr lang="fr-FR" sz="2000" dirty="0">
                <a:latin typeface="Times New Roman" panose="02020603050405020304" pitchFamily="18" charset="0"/>
                <a:cs typeface="Times New Roman" panose="02020603050405020304" pitchFamily="18" charset="0"/>
              </a:rPr>
              <a:t> si la chaîne correspond à la </a:t>
            </a:r>
            <a:r>
              <a:rPr lang="fr-FR" sz="2000" dirty="0" err="1">
                <a:latin typeface="Times New Roman" panose="02020603050405020304" pitchFamily="18" charset="0"/>
                <a:cs typeface="Times New Roman" panose="02020603050405020304" pitchFamily="18" charset="0"/>
              </a:rPr>
              <a:t>Regex</a:t>
            </a:r>
            <a:r>
              <a:rPr lang="fr-FR" sz="2000" dirty="0">
                <a:latin typeface="Times New Roman" panose="02020603050405020304" pitchFamily="18" charset="0"/>
                <a:cs typeface="Times New Roman" panose="02020603050405020304" pitchFamily="18" charset="0"/>
              </a:rPr>
              <a:t> et false dans le cas contraire</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algn="just"/>
            <a:r>
              <a:rPr lang="fr-FR" sz="2000" b="1" dirty="0">
                <a:latin typeface="Times New Roman" panose="02020603050405020304" pitchFamily="18" charset="0"/>
                <a:cs typeface="Times New Roman" panose="02020603050405020304" pitchFamily="18" charset="0"/>
              </a:rPr>
              <a:t>Bibliothèque</a:t>
            </a:r>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Using</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System.Text.RegularExpressions</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algn="just"/>
            <a:r>
              <a:rPr lang="fr-FR" sz="2000" b="1" dirty="0">
                <a:latin typeface="Times New Roman" panose="02020603050405020304" pitchFamily="18" charset="0"/>
                <a:cs typeface="Times New Roman" panose="02020603050405020304" pitchFamily="18" charset="0"/>
              </a:rPr>
              <a:t>Exemple</a:t>
            </a:r>
            <a:r>
              <a:rPr lang="fr-FR" sz="2000" dirty="0">
                <a:latin typeface="Times New Roman" panose="02020603050405020304" pitchFamily="18" charset="0"/>
                <a:cs typeface="Times New Roman" panose="02020603050405020304" pitchFamily="18" charset="0"/>
              </a:rPr>
              <a:t> :</a:t>
            </a:r>
          </a:p>
          <a:p>
            <a:pPr algn="just"/>
            <a:r>
              <a:rPr lang="fr-FR" sz="2000" dirty="0">
                <a:latin typeface="Times New Roman" panose="02020603050405020304" pitchFamily="18" charset="0"/>
                <a:cs typeface="Times New Roman" panose="02020603050405020304" pitchFamily="18" charset="0"/>
              </a:rPr>
              <a:t>public </a:t>
            </a:r>
            <a:r>
              <a:rPr lang="fr-FR" sz="2000" dirty="0" err="1">
                <a:latin typeface="Times New Roman" panose="02020603050405020304" pitchFamily="18" charset="0"/>
                <a:cs typeface="Times New Roman" panose="02020603050405020304" pitchFamily="18" charset="0"/>
              </a:rPr>
              <a:t>static</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Main(String[] </a:t>
            </a:r>
            <a:r>
              <a:rPr lang="fr-FR" sz="2000" dirty="0" err="1">
                <a:latin typeface="Times New Roman" panose="02020603050405020304" pitchFamily="18" charset="0"/>
                <a:cs typeface="Times New Roman" panose="02020603050405020304" pitchFamily="18" charset="0"/>
              </a:rPr>
              <a:t>args</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("Donnez votre </a:t>
            </a:r>
            <a:r>
              <a:rPr lang="fr-FR" sz="2000" dirty="0" err="1">
                <a:latin typeface="Times New Roman" panose="02020603050405020304" pitchFamily="18" charset="0"/>
                <a:cs typeface="Times New Roman" panose="02020603050405020304" pitchFamily="18" charset="0"/>
              </a:rPr>
              <a:t>numero</a:t>
            </a:r>
            <a:r>
              <a:rPr lang="fr-FR" sz="2000" dirty="0">
                <a:latin typeface="Times New Roman" panose="02020603050405020304" pitchFamily="18" charset="0"/>
                <a:cs typeface="Times New Roman" panose="02020603050405020304" pitchFamily="18" charset="0"/>
              </a:rPr>
              <a:t> :");</a:t>
            </a:r>
          </a:p>
          <a:p>
            <a:pPr algn="just"/>
            <a:r>
              <a:rPr lang="fr-FR" sz="2000" dirty="0">
                <a:latin typeface="Times New Roman" panose="02020603050405020304" pitchFamily="18" charset="0"/>
                <a:cs typeface="Times New Roman" panose="02020603050405020304" pitchFamily="18" charset="0"/>
              </a:rPr>
              <a:t>	String </a:t>
            </a:r>
            <a:r>
              <a:rPr lang="fr-FR" sz="2000" dirty="0" err="1">
                <a:latin typeface="Times New Roman" panose="02020603050405020304" pitchFamily="18" charset="0"/>
                <a:cs typeface="Times New Roman" panose="02020603050405020304" pitchFamily="18" charset="0"/>
              </a:rPr>
              <a:t>telephone</a:t>
            </a:r>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Console.ReadLine</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String model = "^06[0-9]{8}$";</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Regex</a:t>
            </a:r>
            <a:r>
              <a:rPr lang="fr-FR" sz="2000" dirty="0">
                <a:latin typeface="Times New Roman" panose="02020603050405020304" pitchFamily="18" charset="0"/>
                <a:cs typeface="Times New Roman" panose="02020603050405020304" pitchFamily="18" charset="0"/>
              </a:rPr>
              <a:t> r = new </a:t>
            </a:r>
            <a:r>
              <a:rPr lang="fr-FR" sz="2000" dirty="0" err="1">
                <a:latin typeface="Times New Roman" panose="02020603050405020304" pitchFamily="18" charset="0"/>
                <a:cs typeface="Times New Roman" panose="02020603050405020304" pitchFamily="18" charset="0"/>
              </a:rPr>
              <a:t>Regex</a:t>
            </a:r>
            <a:r>
              <a:rPr lang="fr-FR" sz="2000" dirty="0">
                <a:latin typeface="Times New Roman" panose="02020603050405020304" pitchFamily="18" charset="0"/>
                <a:cs typeface="Times New Roman" panose="02020603050405020304" pitchFamily="18" charset="0"/>
              </a:rPr>
              <a:t>(model);</a:t>
            </a:r>
          </a:p>
          <a:p>
            <a:pPr algn="just"/>
            <a:r>
              <a:rPr lang="fr-FR" sz="2000" dirty="0">
                <a:latin typeface="Times New Roman" panose="02020603050405020304" pitchFamily="18" charset="0"/>
                <a:cs typeface="Times New Roman" panose="02020603050405020304" pitchFamily="18" charset="0"/>
              </a:rPr>
              <a:t>	if(</a:t>
            </a:r>
            <a:r>
              <a:rPr lang="fr-FR" sz="2000" dirty="0" err="1">
                <a:latin typeface="Times New Roman" panose="02020603050405020304" pitchFamily="18" charset="0"/>
                <a:cs typeface="Times New Roman" panose="02020603050405020304" pitchFamily="18" charset="0"/>
              </a:rPr>
              <a:t>r.IsMatch</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telephone</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Numero</a:t>
            </a:r>
            <a:r>
              <a:rPr lang="fr-FR" sz="2000" dirty="0">
                <a:latin typeface="Times New Roman" panose="02020603050405020304" pitchFamily="18" charset="0"/>
                <a:cs typeface="Times New Roman" panose="02020603050405020304" pitchFamily="18" charset="0"/>
              </a:rPr>
              <a:t> Valide");</a:t>
            </a:r>
          </a:p>
          <a:p>
            <a:pPr algn="just"/>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else</a:t>
            </a:r>
            <a:r>
              <a:rPr lang="fr-FR" sz="2000" dirty="0">
                <a:latin typeface="Times New Roman" panose="02020603050405020304" pitchFamily="18" charset="0"/>
                <a:cs typeface="Times New Roman" panose="02020603050405020304" pitchFamily="18" charset="0"/>
              </a:rPr>
              <a:t> {</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Numero</a:t>
            </a:r>
            <a:r>
              <a:rPr lang="fr-FR" sz="2000" dirty="0">
                <a:latin typeface="Times New Roman" panose="02020603050405020304" pitchFamily="18" charset="0"/>
                <a:cs typeface="Times New Roman" panose="02020603050405020304" pitchFamily="18" charset="0"/>
              </a:rPr>
              <a:t> Invalide");</a:t>
            </a:r>
          </a:p>
          <a:p>
            <a:pPr algn="just"/>
            <a:r>
              <a:rPr lang="fr-FR" sz="2000" dirty="0">
                <a:latin typeface="Times New Roman" panose="02020603050405020304" pitchFamily="18" charset="0"/>
                <a:cs typeface="Times New Roman" panose="02020603050405020304" pitchFamily="18" charset="0"/>
              </a:rPr>
              <a:t>	}</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Console.ReadLine</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13124617"/>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18. Les expressions régulières - Classe </a:t>
            </a:r>
            <a:r>
              <a:rPr lang="fr-FR" sz="4000" b="1"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Regex</a:t>
            </a:r>
            <a:endPar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p:cNvSpPr txBox="1"/>
          <p:nvPr/>
        </p:nvSpPr>
        <p:spPr>
          <a:xfrm>
            <a:off x="480163" y="911772"/>
            <a:ext cx="11160000" cy="4708981"/>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TP</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Créer </a:t>
            </a:r>
            <a:r>
              <a:rPr lang="fr-FR" sz="2000" dirty="0">
                <a:latin typeface="Times New Roman" panose="02020603050405020304" pitchFamily="18" charset="0"/>
                <a:cs typeface="Times New Roman" panose="02020603050405020304" pitchFamily="18" charset="0"/>
              </a:rPr>
              <a:t>la classe Personne avec les attributs suivants ;</a:t>
            </a:r>
          </a:p>
          <a:p>
            <a:pPr algn="just"/>
            <a:r>
              <a:rPr lang="fr-FR" sz="2000" dirty="0">
                <a:latin typeface="Times New Roman" panose="02020603050405020304" pitchFamily="18" charset="0"/>
                <a:cs typeface="Times New Roman" panose="02020603050405020304" pitchFamily="18" charset="0"/>
              </a:rPr>
              <a:t>Numéro , Téléphone , Email ,Nom tous les attributs en modes privés</a:t>
            </a:r>
          </a:p>
          <a:p>
            <a:pPr algn="just"/>
            <a:r>
              <a:rPr lang="fr-FR" sz="2000" dirty="0" smtClean="0">
                <a:latin typeface="Times New Roman" panose="02020603050405020304" pitchFamily="18" charset="0"/>
                <a:cs typeface="Times New Roman" panose="02020603050405020304" pitchFamily="18" charset="0"/>
                <a:sym typeface="Wingdings" panose="05000000000000000000" pitchFamily="2" charset="2"/>
              </a:rPr>
              <a:t></a:t>
            </a:r>
            <a:r>
              <a:rPr lang="fr-FR" sz="2000" dirty="0" smtClean="0">
                <a:latin typeface="Times New Roman" panose="02020603050405020304" pitchFamily="18" charset="0"/>
                <a:cs typeface="Times New Roman" panose="02020603050405020304" pitchFamily="18" charset="0"/>
              </a:rPr>
              <a:t>Le </a:t>
            </a:r>
            <a:r>
              <a:rPr lang="fr-FR" sz="2000" dirty="0">
                <a:latin typeface="Times New Roman" panose="02020603050405020304" pitchFamily="18" charset="0"/>
                <a:cs typeface="Times New Roman" panose="02020603050405020304" pitchFamily="18" charset="0"/>
              </a:rPr>
              <a:t>numéro doit commencer par une majuscule puis 3 chiffres </a:t>
            </a:r>
          </a:p>
          <a:p>
            <a:pPr algn="just"/>
            <a:r>
              <a:rPr lang="fr-FR" sz="2000" dirty="0" smtClean="0">
                <a:latin typeface="Times New Roman" panose="02020603050405020304" pitchFamily="18" charset="0"/>
                <a:cs typeface="Times New Roman" panose="02020603050405020304" pitchFamily="18" charset="0"/>
                <a:sym typeface="Wingdings" panose="05000000000000000000" pitchFamily="2" charset="2"/>
              </a:rPr>
              <a:t></a:t>
            </a:r>
            <a:r>
              <a:rPr lang="fr-FR" sz="2000" dirty="0" smtClean="0">
                <a:latin typeface="Times New Roman" panose="02020603050405020304" pitchFamily="18" charset="0"/>
                <a:cs typeface="Times New Roman" panose="02020603050405020304" pitchFamily="18" charset="0"/>
              </a:rPr>
              <a:t>Le </a:t>
            </a:r>
            <a:r>
              <a:rPr lang="fr-FR" sz="2000" dirty="0">
                <a:latin typeface="Times New Roman" panose="02020603050405020304" pitchFamily="18" charset="0"/>
                <a:cs typeface="Times New Roman" panose="02020603050405020304" pitchFamily="18" charset="0"/>
              </a:rPr>
              <a:t>téléphone doit accéder la forme suivante :</a:t>
            </a:r>
          </a:p>
          <a:p>
            <a:pPr algn="just"/>
            <a:r>
              <a:rPr lang="fr-FR" sz="2000" dirty="0">
                <a:latin typeface="Times New Roman" panose="02020603050405020304" pitchFamily="18" charset="0"/>
                <a:cs typeface="Times New Roman" panose="02020603050405020304" pitchFamily="18" charset="0"/>
              </a:rPr>
              <a:t>(212)06-XX-XX-XX-XX</a:t>
            </a:r>
          </a:p>
          <a:p>
            <a:pPr algn="just"/>
            <a:r>
              <a:rPr lang="fr-FR" sz="2000" dirty="0" smtClean="0">
                <a:latin typeface="Times New Roman" panose="02020603050405020304" pitchFamily="18" charset="0"/>
                <a:cs typeface="Times New Roman" panose="02020603050405020304" pitchFamily="18" charset="0"/>
                <a:sym typeface="Wingdings" panose="05000000000000000000" pitchFamily="2" charset="2"/>
              </a:rPr>
              <a:t></a:t>
            </a:r>
            <a:r>
              <a:rPr lang="fr-FR" sz="2000" dirty="0" smtClean="0">
                <a:latin typeface="Times New Roman" panose="02020603050405020304" pitchFamily="18" charset="0"/>
                <a:cs typeface="Times New Roman" panose="02020603050405020304" pitchFamily="18" charset="0"/>
              </a:rPr>
              <a:t>Email </a:t>
            </a:r>
            <a:r>
              <a:rPr lang="fr-FR" sz="2000" dirty="0">
                <a:latin typeface="Times New Roman" panose="02020603050405020304" pitchFamily="18" charset="0"/>
                <a:cs typeface="Times New Roman" panose="02020603050405020304" pitchFamily="18" charset="0"/>
              </a:rPr>
              <a:t>doit avoir la forme suivante :</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Lettre Majuscule  Chaine(4caractère )forme par[@|-|_]et un point   </a:t>
            </a:r>
            <a:r>
              <a:rPr lang="fr-FR" sz="2000" dirty="0" smtClean="0">
                <a:latin typeface="Times New Roman" panose="02020603050405020304" pitchFamily="18" charset="0"/>
                <a:cs typeface="Times New Roman" panose="02020603050405020304" pitchFamily="18" charset="0"/>
              </a:rPr>
              <a:t>4chiffres    3caractères</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sym typeface="Wingdings" panose="05000000000000000000" pitchFamily="2" charset="2"/>
              </a:rPr>
              <a:t></a:t>
            </a:r>
            <a:r>
              <a:rPr lang="fr-FR" sz="2000" dirty="0" smtClean="0">
                <a:latin typeface="Times New Roman" panose="02020603050405020304" pitchFamily="18" charset="0"/>
                <a:cs typeface="Times New Roman" panose="02020603050405020304" pitchFamily="18" charset="0"/>
              </a:rPr>
              <a:t>Ajouter </a:t>
            </a:r>
            <a:r>
              <a:rPr lang="fr-FR" sz="2000" dirty="0">
                <a:latin typeface="Times New Roman" panose="02020603050405020304" pitchFamily="18" charset="0"/>
                <a:cs typeface="Times New Roman" panose="02020603050405020304" pitchFamily="18" charset="0"/>
              </a:rPr>
              <a:t>les constructeurs </a:t>
            </a:r>
          </a:p>
          <a:p>
            <a:pPr algn="just"/>
            <a:r>
              <a:rPr lang="fr-FR" sz="2000" dirty="0" smtClean="0">
                <a:latin typeface="Times New Roman" panose="02020603050405020304" pitchFamily="18" charset="0"/>
                <a:cs typeface="Times New Roman" panose="02020603050405020304" pitchFamily="18" charset="0"/>
                <a:sym typeface="Wingdings" panose="05000000000000000000" pitchFamily="2" charset="2"/>
              </a:rPr>
              <a:t></a:t>
            </a:r>
            <a:r>
              <a:rPr lang="fr-FR" sz="2000" dirty="0" smtClean="0">
                <a:latin typeface="Times New Roman" panose="02020603050405020304" pitchFamily="18" charset="0"/>
                <a:cs typeface="Times New Roman" panose="02020603050405020304" pitchFamily="18" charset="0"/>
              </a:rPr>
              <a:t>Ajouter </a:t>
            </a:r>
            <a:r>
              <a:rPr lang="fr-FR" sz="2000" dirty="0">
                <a:latin typeface="Times New Roman" panose="02020603050405020304" pitchFamily="18" charset="0"/>
                <a:cs typeface="Times New Roman" panose="02020603050405020304" pitchFamily="18" charset="0"/>
              </a:rPr>
              <a:t>les accesseurs et les mutateurs </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Si le </a:t>
            </a:r>
            <a:r>
              <a:rPr lang="fr-FR" sz="2000" dirty="0" smtClean="0">
                <a:latin typeface="Times New Roman" panose="02020603050405020304" pitchFamily="18" charset="0"/>
                <a:cs typeface="Times New Roman" panose="02020603050405020304" pitchFamily="18" charset="0"/>
              </a:rPr>
              <a:t>numéro, </a:t>
            </a:r>
            <a:r>
              <a:rPr lang="fr-FR" sz="2000" dirty="0">
                <a:latin typeface="Times New Roman" panose="02020603050405020304" pitchFamily="18" charset="0"/>
                <a:cs typeface="Times New Roman" panose="02020603050405020304" pitchFamily="18" charset="0"/>
              </a:rPr>
              <a:t>email ou téléphone est invalide </a:t>
            </a:r>
            <a:r>
              <a:rPr lang="fr-FR" sz="2000" dirty="0" smtClean="0">
                <a:latin typeface="Times New Roman" panose="02020603050405020304" pitchFamily="18" charset="0"/>
                <a:cs typeface="Times New Roman" panose="02020603050405020304" pitchFamily="18" charset="0"/>
                <a:sym typeface="Wingdings" panose="05000000000000000000" pitchFamily="2" charset="2"/>
              </a:rPr>
              <a:t></a:t>
            </a:r>
            <a:r>
              <a:rPr lang="fr-FR" sz="2000" dirty="0">
                <a:latin typeface="Times New Roman" panose="02020603050405020304" pitchFamily="18" charset="0"/>
                <a:cs typeface="Times New Roman" panose="02020603050405020304" pitchFamily="18" charset="0"/>
                <a:sym typeface="Wingdings" panose="05000000000000000000" pitchFamily="2" charset="2"/>
              </a:rPr>
              <a:t> </a:t>
            </a:r>
            <a:r>
              <a:rPr lang="fr-FR" sz="2000" dirty="0" smtClean="0">
                <a:latin typeface="Times New Roman" panose="02020603050405020304" pitchFamily="18" charset="0"/>
                <a:cs typeface="Times New Roman" panose="02020603050405020304" pitchFamily="18" charset="0"/>
              </a:rPr>
              <a:t>une </a:t>
            </a:r>
            <a:r>
              <a:rPr lang="fr-FR" sz="2000" dirty="0">
                <a:latin typeface="Times New Roman" panose="02020603050405020304" pitchFamily="18" charset="0"/>
                <a:cs typeface="Times New Roman" panose="02020603050405020304" pitchFamily="18" charset="0"/>
              </a:rPr>
              <a:t>exception doit être levée</a:t>
            </a:r>
          </a:p>
        </p:txBody>
      </p:sp>
      <p:sp>
        <p:nvSpPr>
          <p:cNvPr id="4" name="Parenthèse fermante 3"/>
          <p:cNvSpPr/>
          <p:nvPr/>
        </p:nvSpPr>
        <p:spPr>
          <a:xfrm rot="5400000">
            <a:off x="1346245" y="2757419"/>
            <a:ext cx="183371" cy="1717150"/>
          </a:xfrm>
          <a:prstGeom prst="rightBracket">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fr-FR"/>
          </a:p>
        </p:txBody>
      </p:sp>
      <p:sp>
        <p:nvSpPr>
          <p:cNvPr id="5" name="Parenthèse fermante 4"/>
          <p:cNvSpPr/>
          <p:nvPr/>
        </p:nvSpPr>
        <p:spPr>
          <a:xfrm rot="5400000">
            <a:off x="4714186" y="1205819"/>
            <a:ext cx="183373" cy="4820350"/>
          </a:xfrm>
          <a:prstGeom prst="rightBracket">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fr-FR"/>
          </a:p>
        </p:txBody>
      </p:sp>
      <p:sp>
        <p:nvSpPr>
          <p:cNvPr id="6" name="Parenthèse fermante 5"/>
          <p:cNvSpPr/>
          <p:nvPr/>
        </p:nvSpPr>
        <p:spPr>
          <a:xfrm rot="5400000">
            <a:off x="7727610" y="3111938"/>
            <a:ext cx="183370" cy="1008112"/>
          </a:xfrm>
          <a:prstGeom prst="rightBracket">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fr-FR"/>
          </a:p>
        </p:txBody>
      </p:sp>
      <p:sp>
        <p:nvSpPr>
          <p:cNvPr id="7" name="Parenthèse fermante 6"/>
          <p:cNvSpPr/>
          <p:nvPr/>
        </p:nvSpPr>
        <p:spPr>
          <a:xfrm rot="5400000">
            <a:off x="9039895" y="2952822"/>
            <a:ext cx="183373" cy="1326342"/>
          </a:xfrm>
          <a:prstGeom prst="rightBracket">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1630313275"/>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19.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sérialisation d'objets</a:t>
            </a:r>
          </a:p>
        </p:txBody>
      </p:sp>
      <p:sp>
        <p:nvSpPr>
          <p:cNvPr id="8" name="ZoneTexte 7"/>
          <p:cNvSpPr txBox="1"/>
          <p:nvPr/>
        </p:nvSpPr>
        <p:spPr>
          <a:xfrm>
            <a:off x="480163" y="911772"/>
            <a:ext cx="11160000" cy="3785652"/>
          </a:xfrm>
          <a:prstGeom prst="rect">
            <a:avLst/>
          </a:prstGeom>
          <a:noFill/>
        </p:spPr>
        <p:txBody>
          <a:bodyPr wrap="square" rtlCol="0">
            <a:spAutoFit/>
          </a:bodyPr>
          <a:lstStyle/>
          <a:p>
            <a:pPr algn="just"/>
            <a:r>
              <a:rPr lang="fr-FR" sz="2000" dirty="0" smtClean="0">
                <a:latin typeface="Times New Roman" panose="02020603050405020304" pitchFamily="18" charset="0"/>
                <a:cs typeface="Times New Roman" panose="02020603050405020304" pitchFamily="18" charset="0"/>
              </a:rPr>
              <a:t>Pour </a:t>
            </a:r>
            <a:r>
              <a:rPr lang="fr-FR" sz="2000" dirty="0">
                <a:latin typeface="Times New Roman" panose="02020603050405020304" pitchFamily="18" charset="0"/>
                <a:cs typeface="Times New Roman" panose="02020603050405020304" pitchFamily="18" charset="0"/>
              </a:rPr>
              <a:t>sauvegarder nos variables pour une utilisation ultérieure (un autre lancement du programme), nous avons </a:t>
            </a:r>
            <a:r>
              <a:rPr lang="fr-FR" sz="2000" dirty="0" smtClean="0">
                <a:latin typeface="Times New Roman" panose="02020603050405020304" pitchFamily="18" charset="0"/>
                <a:cs typeface="Times New Roman" panose="02020603050405020304" pitchFamily="18" charset="0"/>
              </a:rPr>
              <a:t>vu </a:t>
            </a:r>
            <a:r>
              <a:rPr lang="fr-FR" sz="2000" dirty="0">
                <a:latin typeface="Times New Roman" panose="02020603050405020304" pitchFamily="18" charset="0"/>
                <a:cs typeface="Times New Roman" panose="02020603050405020304" pitchFamily="18" charset="0"/>
              </a:rPr>
              <a:t>comment </a:t>
            </a:r>
            <a:r>
              <a:rPr lang="fr-FR" sz="2000">
                <a:latin typeface="Times New Roman" panose="02020603050405020304" pitchFamily="18" charset="0"/>
                <a:cs typeface="Times New Roman" panose="02020603050405020304" pitchFamily="18" charset="0"/>
              </a:rPr>
              <a:t>stocker </a:t>
            </a:r>
            <a:r>
              <a:rPr lang="fr-FR" sz="2000" smtClean="0">
                <a:latin typeface="Times New Roman" panose="02020603050405020304" pitchFamily="18" charset="0"/>
                <a:cs typeface="Times New Roman" panose="02020603050405020304" pitchFamily="18" charset="0"/>
              </a:rPr>
              <a:t>ces </a:t>
            </a:r>
            <a:r>
              <a:rPr lang="fr-FR" sz="2000" dirty="0">
                <a:latin typeface="Times New Roman" panose="02020603050405020304" pitchFamily="18" charset="0"/>
                <a:cs typeface="Times New Roman" panose="02020603050405020304" pitchFamily="18" charset="0"/>
              </a:rPr>
              <a:t>variables dans un fichier</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Avec la </a:t>
            </a:r>
            <a:r>
              <a:rPr lang="fr-FR" sz="2000" b="1" dirty="0">
                <a:latin typeface="Times New Roman" panose="02020603050405020304" pitchFamily="18" charset="0"/>
                <a:cs typeface="Times New Roman" panose="02020603050405020304" pitchFamily="18" charset="0"/>
              </a:rPr>
              <a:t>sérialisation</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la </a:t>
            </a:r>
            <a:r>
              <a:rPr lang="fr-FR" sz="2000" dirty="0">
                <a:latin typeface="Times New Roman" panose="02020603050405020304" pitchFamily="18" charset="0"/>
                <a:cs typeface="Times New Roman" panose="02020603050405020304" pitchFamily="18" charset="0"/>
              </a:rPr>
              <a:t>sauvegarde d'objet) on va pouvoir facilement écrire tous les attributs d'un objet dans un fichier. Ce fichier sera automatiquement formaté. Ce formatage va dépendre de la méthode de sérialisation utilisée. </a:t>
            </a:r>
            <a:endParaRPr lang="fr-FR" sz="2000" dirty="0" smtClean="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fr-FR" sz="2000" dirty="0">
                <a:latin typeface="Times New Roman" panose="02020603050405020304" pitchFamily="18" charset="0"/>
                <a:cs typeface="Times New Roman" panose="02020603050405020304" pitchFamily="18" charset="0"/>
              </a:rPr>
              <a:t>La sérialisation binaire </a:t>
            </a:r>
          </a:p>
          <a:p>
            <a:pPr marL="342900" indent="-342900" algn="just">
              <a:buFont typeface="Wingdings" panose="05000000000000000000" pitchFamily="2" charset="2"/>
              <a:buChar char="Ø"/>
            </a:pPr>
            <a:r>
              <a:rPr lang="fr-FR" sz="2000" dirty="0">
                <a:latin typeface="Times New Roman" panose="02020603050405020304" pitchFamily="18" charset="0"/>
                <a:cs typeface="Times New Roman" panose="02020603050405020304" pitchFamily="18" charset="0"/>
              </a:rPr>
              <a:t>La sérialisation </a:t>
            </a:r>
            <a:r>
              <a:rPr lang="fr-FR" sz="2000" dirty="0" smtClean="0">
                <a:latin typeface="Times New Roman" panose="02020603050405020304" pitchFamily="18" charset="0"/>
                <a:cs typeface="Times New Roman" panose="02020603050405020304" pitchFamily="18" charset="0"/>
              </a:rPr>
              <a:t>XML</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La </a:t>
            </a:r>
            <a:r>
              <a:rPr lang="fr-FR" sz="2000" b="1" dirty="0" err="1">
                <a:latin typeface="Times New Roman" panose="02020603050405020304" pitchFamily="18" charset="0"/>
                <a:cs typeface="Times New Roman" panose="02020603050405020304" pitchFamily="18" charset="0"/>
              </a:rPr>
              <a:t>désérialisation</a:t>
            </a:r>
            <a:r>
              <a:rPr lang="fr-FR" sz="2000" dirty="0">
                <a:latin typeface="Times New Roman" panose="02020603050405020304" pitchFamily="18" charset="0"/>
                <a:cs typeface="Times New Roman" panose="02020603050405020304" pitchFamily="18" charset="0"/>
              </a:rPr>
              <a:t> est l'opposée de la sérialisation. Sur le principe de la lecture/écriture dans un fichier. La </a:t>
            </a:r>
            <a:r>
              <a:rPr lang="fr-FR" sz="2000" b="1" dirty="0">
                <a:latin typeface="Times New Roman" panose="02020603050405020304" pitchFamily="18" charset="0"/>
                <a:cs typeface="Times New Roman" panose="02020603050405020304" pitchFamily="18" charset="0"/>
              </a:rPr>
              <a:t>sérialisation</a:t>
            </a:r>
            <a:r>
              <a:rPr lang="fr-FR" sz="2000" dirty="0">
                <a:latin typeface="Times New Roman" panose="02020603050405020304" pitchFamily="18" charset="0"/>
                <a:cs typeface="Times New Roman" panose="02020603050405020304" pitchFamily="18" charset="0"/>
              </a:rPr>
              <a:t> écrit l'objet, la </a:t>
            </a:r>
            <a:r>
              <a:rPr lang="fr-FR" sz="2000" dirty="0" err="1">
                <a:latin typeface="Times New Roman" panose="02020603050405020304" pitchFamily="18" charset="0"/>
                <a:cs typeface="Times New Roman" panose="02020603050405020304" pitchFamily="18" charset="0"/>
              </a:rPr>
              <a:t>désérialisation</a:t>
            </a:r>
            <a:r>
              <a:rPr lang="fr-FR" sz="2000" dirty="0">
                <a:latin typeface="Times New Roman" panose="02020603050405020304" pitchFamily="18" charset="0"/>
                <a:cs typeface="Times New Roman" panose="02020603050405020304" pitchFamily="18" charset="0"/>
              </a:rPr>
              <a:t> le lit.</a:t>
            </a:r>
            <a:endParaRPr lang="fr-FR"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6933852"/>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19.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sérialisation d'objets</a:t>
            </a:r>
          </a:p>
        </p:txBody>
      </p:sp>
      <p:sp>
        <p:nvSpPr>
          <p:cNvPr id="8" name="ZoneTexte 7"/>
          <p:cNvSpPr txBox="1"/>
          <p:nvPr/>
        </p:nvSpPr>
        <p:spPr>
          <a:xfrm>
            <a:off x="480163" y="911772"/>
            <a:ext cx="11160000" cy="3477875"/>
          </a:xfrm>
          <a:prstGeom prst="rect">
            <a:avLst/>
          </a:prstGeom>
          <a:noFill/>
        </p:spPr>
        <p:txBody>
          <a:bodyPr wrap="square" rtlCol="0">
            <a:spAutoFit/>
          </a:bodyPr>
          <a:lstStyle/>
          <a:p>
            <a:pPr algn="just"/>
            <a:r>
              <a:rPr lang="fr-FR" sz="2000" b="1" dirty="0">
                <a:solidFill>
                  <a:srgbClr val="C00000"/>
                </a:solidFill>
                <a:latin typeface="Times New Roman" panose="02020603050405020304" pitchFamily="18" charset="0"/>
                <a:cs typeface="Times New Roman" panose="02020603050405020304" pitchFamily="18" charset="0"/>
              </a:rPr>
              <a:t>La classe </a:t>
            </a:r>
            <a:r>
              <a:rPr lang="fr-FR" sz="2000" b="1" dirty="0" err="1">
                <a:solidFill>
                  <a:srgbClr val="C00000"/>
                </a:solidFill>
                <a:latin typeface="Times New Roman" panose="02020603050405020304" pitchFamily="18" charset="0"/>
                <a:cs typeface="Times New Roman" panose="02020603050405020304" pitchFamily="18" charset="0"/>
              </a:rPr>
              <a:t>BinaryFormatter</a:t>
            </a:r>
            <a:endParaRPr lang="fr-FR" sz="2000" b="1" dirty="0">
              <a:solidFill>
                <a:srgbClr val="C00000"/>
              </a:solidFill>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 </a:t>
            </a:r>
            <a:r>
              <a:rPr lang="fr-FR" sz="2000" b="1" dirty="0" err="1">
                <a:latin typeface="Times New Roman" panose="02020603050405020304" pitchFamily="18" charset="0"/>
                <a:cs typeface="Times New Roman" panose="02020603050405020304" pitchFamily="18" charset="0"/>
              </a:rPr>
              <a:t>BinaryFormatter</a:t>
            </a:r>
            <a:r>
              <a:rPr lang="fr-FR" sz="2000" dirty="0">
                <a:latin typeface="Times New Roman" panose="02020603050405020304" pitchFamily="18" charset="0"/>
                <a:cs typeface="Times New Roman" panose="02020603050405020304" pitchFamily="18" charset="0"/>
              </a:rPr>
              <a:t> est un objet qui va se charger de la sérialisation Binaire. C'est lui qui va effectuer le formatage spécifique à ce type de sérialisation</a:t>
            </a:r>
            <a:r>
              <a:rPr lang="fr-FR" sz="2000" dirty="0" smtClean="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Nous allons utiliser deux modes d’ouverture pour le </a:t>
            </a:r>
            <a:r>
              <a:rPr lang="fr-FR" sz="2000" dirty="0" err="1">
                <a:latin typeface="Times New Roman" panose="02020603050405020304" pitchFamily="18" charset="0"/>
                <a:cs typeface="Times New Roman" panose="02020603050405020304" pitchFamily="18" charset="0"/>
              </a:rPr>
              <a:t>FileStream</a:t>
            </a:r>
            <a:r>
              <a:rPr lang="fr-FR" sz="2000" dirty="0">
                <a:latin typeface="Times New Roman" panose="02020603050405020304" pitchFamily="18" charset="0"/>
                <a:cs typeface="Times New Roman" panose="02020603050405020304" pitchFamily="18" charset="0"/>
              </a:rPr>
              <a:t> :</a:t>
            </a:r>
          </a:p>
          <a:p>
            <a:pPr marL="342900" indent="-342900" algn="just">
              <a:buFont typeface="Wingdings" panose="05000000000000000000" pitchFamily="2" charset="2"/>
              <a:buChar char="Ø"/>
            </a:pPr>
            <a:r>
              <a:rPr lang="fr-FR" sz="2000" b="1" dirty="0" err="1">
                <a:latin typeface="Times New Roman" panose="02020603050405020304" pitchFamily="18" charset="0"/>
                <a:cs typeface="Times New Roman" panose="02020603050405020304" pitchFamily="18" charset="0"/>
              </a:rPr>
              <a:t>Create</a:t>
            </a:r>
            <a:r>
              <a:rPr lang="fr-FR" sz="2000" dirty="0">
                <a:latin typeface="Times New Roman" panose="02020603050405020304" pitchFamily="18" charset="0"/>
                <a:cs typeface="Times New Roman" panose="02020603050405020304" pitchFamily="18" charset="0"/>
              </a:rPr>
              <a:t>. Le mode </a:t>
            </a:r>
            <a:r>
              <a:rPr lang="fr-FR" sz="2000" dirty="0" err="1">
                <a:latin typeface="Times New Roman" panose="02020603050405020304" pitchFamily="18" charset="0"/>
                <a:cs typeface="Times New Roman" panose="02020603050405020304" pitchFamily="18" charset="0"/>
              </a:rPr>
              <a:t>Create</a:t>
            </a:r>
            <a:r>
              <a:rPr lang="fr-FR" sz="2000" dirty="0">
                <a:latin typeface="Times New Roman" panose="02020603050405020304" pitchFamily="18" charset="0"/>
                <a:cs typeface="Times New Roman" panose="02020603050405020304" pitchFamily="18" charset="0"/>
              </a:rPr>
              <a:t> spécifie qu’un nouveau fichier doit être créé. Si un fichier du même nom existe, il sera écrasé. </a:t>
            </a:r>
          </a:p>
          <a:p>
            <a:pPr marL="342900" indent="-342900" algn="just">
              <a:buFont typeface="Wingdings" panose="05000000000000000000" pitchFamily="2" charset="2"/>
              <a:buChar char="Ø"/>
            </a:pPr>
            <a:r>
              <a:rPr lang="fr-FR" sz="2000" b="1" dirty="0">
                <a:latin typeface="Times New Roman" panose="02020603050405020304" pitchFamily="18" charset="0"/>
                <a:cs typeface="Times New Roman" panose="02020603050405020304" pitchFamily="18" charset="0"/>
              </a:rPr>
              <a:t>Open</a:t>
            </a:r>
            <a:r>
              <a:rPr lang="fr-FR" sz="2000" dirty="0">
                <a:latin typeface="Times New Roman" panose="02020603050405020304" pitchFamily="18" charset="0"/>
                <a:cs typeface="Times New Roman" panose="02020603050405020304" pitchFamily="18" charset="0"/>
              </a:rPr>
              <a:t>. Ce mode est un mode de lecture. Si le fichier n'existe pas ou si le programme n'a pas les droits de lecture, une exception est levée.</a:t>
            </a:r>
          </a:p>
          <a:p>
            <a:pPr algn="just"/>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6297794"/>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19.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sérialisation d'objets</a:t>
            </a:r>
          </a:p>
        </p:txBody>
      </p:sp>
      <p:sp>
        <p:nvSpPr>
          <p:cNvPr id="8" name="ZoneTexte 7"/>
          <p:cNvSpPr txBox="1"/>
          <p:nvPr/>
        </p:nvSpPr>
        <p:spPr>
          <a:xfrm>
            <a:off x="480163" y="911772"/>
            <a:ext cx="11160000" cy="3477875"/>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La </a:t>
            </a:r>
            <a:r>
              <a:rPr lang="fr-FR" sz="2000" b="1" dirty="0">
                <a:solidFill>
                  <a:srgbClr val="C00000"/>
                </a:solidFill>
                <a:latin typeface="Times New Roman" panose="02020603050405020304" pitchFamily="18" charset="0"/>
                <a:cs typeface="Times New Roman" panose="02020603050405020304" pitchFamily="18" charset="0"/>
              </a:rPr>
              <a:t>sérialisation </a:t>
            </a:r>
            <a:r>
              <a:rPr lang="fr-FR" sz="2000" b="1" dirty="0" smtClean="0">
                <a:solidFill>
                  <a:srgbClr val="C00000"/>
                </a:solidFill>
                <a:latin typeface="Times New Roman" panose="02020603050405020304" pitchFamily="18" charset="0"/>
                <a:cs typeface="Times New Roman" panose="02020603050405020304" pitchFamily="18" charset="0"/>
              </a:rPr>
              <a:t>binaire</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a:latin typeface="Times New Roman" panose="02020603050405020304" pitchFamily="18" charset="0"/>
                <a:cs typeface="Times New Roman" panose="02020603050405020304" pitchFamily="18" charset="0"/>
              </a:rPr>
              <a:t>Étapes de la sérialisation binaire : </a:t>
            </a:r>
            <a:endParaRPr lang="fr-FR" sz="2000" b="1" dirty="0" smtClean="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Ajouter le mot clé [</a:t>
            </a:r>
            <a:r>
              <a:rPr lang="fr-FR" sz="2000" b="1" dirty="0" err="1">
                <a:latin typeface="Times New Roman" panose="02020603050405020304" pitchFamily="18" charset="0"/>
                <a:cs typeface="Times New Roman" panose="02020603050405020304" pitchFamily="18" charset="0"/>
              </a:rPr>
              <a:t>Serializable</a:t>
            </a:r>
            <a:r>
              <a:rPr lang="fr-FR" sz="2000" dirty="0">
                <a:latin typeface="Times New Roman" panose="02020603050405020304" pitchFamily="18" charset="0"/>
                <a:cs typeface="Times New Roman" panose="02020603050405020304" pitchFamily="18" charset="0"/>
              </a:rPr>
              <a:t>] dans la déclaration de la classe qu’on souhaite sérialiser, pour donner l’autorisation à notre système de le faire. </a:t>
            </a:r>
          </a:p>
          <a:p>
            <a:pPr algn="just"/>
            <a:r>
              <a:rPr lang="fr-FR" sz="2000" dirty="0">
                <a:latin typeface="Times New Roman" panose="02020603050405020304" pitchFamily="18" charset="0"/>
                <a:cs typeface="Times New Roman" panose="02020603050405020304" pitchFamily="18" charset="0"/>
              </a:rPr>
              <a:t>- Ajouter l’espace de noms incluant les méthodes de la sérialisation binaire, et celui permettant l’utilisation des fichiers:</a:t>
            </a:r>
          </a:p>
          <a:p>
            <a:pPr algn="just"/>
            <a:r>
              <a:rPr lang="fr-FR" sz="2000" dirty="0">
                <a:latin typeface="Times New Roman" panose="02020603050405020304" pitchFamily="18" charset="0"/>
                <a:cs typeface="Times New Roman" panose="02020603050405020304" pitchFamily="18" charset="0"/>
              </a:rPr>
              <a:t>Syntaxe en C#: </a:t>
            </a:r>
          </a:p>
          <a:p>
            <a:pPr algn="just"/>
            <a:r>
              <a:rPr lang="fr-FR" sz="2000" dirty="0" err="1">
                <a:latin typeface="Times New Roman" panose="02020603050405020304" pitchFamily="18" charset="0"/>
                <a:cs typeface="Times New Roman" panose="02020603050405020304" pitchFamily="18" charset="0"/>
              </a:rPr>
              <a:t>using</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System.Runtime.Serialization.Formatters.Binary</a:t>
            </a:r>
            <a:r>
              <a:rPr lang="fr-FR" sz="2000" dirty="0">
                <a:latin typeface="Times New Roman" panose="02020603050405020304" pitchFamily="18" charset="0"/>
                <a:cs typeface="Times New Roman" panose="02020603050405020304" pitchFamily="18" charset="0"/>
              </a:rPr>
              <a:t>;</a:t>
            </a:r>
          </a:p>
          <a:p>
            <a:pPr algn="just"/>
            <a:r>
              <a:rPr lang="fr-FR" sz="2000" dirty="0" err="1">
                <a:latin typeface="Times New Roman" panose="02020603050405020304" pitchFamily="18" charset="0"/>
                <a:cs typeface="Times New Roman" panose="02020603050405020304" pitchFamily="18" charset="0"/>
              </a:rPr>
              <a:t>using</a:t>
            </a:r>
            <a:r>
              <a:rPr lang="fr-FR" sz="2000" dirty="0">
                <a:latin typeface="Times New Roman" panose="02020603050405020304" pitchFamily="18" charset="0"/>
                <a:cs typeface="Times New Roman" panose="02020603050405020304" pitchFamily="18" charset="0"/>
              </a:rPr>
              <a:t> System.IO</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6055145"/>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19.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sérialisation d'objets</a:t>
            </a:r>
          </a:p>
        </p:txBody>
      </p:sp>
      <p:sp>
        <p:nvSpPr>
          <p:cNvPr id="8" name="ZoneTexte 7"/>
          <p:cNvSpPr txBox="1"/>
          <p:nvPr/>
        </p:nvSpPr>
        <p:spPr>
          <a:xfrm>
            <a:off x="480163" y="911772"/>
            <a:ext cx="11160000" cy="3785652"/>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La </a:t>
            </a:r>
            <a:r>
              <a:rPr lang="fr-FR" sz="2000" b="1" dirty="0">
                <a:solidFill>
                  <a:srgbClr val="C00000"/>
                </a:solidFill>
                <a:latin typeface="Times New Roman" panose="02020603050405020304" pitchFamily="18" charset="0"/>
                <a:cs typeface="Times New Roman" panose="02020603050405020304" pitchFamily="18" charset="0"/>
              </a:rPr>
              <a:t>sérialisation </a:t>
            </a:r>
            <a:r>
              <a:rPr lang="fr-FR" sz="2000" b="1" dirty="0" smtClean="0">
                <a:solidFill>
                  <a:srgbClr val="C00000"/>
                </a:solidFill>
                <a:latin typeface="Times New Roman" panose="02020603050405020304" pitchFamily="18" charset="0"/>
                <a:cs typeface="Times New Roman" panose="02020603050405020304" pitchFamily="18" charset="0"/>
              </a:rPr>
              <a:t>binaire</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a:latin typeface="Times New Roman" panose="02020603050405020304" pitchFamily="18" charset="0"/>
                <a:cs typeface="Times New Roman" panose="02020603050405020304" pitchFamily="18" charset="0"/>
              </a:rPr>
              <a:t>Étapes de la sérialisation binaire : </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Déclaration du flux de fichier dans lequel nous allons procéder à la sérialisation binaire </a:t>
            </a:r>
          </a:p>
          <a:p>
            <a:pPr algn="just"/>
            <a:r>
              <a:rPr lang="fr-FR" sz="2000" dirty="0" err="1">
                <a:latin typeface="Times New Roman" panose="02020603050405020304" pitchFamily="18" charset="0"/>
                <a:cs typeface="Times New Roman" panose="02020603050405020304" pitchFamily="18" charset="0"/>
              </a:rPr>
              <a:t>FileStream</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nomFichier</a:t>
            </a:r>
            <a:r>
              <a:rPr lang="fr-FR" sz="2000" dirty="0">
                <a:latin typeface="Times New Roman" panose="02020603050405020304" pitchFamily="18" charset="0"/>
                <a:cs typeface="Times New Roman" panose="02020603050405020304" pitchFamily="18" charset="0"/>
              </a:rPr>
              <a:t>= new </a:t>
            </a:r>
            <a:r>
              <a:rPr lang="fr-FR" sz="2000" dirty="0" err="1">
                <a:latin typeface="Times New Roman" panose="02020603050405020304" pitchFamily="18" charset="0"/>
                <a:cs typeface="Times New Roman" panose="02020603050405020304" pitchFamily="18" charset="0"/>
              </a:rPr>
              <a:t>FileStream</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chemin.bin</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FileMode.Create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FileAccess.Write</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Déclaration de l'objet contenant la méthode de sérialisation</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BinaryFormatter</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bf</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BinaryFormatter</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Appel à la méthode </a:t>
            </a:r>
            <a:r>
              <a:rPr lang="fr-FR" sz="2000" dirty="0" err="1">
                <a:latin typeface="Times New Roman" panose="02020603050405020304" pitchFamily="18" charset="0"/>
                <a:cs typeface="Times New Roman" panose="02020603050405020304" pitchFamily="18" charset="0"/>
              </a:rPr>
              <a:t>Serialize</a:t>
            </a:r>
            <a:r>
              <a:rPr lang="fr-FR" sz="2000" dirty="0">
                <a:latin typeface="Times New Roman" panose="02020603050405020304" pitchFamily="18" charset="0"/>
                <a:cs typeface="Times New Roman" panose="02020603050405020304" pitchFamily="18" charset="0"/>
              </a:rPr>
              <a:t>(nom du </a:t>
            </a:r>
            <a:r>
              <a:rPr lang="fr-FR" sz="2000" dirty="0" err="1">
                <a:latin typeface="Times New Roman" panose="02020603050405020304" pitchFamily="18" charset="0"/>
                <a:cs typeface="Times New Roman" panose="02020603050405020304" pitchFamily="18" charset="0"/>
              </a:rPr>
              <a:t>filestream</a:t>
            </a:r>
            <a:r>
              <a:rPr lang="fr-FR" sz="2000" dirty="0">
                <a:latin typeface="Times New Roman" panose="02020603050405020304" pitchFamily="18" charset="0"/>
                <a:cs typeface="Times New Roman" panose="02020603050405020304" pitchFamily="18" charset="0"/>
              </a:rPr>
              <a:t>, nom de l'objet)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bf.Serialize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nomFichier</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nomObjet</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Fermer le fichier pour la sauvegarde </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nomFichier.Close</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0072087"/>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19.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sérialisation d'objets</a:t>
            </a:r>
          </a:p>
        </p:txBody>
      </p:sp>
      <p:sp>
        <p:nvSpPr>
          <p:cNvPr id="8" name="ZoneTexte 7"/>
          <p:cNvSpPr txBox="1"/>
          <p:nvPr/>
        </p:nvSpPr>
        <p:spPr>
          <a:xfrm>
            <a:off x="480163" y="911772"/>
            <a:ext cx="11160000" cy="4401205"/>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La </a:t>
            </a:r>
            <a:r>
              <a:rPr lang="fr-FR" sz="2000" b="1" dirty="0" err="1" smtClean="0">
                <a:solidFill>
                  <a:srgbClr val="C00000"/>
                </a:solidFill>
                <a:latin typeface="Times New Roman" panose="02020603050405020304" pitchFamily="18" charset="0"/>
                <a:cs typeface="Times New Roman" panose="02020603050405020304" pitchFamily="18" charset="0"/>
              </a:rPr>
              <a:t>désérialisation</a:t>
            </a:r>
            <a:r>
              <a:rPr lang="fr-FR" sz="2000" b="1" dirty="0" smtClean="0">
                <a:solidFill>
                  <a:srgbClr val="C00000"/>
                </a:solidFill>
                <a:latin typeface="Times New Roman" panose="02020603050405020304" pitchFamily="18" charset="0"/>
                <a:cs typeface="Times New Roman" panose="02020603050405020304" pitchFamily="18" charset="0"/>
              </a:rPr>
              <a:t> binaire</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a:latin typeface="Times New Roman" panose="02020603050405020304" pitchFamily="18" charset="0"/>
                <a:cs typeface="Times New Roman" panose="02020603050405020304" pitchFamily="18" charset="0"/>
              </a:rPr>
              <a:t>Étapes de la </a:t>
            </a:r>
            <a:r>
              <a:rPr lang="fr-FR" sz="2000" b="1" dirty="0" err="1" smtClean="0">
                <a:latin typeface="Times New Roman" panose="02020603050405020304" pitchFamily="18" charset="0"/>
                <a:cs typeface="Times New Roman" panose="02020603050405020304" pitchFamily="18" charset="0"/>
              </a:rPr>
              <a:t>désérialisation</a:t>
            </a:r>
            <a:r>
              <a:rPr lang="fr-FR" sz="2000" b="1" dirty="0" smtClean="0">
                <a:latin typeface="Times New Roman" panose="02020603050405020304" pitchFamily="18" charset="0"/>
                <a:cs typeface="Times New Roman" panose="02020603050405020304" pitchFamily="18" charset="0"/>
              </a:rPr>
              <a:t> </a:t>
            </a:r>
            <a:r>
              <a:rPr lang="fr-FR" sz="2000" b="1" dirty="0">
                <a:latin typeface="Times New Roman" panose="02020603050405020304" pitchFamily="18" charset="0"/>
                <a:cs typeface="Times New Roman" panose="02020603050405020304" pitchFamily="18" charset="0"/>
              </a:rPr>
              <a:t>binaire : </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 Déclarer </a:t>
            </a:r>
            <a:r>
              <a:rPr lang="fr-FR" sz="2000" dirty="0">
                <a:latin typeface="Times New Roman" panose="02020603050405020304" pitchFamily="18" charset="0"/>
                <a:cs typeface="Times New Roman" panose="02020603050405020304" pitchFamily="18" charset="0"/>
              </a:rPr>
              <a:t>les espaces noms nécessaires </a:t>
            </a:r>
          </a:p>
          <a:p>
            <a:pPr algn="just"/>
            <a:r>
              <a:rPr lang="fr-FR" sz="2000" dirty="0">
                <a:latin typeface="Times New Roman" panose="02020603050405020304" pitchFamily="18" charset="0"/>
                <a:cs typeface="Times New Roman" panose="02020603050405020304" pitchFamily="18" charset="0"/>
              </a:rPr>
              <a:t>- Déclaration du fichier contenant la </a:t>
            </a:r>
            <a:r>
              <a:rPr lang="fr-FR" sz="2000" dirty="0" err="1">
                <a:latin typeface="Times New Roman" panose="02020603050405020304" pitchFamily="18" charset="0"/>
                <a:cs typeface="Times New Roman" panose="02020603050405020304" pitchFamily="18" charset="0"/>
              </a:rPr>
              <a:t>sauvergarde</a:t>
            </a:r>
            <a:r>
              <a:rPr lang="fr-FR" sz="2000" dirty="0">
                <a:latin typeface="Times New Roman" panose="02020603050405020304" pitchFamily="18" charset="0"/>
                <a:cs typeface="Times New Roman" panose="02020603050405020304" pitchFamily="18" charset="0"/>
              </a:rPr>
              <a:t> en mode lecture </a:t>
            </a:r>
          </a:p>
          <a:p>
            <a:pPr algn="just"/>
            <a:r>
              <a:rPr lang="fr-FR" sz="2000" dirty="0" err="1">
                <a:latin typeface="Times New Roman" panose="02020603050405020304" pitchFamily="18" charset="0"/>
                <a:cs typeface="Times New Roman" panose="02020603050405020304" pitchFamily="18" charset="0"/>
              </a:rPr>
              <a:t>FileStream</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nomFichier</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FileStream</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chemin.bin</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FileMode.Open</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FileAccess.Read</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Déclaration de l'objet contenant la méthode de </a:t>
            </a:r>
            <a:r>
              <a:rPr lang="fr-FR" sz="2000" dirty="0" err="1">
                <a:latin typeface="Times New Roman" panose="02020603050405020304" pitchFamily="18" charset="0"/>
                <a:cs typeface="Times New Roman" panose="02020603050405020304" pitchFamily="18" charset="0"/>
              </a:rPr>
              <a:t>désérialisation</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BinaryFormatter</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bf</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BinaryFormatter</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Appel de la méthode </a:t>
            </a:r>
            <a:r>
              <a:rPr lang="fr-FR" sz="2000" dirty="0" err="1">
                <a:latin typeface="Times New Roman" panose="02020603050405020304" pitchFamily="18" charset="0"/>
                <a:cs typeface="Times New Roman" panose="02020603050405020304" pitchFamily="18" charset="0"/>
              </a:rPr>
              <a:t>Deserialize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nomFichier</a:t>
            </a:r>
            <a:r>
              <a:rPr lang="fr-FR" sz="2000" dirty="0">
                <a:latin typeface="Times New Roman" panose="02020603050405020304" pitchFamily="18" charset="0"/>
                <a:cs typeface="Times New Roman" panose="02020603050405020304" pitchFamily="18" charset="0"/>
              </a:rPr>
              <a:t>) et retourne l'objet qu’on doit convertir au type de la sérialisation</a:t>
            </a:r>
          </a:p>
          <a:p>
            <a:pPr algn="just"/>
            <a:r>
              <a:rPr lang="fr-FR" sz="2000" dirty="0" err="1">
                <a:latin typeface="Times New Roman" panose="02020603050405020304" pitchFamily="18" charset="0"/>
                <a:cs typeface="Times New Roman" panose="02020603050405020304" pitchFamily="18" charset="0"/>
              </a:rPr>
              <a:t>nomClasse</a:t>
            </a:r>
            <a:r>
              <a:rPr lang="fr-FR" sz="2000" dirty="0">
                <a:latin typeface="Times New Roman" panose="02020603050405020304" pitchFamily="18" charset="0"/>
                <a:cs typeface="Times New Roman" panose="02020603050405020304" pitchFamily="18" charset="0"/>
              </a:rPr>
              <a:t> f = (</a:t>
            </a:r>
            <a:r>
              <a:rPr lang="fr-FR" sz="2000" dirty="0" err="1">
                <a:latin typeface="Times New Roman" panose="02020603050405020304" pitchFamily="18" charset="0"/>
                <a:cs typeface="Times New Roman" panose="02020603050405020304" pitchFamily="18" charset="0"/>
              </a:rPr>
              <a:t>nomClasse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bf.Deserialize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nomFichier</a:t>
            </a:r>
            <a:r>
              <a:rPr lang="fr-FR" sz="2000" dirty="0">
                <a:latin typeface="Times New Roman" panose="02020603050405020304" pitchFamily="18" charset="0"/>
                <a:cs typeface="Times New Roman" panose="02020603050405020304" pitchFamily="18" charset="0"/>
              </a:rPr>
              <a:t>); </a:t>
            </a:r>
          </a:p>
          <a:p>
            <a:pPr algn="just"/>
            <a:r>
              <a:rPr lang="fr-FR" sz="2000" dirty="0">
                <a:latin typeface="Times New Roman" panose="02020603050405020304" pitchFamily="18" charset="0"/>
                <a:cs typeface="Times New Roman" panose="02020603050405020304" pitchFamily="18" charset="0"/>
              </a:rPr>
              <a:t>- Fermer le fichier </a:t>
            </a:r>
          </a:p>
          <a:p>
            <a:pPr algn="just"/>
            <a:r>
              <a:rPr lang="fr-FR" sz="2000" dirty="0" err="1">
                <a:latin typeface="Times New Roman" panose="02020603050405020304" pitchFamily="18" charset="0"/>
                <a:cs typeface="Times New Roman" panose="02020603050405020304" pitchFamily="18" charset="0"/>
              </a:rPr>
              <a:t>nomFichier.Close</a:t>
            </a:r>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39365346"/>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19.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sérialisation d'objets</a:t>
            </a:r>
          </a:p>
        </p:txBody>
      </p:sp>
      <p:sp>
        <p:nvSpPr>
          <p:cNvPr id="8" name="ZoneTexte 7"/>
          <p:cNvSpPr txBox="1"/>
          <p:nvPr/>
        </p:nvSpPr>
        <p:spPr>
          <a:xfrm>
            <a:off x="480163" y="911772"/>
            <a:ext cx="11160000" cy="2246769"/>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La sérialisation XML</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La </a:t>
            </a:r>
            <a:r>
              <a:rPr lang="fr-FR" sz="2000" b="1" dirty="0">
                <a:latin typeface="Times New Roman" panose="02020603050405020304" pitchFamily="18" charset="0"/>
                <a:cs typeface="Times New Roman" panose="02020603050405020304" pitchFamily="18" charset="0"/>
              </a:rPr>
              <a:t>sérialisation XML </a:t>
            </a:r>
            <a:r>
              <a:rPr lang="fr-FR" sz="2000" dirty="0">
                <a:latin typeface="Times New Roman" panose="02020603050405020304" pitchFamily="18" charset="0"/>
                <a:cs typeface="Times New Roman" panose="02020603050405020304" pitchFamily="18" charset="0"/>
              </a:rPr>
              <a:t>permet la sauvegarde des objets dans </a:t>
            </a:r>
            <a:r>
              <a:rPr lang="fr-FR" sz="2000" b="1" dirty="0">
                <a:latin typeface="Times New Roman" panose="02020603050405020304" pitchFamily="18" charset="0"/>
                <a:cs typeface="Times New Roman" panose="02020603050405020304" pitchFamily="18" charset="0"/>
              </a:rPr>
              <a:t>fichier de format XML </a:t>
            </a:r>
            <a:r>
              <a:rPr lang="fr-FR" sz="2000" dirty="0">
                <a:latin typeface="Times New Roman" panose="02020603050405020304" pitchFamily="18" charset="0"/>
                <a:cs typeface="Times New Roman" panose="02020603050405020304" pitchFamily="18" charset="0"/>
              </a:rPr>
              <a:t>afin de pouvoir le recharger par la suite.</a:t>
            </a:r>
          </a:p>
          <a:p>
            <a:pPr algn="just"/>
            <a:r>
              <a:rPr lang="fr-FR" sz="2000" b="1" dirty="0">
                <a:latin typeface="Times New Roman" panose="02020603050405020304" pitchFamily="18" charset="0"/>
                <a:cs typeface="Times New Roman" panose="02020603050405020304" pitchFamily="18" charset="0"/>
              </a:rPr>
              <a:t>XML</a:t>
            </a:r>
            <a:r>
              <a:rPr lang="fr-FR" sz="2000" dirty="0">
                <a:latin typeface="Times New Roman" panose="02020603050405020304" pitchFamily="18" charset="0"/>
                <a:cs typeface="Times New Roman" panose="02020603050405020304" pitchFamily="18" charset="0"/>
              </a:rPr>
              <a:t> est un </a:t>
            </a:r>
            <a:r>
              <a:rPr lang="fr-FR" sz="2000" b="1" dirty="0">
                <a:latin typeface="Times New Roman" panose="02020603050405020304" pitchFamily="18" charset="0"/>
                <a:cs typeface="Times New Roman" panose="02020603050405020304" pitchFamily="18" charset="0"/>
              </a:rPr>
              <a:t>langage de balisage </a:t>
            </a:r>
            <a:r>
              <a:rPr lang="fr-FR" sz="2000" dirty="0">
                <a:latin typeface="Times New Roman" panose="02020603050405020304" pitchFamily="18" charset="0"/>
                <a:cs typeface="Times New Roman" panose="02020603050405020304" pitchFamily="18" charset="0"/>
              </a:rPr>
              <a:t>universelle qui fonctionne dans indépendamment de la plateforme utilisée.</a:t>
            </a:r>
          </a:p>
          <a:p>
            <a:pPr algn="just"/>
            <a:endParaRPr lang="fr-FR" sz="2000" dirty="0">
              <a:latin typeface="Times New Roman" panose="02020603050405020304" pitchFamily="18" charset="0"/>
              <a:cs typeface="Times New Roman" panose="02020603050405020304" pitchFamily="18"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0563" y="3158541"/>
            <a:ext cx="8839200" cy="29294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20327730"/>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19.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sérialisation d'objets</a:t>
            </a:r>
          </a:p>
        </p:txBody>
      </p:sp>
      <p:sp>
        <p:nvSpPr>
          <p:cNvPr id="8" name="ZoneTexte 7"/>
          <p:cNvSpPr txBox="1"/>
          <p:nvPr/>
        </p:nvSpPr>
        <p:spPr>
          <a:xfrm>
            <a:off x="480163" y="911772"/>
            <a:ext cx="11160000" cy="4401205"/>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La sérialisation XML</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a:latin typeface="Times New Roman" panose="02020603050405020304" pitchFamily="18" charset="0"/>
                <a:cs typeface="Times New Roman" panose="02020603050405020304" pitchFamily="18" charset="0"/>
              </a:rPr>
              <a:t>Étapes de la </a:t>
            </a:r>
            <a:r>
              <a:rPr lang="fr-FR" sz="2000" b="1" dirty="0" smtClean="0">
                <a:latin typeface="Times New Roman" panose="02020603050405020304" pitchFamily="18" charset="0"/>
                <a:cs typeface="Times New Roman" panose="02020603050405020304" pitchFamily="18" charset="0"/>
              </a:rPr>
              <a:t>sérialisation XML : </a:t>
            </a:r>
            <a:endParaRPr lang="fr-FR" sz="2000" b="1"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Ajouter l’espace de nom :</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using</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System.Xml.Serialization</a:t>
            </a:r>
            <a:r>
              <a:rPr lang="fr-FR" sz="2000" dirty="0">
                <a:latin typeface="Times New Roman" panose="02020603050405020304" pitchFamily="18" charset="0"/>
                <a:cs typeface="Times New Roman" panose="02020603050405020304" pitchFamily="18" charset="0"/>
              </a:rPr>
              <a:t>; </a:t>
            </a:r>
          </a:p>
          <a:p>
            <a:pPr algn="just"/>
            <a:r>
              <a:rPr lang="fr-FR" sz="2000" dirty="0">
                <a:latin typeface="Times New Roman" panose="02020603050405020304" pitchFamily="18" charset="0"/>
                <a:cs typeface="Times New Roman" panose="02020603050405020304" pitchFamily="18" charset="0"/>
              </a:rPr>
              <a:t>- Déclaration de l'objet contenant la méthode de sérialisation: </a:t>
            </a:r>
          </a:p>
          <a:p>
            <a:pPr algn="just"/>
            <a:r>
              <a:rPr lang="fr-FR" sz="2000" dirty="0" err="1">
                <a:latin typeface="Times New Roman" panose="02020603050405020304" pitchFamily="18" charset="0"/>
                <a:cs typeface="Times New Roman" panose="02020603050405020304" pitchFamily="18" charset="0"/>
              </a:rPr>
              <a:t>XmlSerializer</a:t>
            </a:r>
            <a:r>
              <a:rPr lang="fr-FR" sz="2000" dirty="0">
                <a:latin typeface="Times New Roman" panose="02020603050405020304" pitchFamily="18" charset="0"/>
                <a:cs typeface="Times New Roman" panose="02020603050405020304" pitchFamily="18" charset="0"/>
              </a:rPr>
              <a:t> x = new </a:t>
            </a:r>
            <a:r>
              <a:rPr lang="fr-FR" sz="2000" dirty="0" err="1">
                <a:latin typeface="Times New Roman" panose="02020603050405020304" pitchFamily="18" charset="0"/>
                <a:cs typeface="Times New Roman" panose="02020603050405020304" pitchFamily="18" charset="0"/>
              </a:rPr>
              <a:t>XmlSerializer</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typeof</a:t>
            </a:r>
            <a:r>
              <a:rPr lang="fr-FR" sz="2000" dirty="0">
                <a:latin typeface="Times New Roman" panose="02020603050405020304" pitchFamily="18" charset="0"/>
                <a:cs typeface="Times New Roman" panose="02020603050405020304" pitchFamily="18" charset="0"/>
              </a:rPr>
              <a:t>(Objet));</a:t>
            </a:r>
          </a:p>
          <a:p>
            <a:pPr algn="just"/>
            <a:r>
              <a:rPr lang="fr-FR" sz="2000" dirty="0">
                <a:latin typeface="Times New Roman" panose="02020603050405020304" pitchFamily="18" charset="0"/>
                <a:cs typeface="Times New Roman" panose="02020603050405020304" pitchFamily="18" charset="0"/>
              </a:rPr>
              <a:t>- Déclaration du fichier dans lequel on va sérialiser:</a:t>
            </a:r>
          </a:p>
          <a:p>
            <a:pPr algn="just"/>
            <a:r>
              <a:rPr lang="fr-FR" sz="2000" dirty="0" err="1">
                <a:latin typeface="Times New Roman" panose="02020603050405020304" pitchFamily="18" charset="0"/>
                <a:cs typeface="Times New Roman" panose="02020603050405020304" pitchFamily="18" charset="0"/>
              </a:rPr>
              <a:t>StreamWriter</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writer</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StreamWriter</a:t>
            </a:r>
            <a:r>
              <a:rPr lang="fr-FR" sz="2000" dirty="0">
                <a:latin typeface="Times New Roman" panose="02020603050405020304" pitchFamily="18" charset="0"/>
                <a:cs typeface="Times New Roman" panose="02020603050405020304" pitchFamily="18" charset="0"/>
              </a:rPr>
              <a:t>(“nomFichier.xml");</a:t>
            </a:r>
          </a:p>
          <a:p>
            <a:pPr algn="just"/>
            <a:r>
              <a:rPr lang="fr-FR" sz="2000" dirty="0">
                <a:latin typeface="Times New Roman" panose="02020603050405020304" pitchFamily="18" charset="0"/>
                <a:cs typeface="Times New Roman" panose="02020603050405020304" pitchFamily="18" charset="0"/>
              </a:rPr>
              <a:t>- Méthode de la sérialisation:</a:t>
            </a:r>
          </a:p>
          <a:p>
            <a:pPr algn="just"/>
            <a:r>
              <a:rPr lang="fr-FR" sz="2000" dirty="0" err="1">
                <a:latin typeface="Times New Roman" panose="02020603050405020304" pitchFamily="18" charset="0"/>
                <a:cs typeface="Times New Roman" panose="02020603050405020304" pitchFamily="18" charset="0"/>
              </a:rPr>
              <a:t>x.Serialize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writer</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nomObjet</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Fermeture fichier </a:t>
            </a:r>
          </a:p>
          <a:p>
            <a:pPr algn="just"/>
            <a:r>
              <a:rPr lang="fr-FR" sz="2000" dirty="0" err="1">
                <a:latin typeface="Times New Roman" panose="02020603050405020304" pitchFamily="18" charset="0"/>
                <a:cs typeface="Times New Roman" panose="02020603050405020304" pitchFamily="18" charset="0"/>
              </a:rPr>
              <a:t>writer.Close</a:t>
            </a:r>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15207017"/>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19.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sérialisation d'objets</a:t>
            </a:r>
          </a:p>
        </p:txBody>
      </p:sp>
      <p:sp>
        <p:nvSpPr>
          <p:cNvPr id="8" name="ZoneTexte 7"/>
          <p:cNvSpPr txBox="1"/>
          <p:nvPr/>
        </p:nvSpPr>
        <p:spPr>
          <a:xfrm>
            <a:off x="480163" y="911772"/>
            <a:ext cx="11160000" cy="4093428"/>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La </a:t>
            </a:r>
            <a:r>
              <a:rPr lang="fr-FR" sz="2000" b="1" dirty="0" err="1" smtClean="0">
                <a:solidFill>
                  <a:srgbClr val="C00000"/>
                </a:solidFill>
                <a:latin typeface="Times New Roman" panose="02020603050405020304" pitchFamily="18" charset="0"/>
                <a:cs typeface="Times New Roman" panose="02020603050405020304" pitchFamily="18" charset="0"/>
              </a:rPr>
              <a:t>désérialisation</a:t>
            </a:r>
            <a:r>
              <a:rPr lang="fr-FR" sz="2000" b="1" dirty="0" smtClean="0">
                <a:solidFill>
                  <a:srgbClr val="C00000"/>
                </a:solidFill>
                <a:latin typeface="Times New Roman" panose="02020603050405020304" pitchFamily="18" charset="0"/>
                <a:cs typeface="Times New Roman" panose="02020603050405020304" pitchFamily="18" charset="0"/>
              </a:rPr>
              <a:t> XML</a:t>
            </a:r>
          </a:p>
          <a:p>
            <a:pPr algn="just"/>
            <a:endParaRPr lang="fr-FR" sz="2000" dirty="0">
              <a:latin typeface="Times New Roman" panose="02020603050405020304" pitchFamily="18" charset="0"/>
              <a:cs typeface="Times New Roman" panose="02020603050405020304" pitchFamily="18" charset="0"/>
            </a:endParaRPr>
          </a:p>
          <a:p>
            <a:pPr algn="just"/>
            <a:r>
              <a:rPr lang="fr-FR" sz="2000" b="1" dirty="0">
                <a:latin typeface="Times New Roman" panose="02020603050405020304" pitchFamily="18" charset="0"/>
                <a:cs typeface="Times New Roman" panose="02020603050405020304" pitchFamily="18" charset="0"/>
              </a:rPr>
              <a:t>Étapes de la </a:t>
            </a:r>
            <a:r>
              <a:rPr lang="fr-FR" sz="2000" b="1" dirty="0" err="1" smtClean="0">
                <a:latin typeface="Times New Roman" panose="02020603050405020304" pitchFamily="18" charset="0"/>
                <a:cs typeface="Times New Roman" panose="02020603050405020304" pitchFamily="18" charset="0"/>
              </a:rPr>
              <a:t>désérialisation</a:t>
            </a:r>
            <a:r>
              <a:rPr lang="fr-FR" sz="2000" b="1" dirty="0" smtClean="0">
                <a:latin typeface="Times New Roman" panose="02020603050405020304" pitchFamily="18" charset="0"/>
                <a:cs typeface="Times New Roman" panose="02020603050405020304" pitchFamily="18" charset="0"/>
              </a:rPr>
              <a:t> XML : </a:t>
            </a:r>
            <a:endParaRPr lang="fr-FR" sz="2000" b="1"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Ajouter l’espace de nom :</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using</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System.Xml.Serialization</a:t>
            </a:r>
            <a:r>
              <a:rPr lang="fr-FR" sz="2000" dirty="0">
                <a:latin typeface="Times New Roman" panose="02020603050405020304" pitchFamily="18" charset="0"/>
                <a:cs typeface="Times New Roman" panose="02020603050405020304" pitchFamily="18" charset="0"/>
              </a:rPr>
              <a:t>; </a:t>
            </a:r>
          </a:p>
          <a:p>
            <a:pPr algn="just"/>
            <a:r>
              <a:rPr lang="fr-FR" sz="2000" dirty="0">
                <a:latin typeface="Times New Roman" panose="02020603050405020304" pitchFamily="18" charset="0"/>
                <a:cs typeface="Times New Roman" panose="02020603050405020304" pitchFamily="18" charset="0"/>
              </a:rPr>
              <a:t>- Déclaration de l’objet ou nous allons récupérer la sauvegarde: </a:t>
            </a:r>
          </a:p>
          <a:p>
            <a:pPr algn="just"/>
            <a:r>
              <a:rPr lang="fr-FR" sz="2000" dirty="0" err="1">
                <a:latin typeface="Times New Roman" panose="02020603050405020304" pitchFamily="18" charset="0"/>
                <a:cs typeface="Times New Roman" panose="02020603050405020304" pitchFamily="18" charset="0"/>
              </a:rPr>
              <a:t>nomClasse</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nomObjet</a:t>
            </a:r>
            <a:r>
              <a:rPr lang="fr-FR" sz="2000" dirty="0">
                <a:latin typeface="Times New Roman" panose="02020603050405020304" pitchFamily="18" charset="0"/>
                <a:cs typeface="Times New Roman" panose="02020603050405020304" pitchFamily="18" charset="0"/>
              </a:rPr>
              <a:t> = new </a:t>
            </a:r>
            <a:r>
              <a:rPr lang="fr-FR" sz="2000" dirty="0" err="1">
                <a:latin typeface="Times New Roman" panose="02020603050405020304" pitchFamily="18" charset="0"/>
                <a:cs typeface="Times New Roman" panose="02020603050405020304" pitchFamily="18" charset="0"/>
              </a:rPr>
              <a:t>nomClasse</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Déclaration de l’objet pour </a:t>
            </a:r>
            <a:r>
              <a:rPr lang="fr-FR" sz="2000" dirty="0" err="1">
                <a:latin typeface="Times New Roman" panose="02020603050405020304" pitchFamily="18" charset="0"/>
                <a:cs typeface="Times New Roman" panose="02020603050405020304" pitchFamily="18" charset="0"/>
              </a:rPr>
              <a:t>désérialiser</a:t>
            </a:r>
            <a:r>
              <a:rPr lang="fr-FR" sz="2000" dirty="0">
                <a:latin typeface="Times New Roman" panose="02020603050405020304" pitchFamily="18" charset="0"/>
                <a:cs typeface="Times New Roman" panose="02020603050405020304" pitchFamily="18" charset="0"/>
              </a:rPr>
              <a:t> : </a:t>
            </a:r>
          </a:p>
          <a:p>
            <a:pPr algn="just"/>
            <a:r>
              <a:rPr lang="fr-FR" sz="2000" dirty="0" err="1">
                <a:latin typeface="Times New Roman" panose="02020603050405020304" pitchFamily="18" charset="0"/>
                <a:cs typeface="Times New Roman" panose="02020603050405020304" pitchFamily="18" charset="0"/>
              </a:rPr>
              <a:t>XmlSerializer</a:t>
            </a:r>
            <a:r>
              <a:rPr lang="fr-FR" sz="2000" dirty="0">
                <a:latin typeface="Times New Roman" panose="02020603050405020304" pitchFamily="18" charset="0"/>
                <a:cs typeface="Times New Roman" panose="02020603050405020304" pitchFamily="18" charset="0"/>
              </a:rPr>
              <a:t> x = new </a:t>
            </a:r>
            <a:r>
              <a:rPr lang="fr-FR" sz="2000" dirty="0" err="1">
                <a:latin typeface="Times New Roman" panose="02020603050405020304" pitchFamily="18" charset="0"/>
                <a:cs typeface="Times New Roman" panose="02020603050405020304" pitchFamily="18" charset="0"/>
              </a:rPr>
              <a:t>XmlSerializer</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typeof</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nomClasse</a:t>
            </a:r>
            <a:r>
              <a:rPr lang="fr-FR" sz="2000" dirty="0">
                <a:latin typeface="Times New Roman" panose="02020603050405020304" pitchFamily="18" charset="0"/>
                <a:cs typeface="Times New Roman" panose="02020603050405020304" pitchFamily="18" charset="0"/>
              </a:rPr>
              <a:t>));</a:t>
            </a:r>
          </a:p>
          <a:p>
            <a:pPr algn="just"/>
            <a:r>
              <a:rPr lang="fr-FR" sz="2000" dirty="0" err="1">
                <a:latin typeface="Times New Roman" panose="02020603050405020304" pitchFamily="18" charset="0"/>
                <a:cs typeface="Times New Roman" panose="02020603050405020304" pitchFamily="18" charset="0"/>
              </a:rPr>
              <a:t>XmlReader</a:t>
            </a:r>
            <a:r>
              <a:rPr lang="fr-FR" sz="2000" dirty="0">
                <a:latin typeface="Times New Roman" panose="02020603050405020304" pitchFamily="18" charset="0"/>
                <a:cs typeface="Times New Roman" panose="02020603050405020304" pitchFamily="18" charset="0"/>
              </a:rPr>
              <a:t> fic1 = </a:t>
            </a:r>
            <a:r>
              <a:rPr lang="fr-FR" sz="2000" dirty="0" err="1">
                <a:latin typeface="Times New Roman" panose="02020603050405020304" pitchFamily="18" charset="0"/>
                <a:cs typeface="Times New Roman" panose="02020603050405020304" pitchFamily="18" charset="0"/>
              </a:rPr>
              <a:t>XmlReader.Create</a:t>
            </a:r>
            <a:r>
              <a:rPr lang="fr-FR" sz="2000" dirty="0">
                <a:latin typeface="Times New Roman" panose="02020603050405020304" pitchFamily="18" charset="0"/>
                <a:cs typeface="Times New Roman" panose="02020603050405020304" pitchFamily="18" charset="0"/>
              </a:rPr>
              <a:t>("mesfilms.xml", new </a:t>
            </a:r>
            <a:r>
              <a:rPr lang="fr-FR" sz="2000" dirty="0" err="1">
                <a:latin typeface="Times New Roman" panose="02020603050405020304" pitchFamily="18" charset="0"/>
                <a:cs typeface="Times New Roman" panose="02020603050405020304" pitchFamily="18" charset="0"/>
              </a:rPr>
              <a:t>XmlReaderSettings</a:t>
            </a:r>
            <a:r>
              <a:rPr lang="fr-FR" sz="2000" dirty="0">
                <a:latin typeface="Times New Roman" panose="02020603050405020304" pitchFamily="18" charset="0"/>
                <a:cs typeface="Times New Roman" panose="02020603050405020304" pitchFamily="18" charset="0"/>
              </a:rPr>
              <a:t>());</a:t>
            </a:r>
          </a:p>
          <a:p>
            <a:pPr algn="just"/>
            <a:r>
              <a:rPr lang="fr-FR" sz="2000" dirty="0" err="1">
                <a:latin typeface="Times New Roman" panose="02020603050405020304" pitchFamily="18" charset="0"/>
                <a:cs typeface="Times New Roman" panose="02020603050405020304" pitchFamily="18" charset="0"/>
              </a:rPr>
              <a:t>nomObjet</a:t>
            </a:r>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nomClasse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x.Deserialize</a:t>
            </a:r>
            <a:r>
              <a:rPr lang="fr-FR" sz="2000" dirty="0">
                <a:latin typeface="Times New Roman" panose="02020603050405020304" pitchFamily="18" charset="0"/>
                <a:cs typeface="Times New Roman" panose="02020603050405020304" pitchFamily="18" charset="0"/>
              </a:rPr>
              <a:t>(fic1);</a:t>
            </a:r>
          </a:p>
          <a:p>
            <a:pPr algn="just"/>
            <a:r>
              <a:rPr lang="fr-FR" sz="2000" dirty="0">
                <a:latin typeface="Times New Roman" panose="02020603050405020304" pitchFamily="18" charset="0"/>
                <a:cs typeface="Times New Roman" panose="02020603050405020304" pitchFamily="18" charset="0"/>
              </a:rPr>
              <a:t>fic1.Close();</a:t>
            </a:r>
          </a:p>
        </p:txBody>
      </p:sp>
    </p:spTree>
    <p:extLst>
      <p:ext uri="{BB962C8B-B14F-4D97-AF65-F5344CB8AC3E}">
        <p14:creationId xmlns:p14="http://schemas.microsoft.com/office/powerpoint/2010/main" val="2175524946"/>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19.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sérialisation d'objets</a:t>
            </a:r>
          </a:p>
        </p:txBody>
      </p:sp>
      <p:sp>
        <p:nvSpPr>
          <p:cNvPr id="8" name="ZoneTexte 7"/>
          <p:cNvSpPr txBox="1"/>
          <p:nvPr/>
        </p:nvSpPr>
        <p:spPr>
          <a:xfrm>
            <a:off x="480163" y="911772"/>
            <a:ext cx="11160000" cy="5632311"/>
          </a:xfrm>
          <a:prstGeom prst="rect">
            <a:avLst/>
          </a:prstGeom>
          <a:noFill/>
        </p:spPr>
        <p:txBody>
          <a:bodyPr wrap="square" rtlCol="0">
            <a:spAutoFit/>
          </a:bodyPr>
          <a:lstStyle/>
          <a:p>
            <a:pPr algn="just"/>
            <a:r>
              <a:rPr lang="fr-FR" sz="2000" b="1" dirty="0" smtClean="0">
                <a:latin typeface="Times New Roman" panose="02020603050405020304" pitchFamily="18" charset="0"/>
                <a:cs typeface="Times New Roman" panose="02020603050405020304" pitchFamily="18" charset="0"/>
              </a:rPr>
              <a:t>Exemple 1 : </a:t>
            </a:r>
            <a:endParaRPr lang="fr-FR" sz="2000" b="1"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//Ecriture dans un fichier</a:t>
            </a:r>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public </a:t>
            </a:r>
            <a:r>
              <a:rPr lang="fr-FR" sz="2000" dirty="0" err="1">
                <a:latin typeface="Times New Roman" panose="02020603050405020304" pitchFamily="18" charset="0"/>
                <a:cs typeface="Times New Roman" panose="02020603050405020304" pitchFamily="18" charset="0"/>
              </a:rPr>
              <a:t>static</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main(String[] </a:t>
            </a:r>
            <a:r>
              <a:rPr lang="fr-FR" sz="2000" dirty="0" err="1" smtClean="0">
                <a:latin typeface="Times New Roman" panose="02020603050405020304" pitchFamily="18" charset="0"/>
                <a:cs typeface="Times New Roman" panose="02020603050405020304" pitchFamily="18" charset="0"/>
              </a:rPr>
              <a:t>arg:s</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Personne P1 = new Personne(‘’X12’’,’’XXX’’,32);</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FileStream</a:t>
            </a:r>
            <a:r>
              <a:rPr lang="fr-FR" sz="2000" dirty="0">
                <a:latin typeface="Times New Roman" panose="02020603050405020304" pitchFamily="18" charset="0"/>
                <a:cs typeface="Times New Roman" panose="02020603050405020304" pitchFamily="18" charset="0"/>
              </a:rPr>
              <a:t> FS= new </a:t>
            </a:r>
            <a:r>
              <a:rPr lang="fr-FR" sz="2000" dirty="0" err="1">
                <a:latin typeface="Times New Roman" panose="02020603050405020304" pitchFamily="18" charset="0"/>
                <a:cs typeface="Times New Roman" panose="02020603050405020304" pitchFamily="18" charset="0"/>
              </a:rPr>
              <a:t>FileStream</a:t>
            </a:r>
            <a:r>
              <a:rPr lang="fr-FR" sz="2000" dirty="0">
                <a:latin typeface="Times New Roman" panose="02020603050405020304" pitchFamily="18" charset="0"/>
                <a:cs typeface="Times New Roman" panose="02020603050405020304" pitchFamily="18" charset="0"/>
              </a:rPr>
              <a:t>(@’’D:\</a:t>
            </a:r>
            <a:r>
              <a:rPr lang="fr-FR" sz="2000" dirty="0" err="1">
                <a:latin typeface="Times New Roman" panose="02020603050405020304" pitchFamily="18" charset="0"/>
                <a:cs typeface="Times New Roman" panose="02020603050405020304" pitchFamily="18" charset="0"/>
              </a:rPr>
              <a:t>Test.Bin</a:t>
            </a:r>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FileMode.Create</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BinaryFormatter</a:t>
            </a:r>
            <a:r>
              <a:rPr lang="fr-FR" sz="2000" dirty="0">
                <a:latin typeface="Times New Roman" panose="02020603050405020304" pitchFamily="18" charset="0"/>
                <a:cs typeface="Times New Roman" panose="02020603050405020304" pitchFamily="18" charset="0"/>
              </a:rPr>
              <a:t> BF = new </a:t>
            </a:r>
            <a:r>
              <a:rPr lang="fr-FR" sz="2000" dirty="0" err="1">
                <a:latin typeface="Times New Roman" panose="02020603050405020304" pitchFamily="18" charset="0"/>
                <a:cs typeface="Times New Roman" panose="02020603050405020304" pitchFamily="18" charset="0"/>
              </a:rPr>
              <a:t>BinaryFormatter</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BF.Serialize</a:t>
            </a:r>
            <a:r>
              <a:rPr lang="fr-FR" sz="2000" dirty="0">
                <a:latin typeface="Times New Roman" panose="02020603050405020304" pitchFamily="18" charset="0"/>
                <a:cs typeface="Times New Roman" panose="02020603050405020304" pitchFamily="18" charset="0"/>
              </a:rPr>
              <a:t>(FS,P1);</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FS.close</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a:t>
            </a:r>
          </a:p>
          <a:p>
            <a:pPr algn="just"/>
            <a:r>
              <a:rPr lang="fr-FR" sz="2000" b="1" dirty="0" smtClean="0">
                <a:latin typeface="Times New Roman" panose="02020603050405020304" pitchFamily="18" charset="0"/>
                <a:cs typeface="Times New Roman" panose="02020603050405020304" pitchFamily="18" charset="0"/>
              </a:rPr>
              <a:t>//Lecture dans un fichier</a:t>
            </a:r>
            <a:endParaRPr lang="fr-FR" sz="2000" b="1"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public </a:t>
            </a:r>
            <a:r>
              <a:rPr lang="fr-FR" sz="2000" dirty="0" err="1">
                <a:latin typeface="Times New Roman" panose="02020603050405020304" pitchFamily="18" charset="0"/>
                <a:cs typeface="Times New Roman" panose="02020603050405020304" pitchFamily="18" charset="0"/>
              </a:rPr>
              <a:t>static</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main(String[] </a:t>
            </a:r>
            <a:r>
              <a:rPr lang="fr-FR" sz="2000" dirty="0" err="1">
                <a:latin typeface="Times New Roman" panose="02020603050405020304" pitchFamily="18" charset="0"/>
                <a:cs typeface="Times New Roman" panose="02020603050405020304" pitchFamily="18" charset="0"/>
              </a:rPr>
              <a:t>args</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FileStream</a:t>
            </a:r>
            <a:r>
              <a:rPr lang="fr-FR" sz="2000" dirty="0">
                <a:latin typeface="Times New Roman" panose="02020603050405020304" pitchFamily="18" charset="0"/>
                <a:cs typeface="Times New Roman" panose="02020603050405020304" pitchFamily="18" charset="0"/>
              </a:rPr>
              <a:t> FS= new </a:t>
            </a:r>
            <a:r>
              <a:rPr lang="fr-FR" sz="2000" dirty="0" err="1">
                <a:latin typeface="Times New Roman" panose="02020603050405020304" pitchFamily="18" charset="0"/>
                <a:cs typeface="Times New Roman" panose="02020603050405020304" pitchFamily="18" charset="0"/>
              </a:rPr>
              <a:t>FileStream</a:t>
            </a:r>
            <a:r>
              <a:rPr lang="fr-FR" sz="2000" dirty="0">
                <a:latin typeface="Times New Roman" panose="02020603050405020304" pitchFamily="18" charset="0"/>
                <a:cs typeface="Times New Roman" panose="02020603050405020304" pitchFamily="18" charset="0"/>
              </a:rPr>
              <a:t>(@’’D:\</a:t>
            </a:r>
            <a:r>
              <a:rPr lang="fr-FR" sz="2000" dirty="0" err="1">
                <a:latin typeface="Times New Roman" panose="02020603050405020304" pitchFamily="18" charset="0"/>
                <a:cs typeface="Times New Roman" panose="02020603050405020304" pitchFamily="18" charset="0"/>
              </a:rPr>
              <a:t>Test.Bin</a:t>
            </a:r>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FileMode.Open</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BinaryFormatter</a:t>
            </a:r>
            <a:r>
              <a:rPr lang="fr-FR" sz="2000" dirty="0">
                <a:latin typeface="Times New Roman" panose="02020603050405020304" pitchFamily="18" charset="0"/>
                <a:cs typeface="Times New Roman" panose="02020603050405020304" pitchFamily="18" charset="0"/>
              </a:rPr>
              <a:t> BF = new </a:t>
            </a:r>
            <a:r>
              <a:rPr lang="fr-FR" sz="2000" dirty="0" err="1">
                <a:latin typeface="Times New Roman" panose="02020603050405020304" pitchFamily="18" charset="0"/>
                <a:cs typeface="Times New Roman" panose="02020603050405020304" pitchFamily="18" charset="0"/>
              </a:rPr>
              <a:t>BinaryFormatter</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Personne P = (Personne)(</a:t>
            </a:r>
            <a:r>
              <a:rPr lang="fr-FR" sz="2000" dirty="0" err="1">
                <a:latin typeface="Times New Roman" panose="02020603050405020304" pitchFamily="18" charset="0"/>
                <a:cs typeface="Times New Roman" panose="02020603050405020304" pitchFamily="18" charset="0"/>
              </a:rPr>
              <a:t>BF.Deserialize</a:t>
            </a:r>
            <a:r>
              <a:rPr lang="fr-FR" sz="2000" dirty="0">
                <a:latin typeface="Times New Roman" panose="02020603050405020304" pitchFamily="18" charset="0"/>
                <a:cs typeface="Times New Roman" panose="02020603050405020304" pitchFamily="18" charset="0"/>
              </a:rPr>
              <a:t>(FS));</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P.Nom</a:t>
            </a:r>
            <a:r>
              <a:rPr lang="fr-FR" sz="2000" dirty="0">
                <a:latin typeface="Times New Roman" panose="02020603050405020304" pitchFamily="18" charset="0"/>
                <a:cs typeface="Times New Roman" panose="02020603050405020304" pitchFamily="18" charset="0"/>
              </a:rPr>
              <a:t>+’’\t’’+</a:t>
            </a:r>
            <a:r>
              <a:rPr lang="fr-FR" sz="2000" dirty="0" err="1">
                <a:latin typeface="Times New Roman" panose="02020603050405020304" pitchFamily="18" charset="0"/>
                <a:cs typeface="Times New Roman" panose="02020603050405020304" pitchFamily="18" charset="0"/>
              </a:rPr>
              <a:t>P.Prénom</a:t>
            </a:r>
            <a:r>
              <a:rPr lang="fr-FR" sz="2000" dirty="0">
                <a:latin typeface="Times New Roman" panose="02020603050405020304" pitchFamily="18" charset="0"/>
                <a:cs typeface="Times New Roman" panose="02020603050405020304" pitchFamily="18" charset="0"/>
              </a:rPr>
              <a:t>+’’\t’’+</a:t>
            </a:r>
            <a:r>
              <a:rPr lang="fr-FR" sz="2000" dirty="0" err="1">
                <a:latin typeface="Times New Roman" panose="02020603050405020304" pitchFamily="18" charset="0"/>
                <a:cs typeface="Times New Roman" panose="02020603050405020304" pitchFamily="18" charset="0"/>
              </a:rPr>
              <a:t>P.Age</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FS.close</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7449280"/>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19.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sérialisation d'objets</a:t>
            </a:r>
          </a:p>
        </p:txBody>
      </p:sp>
      <p:sp>
        <p:nvSpPr>
          <p:cNvPr id="8" name="ZoneTexte 7"/>
          <p:cNvSpPr txBox="1"/>
          <p:nvPr/>
        </p:nvSpPr>
        <p:spPr>
          <a:xfrm>
            <a:off x="480163" y="911772"/>
            <a:ext cx="11160000" cy="8710077"/>
          </a:xfrm>
          <a:prstGeom prst="rect">
            <a:avLst/>
          </a:prstGeom>
          <a:noFill/>
        </p:spPr>
        <p:txBody>
          <a:bodyPr wrap="square" rtlCol="0">
            <a:spAutoFit/>
          </a:bodyPr>
          <a:lstStyle/>
          <a:p>
            <a:pPr algn="just"/>
            <a:r>
              <a:rPr lang="fr-FR" sz="2000" b="1" dirty="0" smtClean="0">
                <a:latin typeface="Times New Roman" panose="02020603050405020304" pitchFamily="18" charset="0"/>
                <a:cs typeface="Times New Roman" panose="02020603050405020304" pitchFamily="18" charset="0"/>
              </a:rPr>
              <a:t>Exemple 2 : </a:t>
            </a:r>
            <a:endParaRPr lang="fr-FR" sz="2000" b="1" dirty="0">
              <a:latin typeface="Times New Roman" panose="02020603050405020304" pitchFamily="18" charset="0"/>
              <a:cs typeface="Times New Roman" panose="02020603050405020304" pitchFamily="18" charset="0"/>
            </a:endParaRP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Serializable</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public class Personne{</a:t>
            </a:r>
          </a:p>
          <a:p>
            <a:pPr algn="just"/>
            <a:r>
              <a:rPr lang="fr-FR" sz="2000" dirty="0">
                <a:latin typeface="Times New Roman" panose="02020603050405020304" pitchFamily="18" charset="0"/>
                <a:cs typeface="Times New Roman" panose="02020603050405020304" pitchFamily="18" charset="0"/>
              </a:rPr>
              <a:t>	public String Nom;</a:t>
            </a:r>
          </a:p>
          <a:p>
            <a:pPr algn="just"/>
            <a:r>
              <a:rPr lang="fr-FR" sz="2000" dirty="0">
                <a:latin typeface="Times New Roman" panose="02020603050405020304" pitchFamily="18" charset="0"/>
                <a:cs typeface="Times New Roman" panose="02020603050405020304" pitchFamily="18" charset="0"/>
              </a:rPr>
              <a:t>	public String </a:t>
            </a:r>
            <a:r>
              <a:rPr lang="fr-FR" sz="2000" dirty="0" err="1">
                <a:latin typeface="Times New Roman" panose="02020603050405020304" pitchFamily="18" charset="0"/>
                <a:cs typeface="Times New Roman" panose="02020603050405020304" pitchFamily="18" charset="0"/>
              </a:rPr>
              <a:t>Prenom</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public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Age;</a:t>
            </a:r>
          </a:p>
          <a:p>
            <a:pPr algn="just"/>
            <a:r>
              <a:rPr lang="fr-FR" sz="2000" dirty="0">
                <a:latin typeface="Times New Roman" panose="02020603050405020304" pitchFamily="18" charset="0"/>
                <a:cs typeface="Times New Roman" panose="02020603050405020304" pitchFamily="18" charset="0"/>
              </a:rPr>
              <a:t>	</a:t>
            </a:r>
          </a:p>
          <a:p>
            <a:pPr algn="just"/>
            <a:r>
              <a:rPr lang="fr-FR" sz="2000" dirty="0">
                <a:latin typeface="Times New Roman" panose="02020603050405020304" pitchFamily="18" charset="0"/>
                <a:cs typeface="Times New Roman" panose="02020603050405020304" pitchFamily="18" charset="0"/>
              </a:rPr>
              <a:t>	public Personne(String N , String P , </a:t>
            </a:r>
            <a:r>
              <a:rPr lang="fr-FR" sz="2000" dirty="0" err="1">
                <a:latin typeface="Times New Roman" panose="02020603050405020304" pitchFamily="18" charset="0"/>
                <a:cs typeface="Times New Roman" panose="02020603050405020304" pitchFamily="18" charset="0"/>
              </a:rPr>
              <a:t>int</a:t>
            </a:r>
            <a:r>
              <a:rPr lang="fr-FR" sz="2000" dirty="0">
                <a:latin typeface="Times New Roman" panose="02020603050405020304" pitchFamily="18" charset="0"/>
                <a:cs typeface="Times New Roman" panose="02020603050405020304" pitchFamily="18" charset="0"/>
              </a:rPr>
              <a:t> A){</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this.Nom</a:t>
            </a:r>
            <a:r>
              <a:rPr lang="fr-FR" sz="2000" dirty="0">
                <a:latin typeface="Times New Roman" panose="02020603050405020304" pitchFamily="18" charset="0"/>
                <a:cs typeface="Times New Roman" panose="02020603050405020304" pitchFamily="18" charset="0"/>
              </a:rPr>
              <a:t> = N ;</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this.Nom</a:t>
            </a:r>
            <a:r>
              <a:rPr lang="fr-FR" sz="2000" dirty="0">
                <a:latin typeface="Times New Roman" panose="02020603050405020304" pitchFamily="18" charset="0"/>
                <a:cs typeface="Times New Roman" panose="02020603050405020304" pitchFamily="18" charset="0"/>
              </a:rPr>
              <a:t> = N ;</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this.Nom</a:t>
            </a:r>
            <a:r>
              <a:rPr lang="fr-FR" sz="2000" dirty="0">
                <a:latin typeface="Times New Roman" panose="02020603050405020304" pitchFamily="18" charset="0"/>
                <a:cs typeface="Times New Roman" panose="02020603050405020304" pitchFamily="18" charset="0"/>
              </a:rPr>
              <a:t> = N ;</a:t>
            </a:r>
          </a:p>
          <a:p>
            <a:pPr algn="just"/>
            <a:r>
              <a:rPr lang="fr-FR" sz="2000" dirty="0">
                <a:latin typeface="Times New Roman" panose="02020603050405020304" pitchFamily="18" charset="0"/>
                <a:cs typeface="Times New Roman" panose="02020603050405020304" pitchFamily="18" charset="0"/>
              </a:rPr>
              <a:t>	}</a:t>
            </a:r>
          </a:p>
          <a:p>
            <a:pPr algn="just"/>
            <a:r>
              <a:rPr lang="fr-FR" sz="2000" dirty="0">
                <a:latin typeface="Times New Roman" panose="02020603050405020304" pitchFamily="18" charset="0"/>
                <a:cs typeface="Times New Roman" panose="02020603050405020304" pitchFamily="18" charset="0"/>
              </a:rPr>
              <a:t>}</a:t>
            </a:r>
          </a:p>
          <a:p>
            <a:pPr algn="just"/>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public </a:t>
            </a:r>
            <a:r>
              <a:rPr lang="fr-FR" sz="2000" dirty="0" err="1">
                <a:latin typeface="Times New Roman" panose="02020603050405020304" pitchFamily="18" charset="0"/>
                <a:cs typeface="Times New Roman" panose="02020603050405020304" pitchFamily="18" charset="0"/>
              </a:rPr>
              <a:t>static</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Main(String[] </a:t>
            </a:r>
            <a:r>
              <a:rPr lang="fr-FR" sz="2000" dirty="0" err="1">
                <a:latin typeface="Times New Roman" panose="02020603050405020304" pitchFamily="18" charset="0"/>
                <a:cs typeface="Times New Roman" panose="02020603050405020304" pitchFamily="18" charset="0"/>
              </a:rPr>
              <a:t>args</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//Ecriture dans un fichier </a:t>
            </a:r>
          </a:p>
          <a:p>
            <a:pPr algn="just"/>
            <a:r>
              <a:rPr lang="fr-FR" sz="2000" dirty="0">
                <a:latin typeface="Times New Roman" panose="02020603050405020304" pitchFamily="18" charset="0"/>
                <a:cs typeface="Times New Roman" panose="02020603050405020304" pitchFamily="18" charset="0"/>
              </a:rPr>
              <a:t>	Personne P1 = new Personne("X10","XXXX",32);</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XMLSerializer</a:t>
            </a:r>
            <a:r>
              <a:rPr lang="fr-FR" sz="2000" dirty="0">
                <a:latin typeface="Times New Roman" panose="02020603050405020304" pitchFamily="18" charset="0"/>
                <a:cs typeface="Times New Roman" panose="02020603050405020304" pitchFamily="18" charset="0"/>
              </a:rPr>
              <a:t> XS = new </a:t>
            </a:r>
            <a:r>
              <a:rPr lang="fr-FR" sz="2000" dirty="0" err="1">
                <a:latin typeface="Times New Roman" panose="02020603050405020304" pitchFamily="18" charset="0"/>
                <a:cs typeface="Times New Roman" panose="02020603050405020304" pitchFamily="18" charset="0"/>
              </a:rPr>
              <a:t>XMLSerializer</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typeof</a:t>
            </a:r>
            <a:r>
              <a:rPr lang="fr-FR" sz="2000" dirty="0">
                <a:latin typeface="Times New Roman" panose="02020603050405020304" pitchFamily="18" charset="0"/>
                <a:cs typeface="Times New Roman" panose="02020603050405020304" pitchFamily="18" charset="0"/>
              </a:rPr>
              <a:t>(Personne));</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StreamWriter</a:t>
            </a:r>
            <a:r>
              <a:rPr lang="fr-FR" sz="2000" dirty="0">
                <a:latin typeface="Times New Roman" panose="02020603050405020304" pitchFamily="18" charset="0"/>
                <a:cs typeface="Times New Roman" panose="02020603050405020304" pitchFamily="18" charset="0"/>
              </a:rPr>
              <a:t> SW = new </a:t>
            </a:r>
            <a:r>
              <a:rPr lang="fr-FR" sz="2000" dirty="0" err="1">
                <a:latin typeface="Times New Roman" panose="02020603050405020304" pitchFamily="18" charset="0"/>
                <a:cs typeface="Times New Roman" panose="02020603050405020304" pitchFamily="18" charset="0"/>
              </a:rPr>
              <a:t>StreamWriter</a:t>
            </a:r>
            <a:r>
              <a:rPr lang="fr-FR" sz="2000" dirty="0">
                <a:latin typeface="Times New Roman" panose="02020603050405020304" pitchFamily="18" charset="0"/>
                <a:cs typeface="Times New Roman" panose="02020603050405020304" pitchFamily="18" charset="0"/>
              </a:rPr>
              <a:t>(@"\D:\Personne.XML");</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XS.Serialize</a:t>
            </a:r>
            <a:r>
              <a:rPr lang="fr-FR" sz="2000" dirty="0">
                <a:latin typeface="Times New Roman" panose="02020603050405020304" pitchFamily="18" charset="0"/>
                <a:cs typeface="Times New Roman" panose="02020603050405020304" pitchFamily="18" charset="0"/>
              </a:rPr>
              <a:t>(SW, P1);</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SW.close</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	//Lecture dans un fichier </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StreamReader</a:t>
            </a:r>
            <a:r>
              <a:rPr lang="fr-FR" sz="2000" dirty="0">
                <a:latin typeface="Times New Roman" panose="02020603050405020304" pitchFamily="18" charset="0"/>
                <a:cs typeface="Times New Roman" panose="02020603050405020304" pitchFamily="18" charset="0"/>
              </a:rPr>
              <a:t> SR = new </a:t>
            </a:r>
            <a:r>
              <a:rPr lang="fr-FR" sz="2000" dirty="0" err="1">
                <a:latin typeface="Times New Roman" panose="02020603050405020304" pitchFamily="18" charset="0"/>
                <a:cs typeface="Times New Roman" panose="02020603050405020304" pitchFamily="18" charset="0"/>
              </a:rPr>
              <a:t>StreamReader</a:t>
            </a:r>
            <a:r>
              <a:rPr lang="fr-FR" sz="2000" dirty="0">
                <a:latin typeface="Times New Roman" panose="02020603050405020304" pitchFamily="18" charset="0"/>
                <a:cs typeface="Times New Roman" panose="02020603050405020304" pitchFamily="18" charset="0"/>
              </a:rPr>
              <a:t>(@"\D:\Personne.XML");</a:t>
            </a:r>
          </a:p>
          <a:p>
            <a:pPr algn="just"/>
            <a:r>
              <a:rPr lang="fr-FR" sz="2000" dirty="0">
                <a:latin typeface="Times New Roman" panose="02020603050405020304" pitchFamily="18" charset="0"/>
                <a:cs typeface="Times New Roman" panose="02020603050405020304" pitchFamily="18" charset="0"/>
              </a:rPr>
              <a:t>	Personne P2 =(Personne)(</a:t>
            </a:r>
            <a:r>
              <a:rPr lang="fr-FR" sz="2000" dirty="0" err="1">
                <a:latin typeface="Times New Roman" panose="02020603050405020304" pitchFamily="18" charset="0"/>
                <a:cs typeface="Times New Roman" panose="02020603050405020304" pitchFamily="18" charset="0"/>
              </a:rPr>
              <a:t>XS.Deserialize</a:t>
            </a:r>
            <a:r>
              <a:rPr lang="fr-FR" sz="2000" dirty="0">
                <a:latin typeface="Times New Roman" panose="02020603050405020304" pitchFamily="18" charset="0"/>
                <a:cs typeface="Times New Roman" panose="02020603050405020304" pitchFamily="18" charset="0"/>
              </a:rPr>
              <a:t>(SR));</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Console.WriteLine</a:t>
            </a:r>
            <a:r>
              <a:rPr lang="fr-FR" sz="2000" dirty="0">
                <a:latin typeface="Times New Roman" panose="02020603050405020304" pitchFamily="18" charset="0"/>
                <a:cs typeface="Times New Roman" panose="02020603050405020304" pitchFamily="18" charset="0"/>
              </a:rPr>
              <a:t>(P2.Nom + "\t" + P2.Prenom+"\t"+P2.Age);</a:t>
            </a:r>
          </a:p>
          <a:p>
            <a:pPr algn="just"/>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SR.close</a:t>
            </a:r>
            <a:r>
              <a:rPr lang="fr-FR" sz="2000" dirty="0">
                <a:latin typeface="Times New Roman" panose="02020603050405020304" pitchFamily="18" charset="0"/>
                <a:cs typeface="Times New Roman" panose="02020603050405020304" pitchFamily="18" charset="0"/>
              </a:rPr>
              <a:t>();</a:t>
            </a:r>
          </a:p>
          <a:p>
            <a:pPr algn="just"/>
            <a:r>
              <a:rPr lang="fr-FR" sz="2000" dirty="0">
                <a:latin typeface="Times New Roman" panose="02020603050405020304" pitchFamily="18" charset="0"/>
                <a:cs typeface="Times New Roman" panose="02020603050405020304" pitchFamily="18" charset="0"/>
              </a:rPr>
              <a:t>}</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4378377"/>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80164" y="0"/>
            <a:ext cx="9415462" cy="91177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defRPr/>
            </a:pPr>
            <a:r>
              <a:rPr lang="fr-FR" sz="40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19. </a:t>
            </a:r>
            <a:r>
              <a:rPr lang="fr-FR" sz="4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sérialisation d'objets</a:t>
            </a:r>
          </a:p>
        </p:txBody>
      </p:sp>
      <p:sp>
        <p:nvSpPr>
          <p:cNvPr id="8" name="ZoneTexte 7"/>
          <p:cNvSpPr txBox="1"/>
          <p:nvPr/>
        </p:nvSpPr>
        <p:spPr>
          <a:xfrm>
            <a:off x="480163" y="911772"/>
            <a:ext cx="11160000" cy="2862322"/>
          </a:xfrm>
          <a:prstGeom prst="rect">
            <a:avLst/>
          </a:prstGeom>
          <a:noFill/>
        </p:spPr>
        <p:txBody>
          <a:bodyPr wrap="square" rtlCol="0">
            <a:spAutoFit/>
          </a:bodyPr>
          <a:lstStyle/>
          <a:p>
            <a:pPr algn="just"/>
            <a:r>
              <a:rPr lang="fr-FR" sz="2000" b="1" dirty="0" smtClean="0">
                <a:solidFill>
                  <a:srgbClr val="C00000"/>
                </a:solidFill>
                <a:latin typeface="Times New Roman" panose="02020603050405020304" pitchFamily="18" charset="0"/>
                <a:cs typeface="Times New Roman" panose="02020603050405020304" pitchFamily="18" charset="0"/>
              </a:rPr>
              <a:t>TP</a:t>
            </a:r>
          </a:p>
          <a:p>
            <a:pPr algn="just"/>
            <a:endParaRPr lang="fr-FR" sz="2000" dirty="0" smtClean="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Un Stagiaire est décrit par ses données membres privées : </a:t>
            </a:r>
            <a:r>
              <a:rPr lang="fr-FR" sz="2000" dirty="0" err="1">
                <a:latin typeface="Times New Roman" panose="02020603050405020304" pitchFamily="18" charset="0"/>
                <a:cs typeface="Times New Roman" panose="02020603050405020304" pitchFamily="18" charset="0"/>
              </a:rPr>
              <a:t>cin</a:t>
            </a:r>
            <a:r>
              <a:rPr lang="fr-FR" sz="2000" dirty="0">
                <a:latin typeface="Times New Roman" panose="02020603050405020304" pitchFamily="18" charset="0"/>
                <a:cs typeface="Times New Roman" panose="02020603050405020304" pitchFamily="18" charset="0"/>
              </a:rPr>
              <a:t>, nom, </a:t>
            </a:r>
            <a:r>
              <a:rPr lang="fr-FR" sz="2000" dirty="0" err="1">
                <a:latin typeface="Times New Roman" panose="02020603050405020304" pitchFamily="18" charset="0"/>
                <a:cs typeface="Times New Roman" panose="02020603050405020304" pitchFamily="18" charset="0"/>
              </a:rPr>
              <a:t>prenom</a:t>
            </a:r>
            <a:r>
              <a:rPr lang="fr-FR" sz="2000" dirty="0">
                <a:latin typeface="Times New Roman" panose="02020603050405020304" pitchFamily="18" charset="0"/>
                <a:cs typeface="Times New Roman" panose="02020603050405020304" pitchFamily="18" charset="0"/>
              </a:rPr>
              <a:t>, adresse</a:t>
            </a:r>
          </a:p>
          <a:p>
            <a:pPr algn="just"/>
            <a:r>
              <a:rPr lang="fr-FR" sz="2000" dirty="0">
                <a:latin typeface="Times New Roman" panose="02020603050405020304" pitchFamily="18" charset="0"/>
                <a:cs typeface="Times New Roman" panose="02020603050405020304" pitchFamily="18" charset="0"/>
              </a:rPr>
              <a:t>1. Définir la classe Stagiaire avec ses données membres et une méthode Affichage() qui affiche les informations de chaque objet stagiaire.</a:t>
            </a:r>
          </a:p>
          <a:p>
            <a:pPr algn="just"/>
            <a:r>
              <a:rPr lang="fr-FR" sz="2000" dirty="0">
                <a:latin typeface="Times New Roman" panose="02020603050405020304" pitchFamily="18" charset="0"/>
                <a:cs typeface="Times New Roman" panose="02020603050405020304" pitchFamily="18" charset="0"/>
              </a:rPr>
              <a:t>2. Ajouter deux méthodes public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serialisation</a:t>
            </a:r>
            <a:r>
              <a:rPr lang="fr-FR" sz="2000" dirty="0">
                <a:latin typeface="Times New Roman" panose="02020603050405020304" pitchFamily="18" charset="0"/>
                <a:cs typeface="Times New Roman" panose="02020603050405020304" pitchFamily="18" charset="0"/>
              </a:rPr>
              <a:t>(string </a:t>
            </a:r>
            <a:r>
              <a:rPr lang="fr-FR" sz="2000" dirty="0" err="1">
                <a:latin typeface="Times New Roman" panose="02020603050405020304" pitchFamily="18" charset="0"/>
                <a:cs typeface="Times New Roman" panose="02020603050405020304" pitchFamily="18" charset="0"/>
              </a:rPr>
              <a:t>nomFichier</a:t>
            </a:r>
            <a:r>
              <a:rPr lang="fr-FR" sz="2000" dirty="0">
                <a:latin typeface="Times New Roman" panose="02020603050405020304" pitchFamily="18" charset="0"/>
                <a:cs typeface="Times New Roman" panose="02020603050405020304" pitchFamily="18" charset="0"/>
              </a:rPr>
              <a:t>) et public </a:t>
            </a:r>
            <a:r>
              <a:rPr lang="fr-FR" sz="2000" dirty="0" err="1">
                <a:latin typeface="Times New Roman" panose="02020603050405020304" pitchFamily="18" charset="0"/>
                <a:cs typeface="Times New Roman" panose="02020603050405020304" pitchFamily="18" charset="0"/>
              </a:rPr>
              <a:t>static</a:t>
            </a:r>
            <a:r>
              <a:rPr lang="fr-FR" sz="2000" dirty="0">
                <a:latin typeface="Times New Roman" panose="02020603050405020304" pitchFamily="18" charset="0"/>
                <a:cs typeface="Times New Roman" panose="02020603050405020304" pitchFamily="18" charset="0"/>
              </a:rPr>
              <a:t> Stagiaire </a:t>
            </a:r>
            <a:r>
              <a:rPr lang="fr-FR" sz="2000" dirty="0" err="1">
                <a:latin typeface="Times New Roman" panose="02020603050405020304" pitchFamily="18" charset="0"/>
                <a:cs typeface="Times New Roman" panose="02020603050405020304" pitchFamily="18" charset="0"/>
              </a:rPr>
              <a:t>deserialisation</a:t>
            </a:r>
            <a:r>
              <a:rPr lang="fr-FR" sz="2000" dirty="0">
                <a:latin typeface="Times New Roman" panose="02020603050405020304" pitchFamily="18" charset="0"/>
                <a:cs typeface="Times New Roman" panose="02020603050405020304" pitchFamily="18" charset="0"/>
              </a:rPr>
              <a:t>(string </a:t>
            </a:r>
            <a:r>
              <a:rPr lang="fr-FR" sz="2000" dirty="0" err="1">
                <a:latin typeface="Times New Roman" panose="02020603050405020304" pitchFamily="18" charset="0"/>
                <a:cs typeface="Times New Roman" panose="02020603050405020304" pitchFamily="18" charset="0"/>
              </a:rPr>
              <a:t>nomFichier</a:t>
            </a:r>
            <a:r>
              <a:rPr lang="fr-FR" sz="2000" dirty="0">
                <a:latin typeface="Times New Roman" panose="02020603050405020304" pitchFamily="18" charset="0"/>
                <a:cs typeface="Times New Roman" panose="02020603050405020304" pitchFamily="18" charset="0"/>
              </a:rPr>
              <a:t>) pour la sérialisation et </a:t>
            </a:r>
            <a:r>
              <a:rPr lang="fr-FR" sz="2000" dirty="0" err="1">
                <a:latin typeface="Times New Roman" panose="02020603050405020304" pitchFamily="18" charset="0"/>
                <a:cs typeface="Times New Roman" panose="02020603050405020304" pitchFamily="18" charset="0"/>
              </a:rPr>
              <a:t>désérialisation</a:t>
            </a:r>
            <a:r>
              <a:rPr lang="fr-FR" sz="2000" dirty="0">
                <a:latin typeface="Times New Roman" panose="02020603050405020304" pitchFamily="18" charset="0"/>
                <a:cs typeface="Times New Roman" panose="02020603050405020304" pitchFamily="18" charset="0"/>
              </a:rPr>
              <a:t> binaire.</a:t>
            </a:r>
          </a:p>
          <a:p>
            <a:pPr algn="just"/>
            <a:r>
              <a:rPr lang="fr-FR" sz="2000" dirty="0">
                <a:latin typeface="Times New Roman" panose="02020603050405020304" pitchFamily="18" charset="0"/>
                <a:cs typeface="Times New Roman" panose="02020603050405020304" pitchFamily="18" charset="0"/>
              </a:rPr>
              <a:t>3. Ajouter deux méthodes public </a:t>
            </a:r>
            <a:r>
              <a:rPr lang="fr-FR" sz="2000" dirty="0" err="1">
                <a:latin typeface="Times New Roman" panose="02020603050405020304" pitchFamily="18" charset="0"/>
                <a:cs typeface="Times New Roman" panose="02020603050405020304" pitchFamily="18" charset="0"/>
              </a:rPr>
              <a:t>void</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Serialiser</a:t>
            </a:r>
            <a:r>
              <a:rPr lang="fr-FR" sz="2000" dirty="0">
                <a:latin typeface="Times New Roman" panose="02020603050405020304" pitchFamily="18" charset="0"/>
                <a:cs typeface="Times New Roman" panose="02020603050405020304" pitchFamily="18" charset="0"/>
              </a:rPr>
              <a:t>(string </a:t>
            </a:r>
            <a:r>
              <a:rPr lang="fr-FR" sz="2000" dirty="0" err="1">
                <a:latin typeface="Times New Roman" panose="02020603050405020304" pitchFamily="18" charset="0"/>
                <a:cs typeface="Times New Roman" panose="02020603050405020304" pitchFamily="18" charset="0"/>
              </a:rPr>
              <a:t>nomFichier</a:t>
            </a:r>
            <a:r>
              <a:rPr lang="fr-FR" sz="2000" dirty="0">
                <a:latin typeface="Times New Roman" panose="02020603050405020304" pitchFamily="18" charset="0"/>
                <a:cs typeface="Times New Roman" panose="02020603050405020304" pitchFamily="18" charset="0"/>
              </a:rPr>
              <a:t>) et public </a:t>
            </a:r>
            <a:r>
              <a:rPr lang="fr-FR" sz="2000" dirty="0" err="1">
                <a:latin typeface="Times New Roman" panose="02020603050405020304" pitchFamily="18" charset="0"/>
                <a:cs typeface="Times New Roman" panose="02020603050405020304" pitchFamily="18" charset="0"/>
              </a:rPr>
              <a:t>static</a:t>
            </a:r>
            <a:r>
              <a:rPr lang="fr-FR" sz="2000" dirty="0">
                <a:latin typeface="Times New Roman" panose="02020603050405020304" pitchFamily="18" charset="0"/>
                <a:cs typeface="Times New Roman" panose="02020603050405020304" pitchFamily="18" charset="0"/>
              </a:rPr>
              <a:t> Stagiaire </a:t>
            </a:r>
            <a:r>
              <a:rPr lang="fr-FR" sz="2000" dirty="0" err="1">
                <a:latin typeface="Times New Roman" panose="02020603050405020304" pitchFamily="18" charset="0"/>
                <a:cs typeface="Times New Roman" panose="02020603050405020304" pitchFamily="18" charset="0"/>
              </a:rPr>
              <a:t>deserialiser</a:t>
            </a:r>
            <a:r>
              <a:rPr lang="fr-FR" sz="2000" dirty="0">
                <a:latin typeface="Times New Roman" panose="02020603050405020304" pitchFamily="18" charset="0"/>
                <a:cs typeface="Times New Roman" panose="02020603050405020304" pitchFamily="18" charset="0"/>
              </a:rPr>
              <a:t>(string </a:t>
            </a:r>
            <a:r>
              <a:rPr lang="fr-FR" sz="2000" dirty="0" err="1">
                <a:latin typeface="Times New Roman" panose="02020603050405020304" pitchFamily="18" charset="0"/>
                <a:cs typeface="Times New Roman" panose="02020603050405020304" pitchFamily="18" charset="0"/>
              </a:rPr>
              <a:t>nomFichier</a:t>
            </a:r>
            <a:r>
              <a:rPr lang="fr-FR" sz="2000" dirty="0">
                <a:latin typeface="Times New Roman" panose="02020603050405020304" pitchFamily="18" charset="0"/>
                <a:cs typeface="Times New Roman" panose="02020603050405020304" pitchFamily="18" charset="0"/>
              </a:rPr>
              <a:t>) pour la sérialisation et </a:t>
            </a:r>
            <a:r>
              <a:rPr lang="fr-FR" sz="2000" dirty="0" err="1">
                <a:latin typeface="Times New Roman" panose="02020603050405020304" pitchFamily="18" charset="0"/>
                <a:cs typeface="Times New Roman" panose="02020603050405020304" pitchFamily="18" charset="0"/>
              </a:rPr>
              <a:t>désérialisation</a:t>
            </a:r>
            <a:r>
              <a:rPr lang="fr-FR" sz="2000" dirty="0">
                <a:latin typeface="Times New Roman" panose="02020603050405020304" pitchFamily="18" charset="0"/>
                <a:cs typeface="Times New Roman" panose="02020603050405020304" pitchFamily="18" charset="0"/>
              </a:rPr>
              <a:t> XML.</a:t>
            </a:r>
            <a:endParaRPr lang="fr-F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1309588"/>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10522</TotalTime>
  <Words>15884</Words>
  <Application>Microsoft Office PowerPoint</Application>
  <PresentationFormat>Grand écran</PresentationFormat>
  <Paragraphs>1784</Paragraphs>
  <Slides>126</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126</vt:i4>
      </vt:variant>
    </vt:vector>
  </HeadingPairs>
  <TitlesOfParts>
    <vt:vector size="132" baseType="lpstr">
      <vt:lpstr>Arial</vt:lpstr>
      <vt:lpstr>Calibri</vt:lpstr>
      <vt:lpstr>Calibri Light</vt:lpstr>
      <vt:lpstr>Times New Roman</vt:lpstr>
      <vt:lpstr>Wingdings</vt:lpstr>
      <vt:lpstr>Thème Office</vt:lpstr>
      <vt:lpstr>PROGRAMMATION  ORIENTÉE OBJET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Server</dc:creator>
  <cp:lastModifiedBy>hp</cp:lastModifiedBy>
  <cp:revision>975</cp:revision>
  <dcterms:created xsi:type="dcterms:W3CDTF">2021-11-14T14:26:54Z</dcterms:created>
  <dcterms:modified xsi:type="dcterms:W3CDTF">2024-01-16T12:02:58Z</dcterms:modified>
</cp:coreProperties>
</file>